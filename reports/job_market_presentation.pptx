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dee1cb-c2f3-d29d-7220-e0347e094089}">
          <p14:sldIdLst>
            <p14:sldId id="256"/>
            <p14:sldId id="257"/>
          </p14:sldIdLst>
        </p14:section>
        <p14:section name="Data and method" id="{1f86d873-a5e9-6d5c-e672-619c685a13e6}">
          <p14:sldIdLst>
            <p14:sldId id="258"/>
            <p14:sldId id="259"/>
            <p14:sldId id="260"/>
          </p14:sldIdLst>
        </p14:section>
        <p14:section name="Findings" id="{4c4fc6c6-2dc7-be64-3bac-4753cf3a3b89}">
          <p14:sldIdLst>
            <p14:sldId id="261"/>
            <p14:sldId id="262"/>
            <p14:sldId id="263"/>
            <p14:sldId id="264"/>
            <p14:sldId id="265"/>
          </p14:sldIdLst>
        </p14:section>
        <p14:section name="Products" id="{85b7ad03-8de7-aeae-0ff9-e041fd463b26}">
          <p14:sldIdLst>
            <p14:sldId id="266"/>
            <p14:sldId id="267"/>
          </p14:sldIdLst>
        </p14:section>
        <p14:section name="Trust" id="{9f03e8af-b49b-60b6-b91e-24463f5fea60}">
          <p14:sldIdLst>
            <p14:sldId id="268"/>
            <p14:sldId id="269"/>
          </p14:sldIdLst>
        </p14:section>
        <p14:section name="Close" id="{93b607ca-3b7b-e5e6-5079-c37739c3994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Manisha Nagda. This is my project for NextHikes IT Solutions: a job market analysis and a job recommendation system. I use about 245,000 Upwork job posts to answer eight questions about pay, demand and remote work, and I build working tools on top of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asks eight questions. Some are about the past: pay, emerging work, country rates and remote work. Some are about the future: demand and the next weeks. Two ask me to build tools: a job recommender and a monthly dashboard. I answer all eight from the same 244,828 job posts.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analysis, I check what the data can and cannot answer. It has titles, pay, client country and time. It has no job descriptions and no remote field, so every result is about titles. Collection is complete only for 37 days, from 16 February to 23 March 2024, so all time-based results use that window. The chart shows the strong weekly rhythm, which is why I compare averages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comes from one pipeline. One command takes the raw file, cleans it, gives every job a category, runs the analyses and builds the outputs for the app, the dashboard and SQL. Three rules make the results trustworthy: I fix every rule before I see the final result, I test with blind human labels, and code checks every number I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has no category, so I build one: 22 job functions plus Other. Transparent rules decide 87 percent of jobs. I test the system on 350 titles that I label blind, before I score it once. It agrees with me 68.9 percent of the time. I report this honestly, and I keep in mind that some areas, like Software and AI, are undercounted.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1, I compare each title word with similar jobs: the same client country and the same category. Titles with consultant offer about 77 percent more; virtual assistant about 38 percent less. Title words raise the explained variation from 11 to 26 percent, so titles matter, but most of pay depends on things the title does not show. These are associations,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2, I measure each job function's share of daily posts across the five weeks. Nine of 22 functions change significantly. Marketing, Video, Design, Sales, E-commerce and AI gain share; Writing, Admin and Translation lose it. Part of this happens as one step around 26 February. These are short-term shifts, not long-run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4, I compare 91 client countries. I show two views: the typical offer, and an index for the same kinds of jobs. US clients offer the highest typical rate among large markets, 25 dollars an hour, about 9 percent above average for the same work. The job mix changes the picture: Australia looks average, but offers about 12 percent less for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Tasks 3 and 8, I forecast 14 days ahead. A weekday-mean model wins under a rule fixed in advance. Web Development, Design and Marketing lead with about 900, 715 and 665 jobs a day. I keep three things apart: the central outlook, the uncertainty range from past errors, and a trend-continuation scenario. A big past change does not mean the change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7, the honest first step is to say what the data cannot measure: there is no remote field, so I do not invent a remote percentage. Instead I measure what is there. Client geography is stable, about 46 percent North America. Fixed-price work gains slightly. Words like remote appear in about half a percent of titles. The forecasts expect these signals to stay about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5, I build a working recommender with a web page and an API. A freelancer types skills, the engine matches them to recent job titles and applies strict pay filters. I compare three matching methods in a blind test: I label the results without knowing which method returns them. The hybrid method wins under a rule fixed before scoring, with nDCG at 5 of 0.985. All three are close, so I do not claim one is better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6, I build a dashboard in the same app. It shows each month's headline numbers, weekly trends, pay, the country map and the forecasts. It computes nothing itself: it draws the verified tables. When a new monthly extract arrives, one rebuild updates the tables and the dashboard. An automated test proves that a new month appears without any code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anyone trust these results? On every push, GitHub runs 429 automated tests and builds the Docker images. SQL recomputes selected results from the raw rows and matches the pipeline. A rebuild on Linux keeps every reported result the same as on Windows. Git tags freeze each evaluation before I score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runs in Docker with two images. Nginx is the web server and the only public port. Behind it, Gunicorn runs the Flask app with one worker and four threads, because each worker would load its own copy of the search index. The verified data is mounted read-only, so the website cannot change it. One command starts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result has limits, and I state them. The data has titles only and five reliable weeks. I am the only annotator. Pay means offers, not earnings, and the results are associations, not causes. With job descriptions, a longer history, a remote field and click data, the same pipeline could answer these questions more deeply.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7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Job Market Analysis and Recommendation System  ·  Manisha Nagda</a:t>
            </a:r>
            <a:endParaRPr lang="en-US" sz="1000" dirty="0"/>
          </a:p>
        </p:txBody>
      </p:sp>
      <p:sp>
        <p:nvSpPr>
          <p:cNvPr id="3" name="Text 1"/>
          <p:cNvSpPr/>
          <p:nvPr>
            <p:ph idx="101" type="title" hasCustomPrompt="1"/>
          </p:nvPr>
        </p:nvSpPr>
        <p:spPr>
          <a:xfrm>
            <a:off x="548640" y="566928"/>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p:cNvSpPr txBox="1"/>
          <p:nvPr/>
        </p:nvSpPr>
        <p:spPr>
          <a:xfrm>
            <a:off x="822960" y="1463040"/>
            <a:ext cx="10515600" cy="457200"/>
          </a:xfrm>
          <a:prstGeom prst="rect">
            <a:avLst/>
          </a:prstGeom>
          <a:noFill/>
          <a:ln/>
        </p:spPr>
        <p:txBody>
          <a:bodyPr wrap="square" lIns="0" tIns="0" rIns="0" bIns="0" rtlCol="0" anchor="ctr"/>
          <a:lstStyle/>
          <a:p>
            <a:pPr indent="0" marL="0">
              <a:buNone/>
            </a:pPr>
            <a:r>
              <a:rPr lang="en-US" sz="2000" spc="200" kern="0" dirty="0">
                <a:solidFill>
                  <a:schemeClr val="accent6"/>
                </a:solidFill>
              </a:rPr>
              <a:t>NextHikes IT Solutions</a:t>
            </a:r>
            <a:endParaRPr lang="en-US" sz="2000" dirty="0"/>
          </a:p>
        </p:txBody>
      </p:sp>
      <p:sp>
        <p:nvSpPr>
          <p:cNvPr id="3" name="project title"/>
          <p:cNvSpPr txBox="1"/>
          <p:nvPr/>
        </p:nvSpPr>
        <p:spPr>
          <a:xfrm>
            <a:off x="822960" y="2057400"/>
            <a:ext cx="10515600" cy="1737360"/>
          </a:xfrm>
          <a:prstGeom prst="rect">
            <a:avLst/>
          </a:prstGeom>
          <a:noFill/>
          <a:ln/>
        </p:spPr>
        <p:txBody>
          <a:bodyPr wrap="square" lIns="0" tIns="0" rIns="0" bIns="0" rtlCol="0" anchor="t"/>
          <a:lstStyle/>
          <a:p>
            <a:pPr indent="0" marL="0">
              <a:buNone/>
            </a:pPr>
            <a:r>
              <a:rPr lang="en-US" sz="4600" b="1" dirty="0">
                <a:solidFill>
                  <a:schemeClr val="bg1"/>
                </a:solidFill>
              </a:rPr>
              <a:t>Job Market Analysis and Recommendation System</a:t>
            </a:r>
            <a:endParaRPr lang="en-US" sz="4600" dirty="0"/>
          </a:p>
        </p:txBody>
      </p:sp>
      <p:sp>
        <p:nvSpPr>
          <p:cNvPr id="4" name="author"/>
          <p:cNvSpPr txBox="1"/>
          <p:nvPr/>
        </p:nvSpPr>
        <p:spPr>
          <a:xfrm>
            <a:off x="822960" y="443484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244,828 job posts. What do they tell us?</a:t>
            </a:r>
            <a:endParaRPr lang="en-US" sz="3000" dirty="0"/>
          </a:p>
        </p:txBody>
      </p:sp>
      <p:sp>
        <p:nvSpPr>
          <p:cNvPr id="3" name="subtitle"/>
          <p:cNvSpPr txBox="1"/>
          <p:nvPr/>
        </p:nvSpPr>
        <p:spPr>
          <a:xfrm>
            <a:off x="548640" y="1325880"/>
            <a:ext cx="10972800" cy="365760"/>
          </a:xfrm>
          <a:prstGeom prst="rect">
            <a:avLst/>
          </a:prstGeom>
          <a:noFill/>
          <a:ln/>
        </p:spPr>
        <p:txBody>
          <a:bodyPr wrap="square" lIns="0" tIns="0" rIns="0" bIns="0" rtlCol="0" anchor="ctr"/>
          <a:lstStyle/>
          <a:p>
            <a:pPr indent="0" marL="0">
              <a:buNone/>
            </a:pPr>
            <a:r>
              <a:rPr lang="en-US" sz="1600" dirty="0">
                <a:solidFill>
                  <a:schemeClr val="accent5"/>
                </a:solidFill>
              </a:rPr>
              <a:t>Eight questions, answered from one dataset</a:t>
            </a:r>
            <a:endParaRPr lang="en-US" sz="1600" dirty="0"/>
          </a:p>
        </p:txBody>
      </p:sp>
      <p:sp>
        <p:nvSpPr>
          <p:cNvPr id="4" name="card Task 1"/>
          <p:cNvSpPr/>
          <p:nvPr/>
        </p:nvSpPr>
        <p:spPr>
          <a:xfrm>
            <a:off x="548640" y="2011680"/>
            <a:ext cx="2606040" cy="1828800"/>
          </a:xfrm>
          <a:prstGeom prst="roundRect">
            <a:avLst>
              <a:gd name="adj" fmla="val 5000"/>
            </a:avLst>
          </a:prstGeom>
          <a:solidFill>
            <a:schemeClr val="bg2"/>
          </a:solidFill>
          <a:ln w="12700">
            <a:solidFill>
              <a:schemeClr val="bg2"/>
            </a:solidFill>
            <a:prstDash val="solid"/>
          </a:ln>
        </p:spPr>
      </p:sp>
      <p:sp>
        <p:nvSpPr>
          <p:cNvPr id="5" name="icon circle Task 1"/>
          <p:cNvSpPr/>
          <p:nvPr/>
        </p:nvSpPr>
        <p:spPr>
          <a:xfrm>
            <a:off x="777240" y="2240280"/>
            <a:ext cx="566928" cy="566928"/>
          </a:xfrm>
          <a:prstGeom prst="ellipse">
            <a:avLst/>
          </a:prstGeom>
          <a:solidFill>
            <a:schemeClr val="accent1"/>
          </a:solidFill>
          <a:ln w="12700">
            <a:solidFill>
              <a:srgbClr val="F2F3F5"/>
            </a:solidFill>
            <a:prstDash val="solid"/>
          </a:ln>
        </p:spPr>
      </p:sp>
      <p:pic>
        <p:nvPicPr>
          <p:cNvPr id="6" name="icon Task 1" descr="preencoded.png">    </p:cNvPr>
          <p:cNvPicPr>
            <a:picLocks noChangeAspect="1"/>
          </p:cNvPicPr>
          <p:nvPr/>
        </p:nvPicPr>
        <p:blipFill>
          <a:blip r:embed="rId1"/>
          <a:stretch>
            <a:fillRect/>
          </a:stretch>
        </p:blipFill>
        <p:spPr>
          <a:xfrm>
            <a:off x="905256" y="2368296"/>
            <a:ext cx="310896" cy="310896"/>
          </a:xfrm>
          <a:prstGeom prst="rect">
            <a:avLst/>
          </a:prstGeom>
        </p:spPr>
      </p:pic>
      <p:sp>
        <p:nvSpPr>
          <p:cNvPr id="7" name="Text 4"/>
          <p:cNvSpPr txBox="1"/>
          <p:nvPr/>
        </p:nvSpPr>
        <p:spPr>
          <a:xfrm>
            <a:off x="1463040"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1</a:t>
            </a:r>
            <a:endParaRPr lang="en-US" sz="1500" dirty="0"/>
          </a:p>
        </p:txBody>
      </p:sp>
      <p:sp>
        <p:nvSpPr>
          <p:cNvPr id="8" name="Text 5"/>
          <p:cNvSpPr txBox="1"/>
          <p:nvPr/>
        </p:nvSpPr>
        <p:spPr>
          <a:xfrm>
            <a:off x="777240"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title words go with higher pay?</a:t>
            </a:r>
            <a:endParaRPr lang="en-US" sz="1400" dirty="0"/>
          </a:p>
        </p:txBody>
      </p:sp>
      <p:sp>
        <p:nvSpPr>
          <p:cNvPr id="9" name="card Task 2"/>
          <p:cNvSpPr/>
          <p:nvPr/>
        </p:nvSpPr>
        <p:spPr>
          <a:xfrm>
            <a:off x="3355848" y="2011680"/>
            <a:ext cx="2606040" cy="1828800"/>
          </a:xfrm>
          <a:prstGeom prst="roundRect">
            <a:avLst>
              <a:gd name="adj" fmla="val 5000"/>
            </a:avLst>
          </a:prstGeom>
          <a:solidFill>
            <a:schemeClr val="bg2"/>
          </a:solidFill>
          <a:ln w="12700">
            <a:solidFill>
              <a:schemeClr val="bg2"/>
            </a:solidFill>
            <a:prstDash val="solid"/>
          </a:ln>
        </p:spPr>
      </p:sp>
      <p:sp>
        <p:nvSpPr>
          <p:cNvPr id="10" name="icon circle Task 2"/>
          <p:cNvSpPr/>
          <p:nvPr/>
        </p:nvSpPr>
        <p:spPr>
          <a:xfrm>
            <a:off x="3584448" y="2240280"/>
            <a:ext cx="566928" cy="566928"/>
          </a:xfrm>
          <a:prstGeom prst="ellipse">
            <a:avLst/>
          </a:prstGeom>
          <a:solidFill>
            <a:schemeClr val="accent2"/>
          </a:solidFill>
          <a:ln w="12700">
            <a:solidFill>
              <a:srgbClr val="F2F3F5"/>
            </a:solidFill>
            <a:prstDash val="solid"/>
          </a:ln>
        </p:spPr>
      </p:sp>
      <p:pic>
        <p:nvPicPr>
          <p:cNvPr id="11" name="icon Task 2" descr="preencoded.png">    </p:cNvPr>
          <p:cNvPicPr>
            <a:picLocks noChangeAspect="1"/>
          </p:cNvPicPr>
          <p:nvPr/>
        </p:nvPicPr>
        <p:blipFill>
          <a:blip r:embed="rId2"/>
          <a:stretch>
            <a:fillRect/>
          </a:stretch>
        </p:blipFill>
        <p:spPr>
          <a:xfrm>
            <a:off x="3712464" y="2368296"/>
            <a:ext cx="310896" cy="310896"/>
          </a:xfrm>
          <a:prstGeom prst="rect">
            <a:avLst/>
          </a:prstGeom>
        </p:spPr>
      </p:pic>
      <p:sp>
        <p:nvSpPr>
          <p:cNvPr id="12" name="Text 8"/>
          <p:cNvSpPr txBox="1"/>
          <p:nvPr/>
        </p:nvSpPr>
        <p:spPr>
          <a:xfrm>
            <a:off x="4270248"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2</a:t>
            </a:r>
            <a:endParaRPr lang="en-US" sz="1500" dirty="0"/>
          </a:p>
        </p:txBody>
      </p:sp>
      <p:sp>
        <p:nvSpPr>
          <p:cNvPr id="13" name="Text 9"/>
          <p:cNvSpPr txBox="1"/>
          <p:nvPr/>
        </p:nvSpPr>
        <p:spPr>
          <a:xfrm>
            <a:off x="3584448"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kinds of work are emerging?</a:t>
            </a:r>
            <a:endParaRPr lang="en-US" sz="1400" dirty="0"/>
          </a:p>
        </p:txBody>
      </p:sp>
      <p:sp>
        <p:nvSpPr>
          <p:cNvPr id="14" name="card Task 3"/>
          <p:cNvSpPr/>
          <p:nvPr/>
        </p:nvSpPr>
        <p:spPr>
          <a:xfrm>
            <a:off x="6163056" y="2011680"/>
            <a:ext cx="2606040" cy="1828800"/>
          </a:xfrm>
          <a:prstGeom prst="roundRect">
            <a:avLst>
              <a:gd name="adj" fmla="val 5000"/>
            </a:avLst>
          </a:prstGeom>
          <a:solidFill>
            <a:schemeClr val="bg2"/>
          </a:solidFill>
          <a:ln w="12700">
            <a:solidFill>
              <a:schemeClr val="bg2"/>
            </a:solidFill>
            <a:prstDash val="solid"/>
          </a:ln>
        </p:spPr>
      </p:sp>
      <p:sp>
        <p:nvSpPr>
          <p:cNvPr id="15" name="icon circle Task 3"/>
          <p:cNvSpPr/>
          <p:nvPr/>
        </p:nvSpPr>
        <p:spPr>
          <a:xfrm>
            <a:off x="6391656" y="2240280"/>
            <a:ext cx="566928" cy="566928"/>
          </a:xfrm>
          <a:prstGeom prst="ellipse">
            <a:avLst/>
          </a:prstGeom>
          <a:solidFill>
            <a:schemeClr val="accent1"/>
          </a:solidFill>
          <a:ln w="12700">
            <a:solidFill>
              <a:srgbClr val="F2F3F5"/>
            </a:solidFill>
            <a:prstDash val="solid"/>
          </a:ln>
        </p:spPr>
      </p:sp>
      <p:pic>
        <p:nvPicPr>
          <p:cNvPr id="16" name="icon Task 3" descr="preencoded.png">    </p:cNvPr>
          <p:cNvPicPr>
            <a:picLocks noChangeAspect="1"/>
          </p:cNvPicPr>
          <p:nvPr/>
        </p:nvPicPr>
        <p:blipFill>
          <a:blip r:embed="rId3"/>
          <a:stretch>
            <a:fillRect/>
          </a:stretch>
        </p:blipFill>
        <p:spPr>
          <a:xfrm>
            <a:off x="6519672" y="2368296"/>
            <a:ext cx="310896" cy="310896"/>
          </a:xfrm>
          <a:prstGeom prst="rect">
            <a:avLst/>
          </a:prstGeom>
        </p:spPr>
      </p:pic>
      <p:sp>
        <p:nvSpPr>
          <p:cNvPr id="17" name="Text 12"/>
          <p:cNvSpPr txBox="1"/>
          <p:nvPr/>
        </p:nvSpPr>
        <p:spPr>
          <a:xfrm>
            <a:off x="7077456"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3</a:t>
            </a:r>
            <a:endParaRPr lang="en-US" sz="1500" dirty="0"/>
          </a:p>
        </p:txBody>
      </p:sp>
      <p:sp>
        <p:nvSpPr>
          <p:cNvPr id="18" name="Text 13"/>
          <p:cNvSpPr txBox="1"/>
          <p:nvPr/>
        </p:nvSpPr>
        <p:spPr>
          <a:xfrm>
            <a:off x="6391656"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roles will be in high demand?</a:t>
            </a:r>
            <a:endParaRPr lang="en-US" sz="1400" dirty="0"/>
          </a:p>
        </p:txBody>
      </p:sp>
      <p:sp>
        <p:nvSpPr>
          <p:cNvPr id="19" name="card Task 4"/>
          <p:cNvSpPr/>
          <p:nvPr/>
        </p:nvSpPr>
        <p:spPr>
          <a:xfrm>
            <a:off x="8970264" y="2011680"/>
            <a:ext cx="2606040" cy="1828800"/>
          </a:xfrm>
          <a:prstGeom prst="roundRect">
            <a:avLst>
              <a:gd name="adj" fmla="val 5000"/>
            </a:avLst>
          </a:prstGeom>
          <a:solidFill>
            <a:schemeClr val="bg2"/>
          </a:solidFill>
          <a:ln w="12700">
            <a:solidFill>
              <a:schemeClr val="bg2"/>
            </a:solidFill>
            <a:prstDash val="solid"/>
          </a:ln>
        </p:spPr>
      </p:sp>
      <p:sp>
        <p:nvSpPr>
          <p:cNvPr id="20" name="icon circle Task 4"/>
          <p:cNvSpPr/>
          <p:nvPr/>
        </p:nvSpPr>
        <p:spPr>
          <a:xfrm>
            <a:off x="9198864" y="2240280"/>
            <a:ext cx="566928" cy="566928"/>
          </a:xfrm>
          <a:prstGeom prst="ellipse">
            <a:avLst/>
          </a:prstGeom>
          <a:solidFill>
            <a:schemeClr val="accent2"/>
          </a:solidFill>
          <a:ln w="12700">
            <a:solidFill>
              <a:srgbClr val="F2F3F5"/>
            </a:solidFill>
            <a:prstDash val="solid"/>
          </a:ln>
        </p:spPr>
      </p:sp>
      <p:pic>
        <p:nvPicPr>
          <p:cNvPr id="21" name="icon Task 4" descr="preencoded.png">    </p:cNvPr>
          <p:cNvPicPr>
            <a:picLocks noChangeAspect="1"/>
          </p:cNvPicPr>
          <p:nvPr/>
        </p:nvPicPr>
        <p:blipFill>
          <a:blip r:embed="rId4"/>
          <a:stretch>
            <a:fillRect/>
          </a:stretch>
        </p:blipFill>
        <p:spPr>
          <a:xfrm>
            <a:off x="9326880" y="2368296"/>
            <a:ext cx="310896" cy="310896"/>
          </a:xfrm>
          <a:prstGeom prst="rect">
            <a:avLst/>
          </a:prstGeom>
        </p:spPr>
      </p:pic>
      <p:sp>
        <p:nvSpPr>
          <p:cNvPr id="22" name="Text 16"/>
          <p:cNvSpPr txBox="1"/>
          <p:nvPr/>
        </p:nvSpPr>
        <p:spPr>
          <a:xfrm>
            <a:off x="9884664"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4</a:t>
            </a:r>
            <a:endParaRPr lang="en-US" sz="1500" dirty="0"/>
          </a:p>
        </p:txBody>
      </p:sp>
      <p:sp>
        <p:nvSpPr>
          <p:cNvPr id="23" name="Text 17"/>
          <p:cNvSpPr txBox="1"/>
          <p:nvPr/>
        </p:nvSpPr>
        <p:spPr>
          <a:xfrm>
            <a:off x="9198864"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do hourly rates differ by country?</a:t>
            </a:r>
            <a:endParaRPr lang="en-US" sz="1400" dirty="0"/>
          </a:p>
        </p:txBody>
      </p:sp>
      <p:sp>
        <p:nvSpPr>
          <p:cNvPr id="24" name="card Task 5"/>
          <p:cNvSpPr/>
          <p:nvPr/>
        </p:nvSpPr>
        <p:spPr>
          <a:xfrm>
            <a:off x="548640" y="4114800"/>
            <a:ext cx="2606040" cy="1828800"/>
          </a:xfrm>
          <a:prstGeom prst="roundRect">
            <a:avLst>
              <a:gd name="adj" fmla="val 5000"/>
            </a:avLst>
          </a:prstGeom>
          <a:solidFill>
            <a:schemeClr val="bg2"/>
          </a:solidFill>
          <a:ln w="12700">
            <a:solidFill>
              <a:schemeClr val="bg2"/>
            </a:solidFill>
            <a:prstDash val="solid"/>
          </a:ln>
        </p:spPr>
      </p:sp>
      <p:sp>
        <p:nvSpPr>
          <p:cNvPr id="25" name="icon circle Task 5"/>
          <p:cNvSpPr/>
          <p:nvPr/>
        </p:nvSpPr>
        <p:spPr>
          <a:xfrm>
            <a:off x="777240" y="4343400"/>
            <a:ext cx="566928" cy="566928"/>
          </a:xfrm>
          <a:prstGeom prst="ellipse">
            <a:avLst/>
          </a:prstGeom>
          <a:solidFill>
            <a:schemeClr val="accent1"/>
          </a:solidFill>
          <a:ln w="12700">
            <a:solidFill>
              <a:srgbClr val="F2F3F5"/>
            </a:solidFill>
            <a:prstDash val="solid"/>
          </a:ln>
        </p:spPr>
      </p:sp>
      <p:pic>
        <p:nvPicPr>
          <p:cNvPr id="26" name="icon Task 5" descr="preencoded.png">    </p:cNvPr>
          <p:cNvPicPr>
            <a:picLocks noChangeAspect="1"/>
          </p:cNvPicPr>
          <p:nvPr/>
        </p:nvPicPr>
        <p:blipFill>
          <a:blip r:embed="rId5"/>
          <a:stretch>
            <a:fillRect/>
          </a:stretch>
        </p:blipFill>
        <p:spPr>
          <a:xfrm>
            <a:off x="905256" y="4471416"/>
            <a:ext cx="310896" cy="310896"/>
          </a:xfrm>
          <a:prstGeom prst="rect">
            <a:avLst/>
          </a:prstGeom>
        </p:spPr>
      </p:pic>
      <p:sp>
        <p:nvSpPr>
          <p:cNvPr id="27" name="Text 20"/>
          <p:cNvSpPr txBox="1"/>
          <p:nvPr/>
        </p:nvSpPr>
        <p:spPr>
          <a:xfrm>
            <a:off x="1463040"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5</a:t>
            </a:r>
            <a:endParaRPr lang="en-US" sz="1500" dirty="0"/>
          </a:p>
        </p:txBody>
      </p:sp>
      <p:sp>
        <p:nvSpPr>
          <p:cNvPr id="28" name="Text 21"/>
          <p:cNvSpPr txBox="1"/>
          <p:nvPr/>
        </p:nvSpPr>
        <p:spPr>
          <a:xfrm>
            <a:off x="777240"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Can I recommend jobs from skills?</a:t>
            </a:r>
            <a:endParaRPr lang="en-US" sz="1400" dirty="0"/>
          </a:p>
        </p:txBody>
      </p:sp>
      <p:sp>
        <p:nvSpPr>
          <p:cNvPr id="29" name="card Task 6"/>
          <p:cNvSpPr/>
          <p:nvPr/>
        </p:nvSpPr>
        <p:spPr>
          <a:xfrm>
            <a:off x="3355848" y="4114800"/>
            <a:ext cx="2606040" cy="1828800"/>
          </a:xfrm>
          <a:prstGeom prst="roundRect">
            <a:avLst>
              <a:gd name="adj" fmla="val 5000"/>
            </a:avLst>
          </a:prstGeom>
          <a:solidFill>
            <a:schemeClr val="bg2"/>
          </a:solidFill>
          <a:ln w="12700">
            <a:solidFill>
              <a:schemeClr val="bg2"/>
            </a:solidFill>
            <a:prstDash val="solid"/>
          </a:ln>
        </p:spPr>
      </p:sp>
      <p:sp>
        <p:nvSpPr>
          <p:cNvPr id="30" name="icon circle Task 6"/>
          <p:cNvSpPr/>
          <p:nvPr/>
        </p:nvSpPr>
        <p:spPr>
          <a:xfrm>
            <a:off x="3584448" y="4343400"/>
            <a:ext cx="566928" cy="566928"/>
          </a:xfrm>
          <a:prstGeom prst="ellipse">
            <a:avLst/>
          </a:prstGeom>
          <a:solidFill>
            <a:schemeClr val="accent2"/>
          </a:solidFill>
          <a:ln w="12700">
            <a:solidFill>
              <a:srgbClr val="F2F3F5"/>
            </a:solidFill>
            <a:prstDash val="solid"/>
          </a:ln>
        </p:spPr>
      </p:sp>
      <p:pic>
        <p:nvPicPr>
          <p:cNvPr id="31" name="icon Task 6" descr="preencoded.png">    </p:cNvPr>
          <p:cNvPicPr>
            <a:picLocks noChangeAspect="1"/>
          </p:cNvPicPr>
          <p:nvPr/>
        </p:nvPicPr>
        <p:blipFill>
          <a:blip r:embed="rId6"/>
          <a:stretch>
            <a:fillRect/>
          </a:stretch>
        </p:blipFill>
        <p:spPr>
          <a:xfrm>
            <a:off x="3712464" y="4471416"/>
            <a:ext cx="310896" cy="310896"/>
          </a:xfrm>
          <a:prstGeom prst="rect">
            <a:avLst/>
          </a:prstGeom>
        </p:spPr>
      </p:pic>
      <p:sp>
        <p:nvSpPr>
          <p:cNvPr id="32" name="Text 24"/>
          <p:cNvSpPr txBox="1"/>
          <p:nvPr/>
        </p:nvSpPr>
        <p:spPr>
          <a:xfrm>
            <a:off x="4270248"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6</a:t>
            </a:r>
            <a:endParaRPr lang="en-US" sz="1500" dirty="0"/>
          </a:p>
        </p:txBody>
      </p:sp>
      <p:sp>
        <p:nvSpPr>
          <p:cNvPr id="33" name="Text 25"/>
          <p:cNvSpPr txBox="1"/>
          <p:nvPr/>
        </p:nvSpPr>
        <p:spPr>
          <a:xfrm>
            <a:off x="3584448"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can the market be tracked monthly?</a:t>
            </a:r>
            <a:endParaRPr lang="en-US" sz="1400" dirty="0"/>
          </a:p>
        </p:txBody>
      </p:sp>
      <p:sp>
        <p:nvSpPr>
          <p:cNvPr id="34" name="card Task 7"/>
          <p:cNvSpPr/>
          <p:nvPr/>
        </p:nvSpPr>
        <p:spPr>
          <a:xfrm>
            <a:off x="6163056" y="4114800"/>
            <a:ext cx="2606040" cy="1828800"/>
          </a:xfrm>
          <a:prstGeom prst="roundRect">
            <a:avLst>
              <a:gd name="adj" fmla="val 5000"/>
            </a:avLst>
          </a:prstGeom>
          <a:solidFill>
            <a:schemeClr val="bg2"/>
          </a:solidFill>
          <a:ln w="12700">
            <a:solidFill>
              <a:schemeClr val="bg2"/>
            </a:solidFill>
            <a:prstDash val="solid"/>
          </a:ln>
        </p:spPr>
      </p:sp>
      <p:sp>
        <p:nvSpPr>
          <p:cNvPr id="35" name="icon circle Task 7"/>
          <p:cNvSpPr/>
          <p:nvPr/>
        </p:nvSpPr>
        <p:spPr>
          <a:xfrm>
            <a:off x="6391656" y="4343400"/>
            <a:ext cx="566928" cy="566928"/>
          </a:xfrm>
          <a:prstGeom prst="ellipse">
            <a:avLst/>
          </a:prstGeom>
          <a:solidFill>
            <a:schemeClr val="accent1"/>
          </a:solidFill>
          <a:ln w="12700">
            <a:solidFill>
              <a:srgbClr val="F2F3F5"/>
            </a:solidFill>
            <a:prstDash val="solid"/>
          </a:ln>
        </p:spPr>
      </p:sp>
      <p:pic>
        <p:nvPicPr>
          <p:cNvPr id="36" name="icon Task 7" descr="preencoded.png">    </p:cNvPr>
          <p:cNvPicPr>
            <a:picLocks noChangeAspect="1"/>
          </p:cNvPicPr>
          <p:nvPr/>
        </p:nvPicPr>
        <p:blipFill>
          <a:blip r:embed="rId7"/>
          <a:stretch>
            <a:fillRect/>
          </a:stretch>
        </p:blipFill>
        <p:spPr>
          <a:xfrm>
            <a:off x="6519672" y="4471416"/>
            <a:ext cx="310896" cy="310896"/>
          </a:xfrm>
          <a:prstGeom prst="rect">
            <a:avLst/>
          </a:prstGeom>
        </p:spPr>
      </p:pic>
      <p:sp>
        <p:nvSpPr>
          <p:cNvPr id="37" name="Text 28"/>
          <p:cNvSpPr txBox="1"/>
          <p:nvPr/>
        </p:nvSpPr>
        <p:spPr>
          <a:xfrm>
            <a:off x="7077456"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7</a:t>
            </a:r>
            <a:endParaRPr lang="en-US" sz="1500" dirty="0"/>
          </a:p>
        </p:txBody>
      </p:sp>
      <p:sp>
        <p:nvSpPr>
          <p:cNvPr id="38" name="Text 29"/>
          <p:cNvSpPr txBox="1"/>
          <p:nvPr/>
        </p:nvSpPr>
        <p:spPr>
          <a:xfrm>
            <a:off x="6391656"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is changing in remote hiring?</a:t>
            </a:r>
            <a:endParaRPr lang="en-US" sz="1400" dirty="0"/>
          </a:p>
        </p:txBody>
      </p:sp>
      <p:sp>
        <p:nvSpPr>
          <p:cNvPr id="39" name="card Task 8"/>
          <p:cNvSpPr/>
          <p:nvPr/>
        </p:nvSpPr>
        <p:spPr>
          <a:xfrm>
            <a:off x="8970264" y="4114800"/>
            <a:ext cx="2606040" cy="1828800"/>
          </a:xfrm>
          <a:prstGeom prst="roundRect">
            <a:avLst>
              <a:gd name="adj" fmla="val 5000"/>
            </a:avLst>
          </a:prstGeom>
          <a:solidFill>
            <a:schemeClr val="bg2"/>
          </a:solidFill>
          <a:ln w="12700">
            <a:solidFill>
              <a:schemeClr val="bg2"/>
            </a:solidFill>
            <a:prstDash val="solid"/>
          </a:ln>
        </p:spPr>
      </p:sp>
      <p:sp>
        <p:nvSpPr>
          <p:cNvPr id="40" name="icon circle Task 8"/>
          <p:cNvSpPr/>
          <p:nvPr/>
        </p:nvSpPr>
        <p:spPr>
          <a:xfrm>
            <a:off x="9198864" y="4343400"/>
            <a:ext cx="566928" cy="566928"/>
          </a:xfrm>
          <a:prstGeom prst="ellipse">
            <a:avLst/>
          </a:prstGeom>
          <a:solidFill>
            <a:schemeClr val="accent2"/>
          </a:solidFill>
          <a:ln w="12700">
            <a:solidFill>
              <a:srgbClr val="F2F3F5"/>
            </a:solidFill>
            <a:prstDash val="solid"/>
          </a:ln>
        </p:spPr>
      </p:sp>
      <p:pic>
        <p:nvPicPr>
          <p:cNvPr id="41" name="icon Task 8" descr="preencoded.png">    </p:cNvPr>
          <p:cNvPicPr>
            <a:picLocks noChangeAspect="1"/>
          </p:cNvPicPr>
          <p:nvPr/>
        </p:nvPicPr>
        <p:blipFill>
          <a:blip r:embed="rId8"/>
          <a:stretch>
            <a:fillRect/>
          </a:stretch>
        </p:blipFill>
        <p:spPr>
          <a:xfrm>
            <a:off x="9326880" y="4471416"/>
            <a:ext cx="310896" cy="310896"/>
          </a:xfrm>
          <a:prstGeom prst="rect">
            <a:avLst/>
          </a:prstGeom>
        </p:spPr>
      </p:pic>
      <p:sp>
        <p:nvSpPr>
          <p:cNvPr id="42" name="Text 32"/>
          <p:cNvSpPr txBox="1"/>
          <p:nvPr/>
        </p:nvSpPr>
        <p:spPr>
          <a:xfrm>
            <a:off x="9884664"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8</a:t>
            </a:r>
            <a:endParaRPr lang="en-US" sz="1500" dirty="0"/>
          </a:p>
        </p:txBody>
      </p:sp>
      <p:sp>
        <p:nvSpPr>
          <p:cNvPr id="43" name="Text 33"/>
          <p:cNvSpPr txBox="1"/>
          <p:nvPr/>
        </p:nvSpPr>
        <p:spPr>
          <a:xfrm>
            <a:off x="9198864"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do the next weeks look like?</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First: what can the data honestly answer?</a:t>
            </a:r>
            <a:endParaRPr lang="en-US" sz="3000" dirty="0"/>
          </a:p>
        </p:txBody>
      </p:sp>
      <p:sp>
        <p:nvSpPr>
          <p:cNvPr id="3" name="in the data"/>
          <p:cNvSpPr/>
          <p:nvPr/>
        </p:nvSpPr>
        <p:spPr>
          <a:xfrm>
            <a:off x="548640" y="1463040"/>
            <a:ext cx="3291840" cy="2240280"/>
          </a:xfrm>
          <a:prstGeom prst="roundRect">
            <a:avLst>
              <a:gd name="adj" fmla="val 4082"/>
            </a:avLst>
          </a:prstGeom>
          <a:solidFill>
            <a:schemeClr val="bg2"/>
          </a:solidFill>
          <a:ln w="12700">
            <a:solidFill>
              <a:schemeClr val="bg2"/>
            </a:solidFill>
            <a:prstDash val="solid"/>
          </a:ln>
        </p:spPr>
      </p:sp>
      <p:sp>
        <p:nvSpPr>
          <p:cNvPr id="4" name="Text 2"/>
          <p:cNvSpPr txBox="1"/>
          <p:nvPr/>
        </p:nvSpPr>
        <p:spPr>
          <a:xfrm>
            <a:off x="777240" y="1600200"/>
            <a:ext cx="2926080" cy="2011680"/>
          </a:xfrm>
          <a:prstGeom prst="rect">
            <a:avLst/>
          </a:prstGeom>
          <a:noFill/>
          <a:ln/>
        </p:spPr>
        <p:txBody>
          <a:bodyPr wrap="square" lIns="0" tIns="0" rIns="0" bIns="0" rtlCol="0" anchor="t"/>
          <a:lstStyle/>
          <a:p>
            <a:pPr indent="0" marL="0">
              <a:spcAft>
                <a:spcPts val="400"/>
              </a:spcAft>
              <a:buNone/>
            </a:pPr>
            <a:r>
              <a:rPr lang="en-US" sz="1600" b="1" dirty="0">
                <a:solidFill>
                  <a:schemeClr val="accent4"/>
                </a:solidFill>
              </a:rPr>
              <a:t>In the data</a:t>
            </a:r>
            <a:endParaRPr lang="en-US" sz="1400" dirty="0"/>
          </a:p>
          <a:p>
            <a:pPr marL="342900" indent="-342900">
              <a:spcAft>
                <a:spcPts val="400"/>
              </a:spcAft>
              <a:buSzPct val="100000"/>
              <a:buChar char="•"/>
            </a:pPr>
            <a:r>
              <a:rPr lang="en-US" sz="1400" dirty="0">
                <a:solidFill>
                  <a:schemeClr val="tx1"/>
                </a:solidFill>
              </a:rPr>
              <a:t>Job title</a:t>
            </a:r>
            <a:endParaRPr lang="en-US" sz="1400" dirty="0"/>
          </a:p>
          <a:p>
            <a:pPr marL="342900" indent="-342900">
              <a:spcAft>
                <a:spcPts val="400"/>
              </a:spcAft>
              <a:buSzPct val="100000"/>
              <a:buChar char="•"/>
            </a:pPr>
            <a:r>
              <a:rPr lang="en-US" sz="1400" dirty="0">
                <a:solidFill>
                  <a:schemeClr val="tx1"/>
                </a:solidFill>
              </a:rPr>
              <a:t>Hourly range or fixed budget</a:t>
            </a:r>
            <a:endParaRPr lang="en-US" sz="1400" dirty="0"/>
          </a:p>
          <a:p>
            <a:pPr marL="342900" indent="-342900">
              <a:spcAft>
                <a:spcPts val="400"/>
              </a:spcAft>
              <a:buSzPct val="100000"/>
              <a:buChar char="•"/>
            </a:pPr>
            <a:r>
              <a:rPr lang="en-US" sz="1400" dirty="0">
                <a:solidFill>
                  <a:schemeClr val="tx1"/>
                </a:solidFill>
              </a:rPr>
              <a:t>Client country</a:t>
            </a:r>
            <a:endParaRPr lang="en-US" sz="1400" dirty="0"/>
          </a:p>
          <a:p>
            <a:pPr marL="342900" indent="-342900">
              <a:spcAft>
                <a:spcPts val="400"/>
              </a:spcAft>
              <a:buSzPct val="100000"/>
              <a:buChar char="•"/>
            </a:pPr>
            <a:r>
              <a:rPr lang="en-US" sz="1400" dirty="0">
                <a:solidFill>
                  <a:schemeClr val="tx1"/>
                </a:solidFill>
              </a:rPr>
              <a:t>Posting time</a:t>
            </a:r>
            <a:endParaRPr lang="en-US" sz="1400" dirty="0"/>
          </a:p>
        </p:txBody>
      </p:sp>
      <p:sp>
        <p:nvSpPr>
          <p:cNvPr id="5" name="not in the data"/>
          <p:cNvSpPr/>
          <p:nvPr/>
        </p:nvSpPr>
        <p:spPr>
          <a:xfrm>
            <a:off x="548640" y="3886200"/>
            <a:ext cx="3291840" cy="2148840"/>
          </a:xfrm>
          <a:prstGeom prst="roundRect">
            <a:avLst>
              <a:gd name="adj" fmla="val 4255"/>
            </a:avLst>
          </a:prstGeom>
          <a:solidFill>
            <a:schemeClr val="bg2"/>
          </a:solidFill>
          <a:ln w="12700">
            <a:solidFill>
              <a:schemeClr val="bg2"/>
            </a:solidFill>
            <a:prstDash val="solid"/>
          </a:ln>
        </p:spPr>
      </p:sp>
      <p:sp>
        <p:nvSpPr>
          <p:cNvPr id="6" name="Text 4"/>
          <p:cNvSpPr txBox="1"/>
          <p:nvPr/>
        </p:nvSpPr>
        <p:spPr>
          <a:xfrm>
            <a:off x="777240" y="4023360"/>
            <a:ext cx="2926080" cy="19202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Not in the data</a:t>
            </a:r>
            <a:endParaRPr lang="en-US" sz="1400" dirty="0"/>
          </a:p>
          <a:p>
            <a:pPr marL="342900" indent="-342900">
              <a:spcAft>
                <a:spcPts val="400"/>
              </a:spcAft>
              <a:buSzPct val="100000"/>
              <a:buChar char="•"/>
            </a:pPr>
            <a:r>
              <a:rPr lang="en-US" sz="1400" dirty="0">
                <a:solidFill>
                  <a:schemeClr val="tx1"/>
                </a:solidFill>
              </a:rPr>
              <a:t>Job descriptions</a:t>
            </a:r>
            <a:endParaRPr lang="en-US" sz="1400" dirty="0"/>
          </a:p>
          <a:p>
            <a:pPr marL="342900" indent="-342900">
              <a:spcAft>
                <a:spcPts val="400"/>
              </a:spcAft>
              <a:buSzPct val="100000"/>
              <a:buChar char="•"/>
            </a:pPr>
            <a:r>
              <a:rPr lang="en-US" sz="1400" dirty="0">
                <a:solidFill>
                  <a:schemeClr val="tx1"/>
                </a:solidFill>
              </a:rPr>
              <a:t>A remote / on-site field</a:t>
            </a:r>
            <a:endParaRPr lang="en-US" sz="1400" dirty="0"/>
          </a:p>
          <a:p>
            <a:pPr marL="342900" indent="-342900">
              <a:spcAft>
                <a:spcPts val="400"/>
              </a:spcAft>
              <a:buSzPct val="100000"/>
              <a:buChar char="•"/>
            </a:pPr>
            <a:r>
              <a:rPr lang="en-US" sz="1400" dirty="0">
                <a:solidFill>
                  <a:schemeClr val="tx1"/>
                </a:solidFill>
              </a:rPr>
              <a:t>What freelancers finally earn</a:t>
            </a:r>
            <a:endParaRPr lang="en-US" sz="1400" dirty="0"/>
          </a:p>
        </p:txBody>
      </p:sp>
      <p:pic>
        <p:nvPicPr>
          <p:cNvPr id="7" name="figure 1 daily volume" descr="/home/claude/deck/assets/f1_daily_volume.png">    </p:cNvPr>
          <p:cNvPicPr>
            <a:picLocks noChangeAspect="1"/>
          </p:cNvPicPr>
          <p:nvPr/>
        </p:nvPicPr>
        <p:blipFill>
          <a:blip r:embed="rId1"/>
          <a:stretch>
            <a:fillRect/>
          </a:stretch>
        </p:blipFill>
        <p:spPr>
          <a:xfrm>
            <a:off x="4206240" y="1600200"/>
            <a:ext cx="7406640" cy="3326456"/>
          </a:xfrm>
          <a:prstGeom prst="rect">
            <a:avLst/>
          </a:prstGeom>
        </p:spPr>
      </p:pic>
      <p:sp>
        <p:nvSpPr>
          <p:cNvPr id="8" name="stat days"/>
          <p:cNvSpPr txBox="1"/>
          <p:nvPr/>
        </p:nvSpPr>
        <p:spPr>
          <a:xfrm>
            <a:off x="4206240" y="5200976"/>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37 days</a:t>
            </a:r>
            <a:endParaRPr lang="en-US" sz="3000" dirty="0"/>
          </a:p>
          <a:p>
            <a:pPr indent="0" marL="0">
              <a:buNone/>
            </a:pPr>
            <a:r>
              <a:rPr lang="en-US" sz="1400" dirty="0">
                <a:solidFill>
                  <a:schemeClr val="tx1"/>
                </a:solidFill>
              </a:rPr>
              <a:t>reliable window, 16 Feb - 23 Mar 2024</a:t>
            </a:r>
            <a:endParaRPr lang="en-US" sz="3000" dirty="0"/>
          </a:p>
        </p:txBody>
      </p:sp>
      <p:sp>
        <p:nvSpPr>
          <p:cNvPr id="9" name="stat jobs"/>
          <p:cNvSpPr txBox="1"/>
          <p:nvPr/>
        </p:nvSpPr>
        <p:spPr>
          <a:xfrm>
            <a:off x="7863840" y="5200976"/>
            <a:ext cx="3749040" cy="1005840"/>
          </a:xfrm>
          <a:prstGeom prst="rect">
            <a:avLst/>
          </a:prstGeom>
          <a:noFill/>
          <a:ln/>
        </p:spPr>
        <p:txBody>
          <a:bodyPr wrap="square" lIns="0" tIns="0" rIns="0" bIns="0" rtlCol="0" anchor="t"/>
          <a:lstStyle/>
          <a:p>
            <a:pPr indent="0" marL="0">
              <a:buNone/>
            </a:pPr>
            <a:r>
              <a:rPr lang="en-US" sz="3000" b="1" dirty="0">
                <a:solidFill>
                  <a:schemeClr val="accent1"/>
                </a:solidFill>
              </a:rPr>
              <a:t>229,520 jobs</a:t>
            </a:r>
            <a:endParaRPr lang="en-US" sz="3000" dirty="0"/>
          </a:p>
          <a:p>
            <a:pPr indent="0" marL="0">
              <a:buNone/>
            </a:pPr>
            <a:r>
              <a:rPr lang="en-US" sz="1400" dirty="0">
                <a:solidFill>
                  <a:schemeClr val="tx1"/>
                </a:solidFill>
              </a:rPr>
              <a:t>inside that window</a:t>
            </a: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I work: one pipeline, rules fixed first</a:t>
            </a:r>
            <a:endParaRPr lang="en-US" sz="3000" dirty="0"/>
          </a:p>
        </p:txBody>
      </p:sp>
      <p:sp>
        <p:nvSpPr>
          <p:cNvPr id="3" name="step Raw CSV"/>
          <p:cNvSpPr/>
          <p:nvPr/>
        </p:nvSpPr>
        <p:spPr>
          <a:xfrm>
            <a:off x="548640" y="1600200"/>
            <a:ext cx="1600200" cy="1143000"/>
          </a:xfrm>
          <a:prstGeom prst="roundRect">
            <a:avLst>
              <a:gd name="adj" fmla="val 8000"/>
            </a:avLst>
          </a:prstGeom>
          <a:solidFill>
            <a:schemeClr val="tx2"/>
          </a:solidFill>
          <a:ln w="12700">
            <a:solidFill>
              <a:srgbClr val="2A78D6"/>
            </a:solidFill>
            <a:prstDash val="solid"/>
          </a:ln>
        </p:spPr>
      </p:sp>
      <p:sp>
        <p:nvSpPr>
          <p:cNvPr id="4" name="Text 2"/>
          <p:cNvSpPr txBox="1"/>
          <p:nvPr/>
        </p:nvSpPr>
        <p:spPr>
          <a:xfrm>
            <a:off x="5486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Raw CSV</a:t>
            </a:r>
            <a:endParaRPr lang="en-US" sz="1600" dirty="0"/>
          </a:p>
          <a:p>
            <a:pPr algn="ctr" indent="0" marL="0">
              <a:buNone/>
            </a:pPr>
            <a:r>
              <a:rPr lang="en-US" sz="1200" dirty="0">
                <a:solidFill>
                  <a:schemeClr val="bg1"/>
                </a:solidFill>
              </a:rPr>
              <a:t>244,828 rows</a:t>
            </a:r>
            <a:endParaRPr lang="en-US" sz="1600" dirty="0"/>
          </a:p>
        </p:txBody>
      </p:sp>
      <p:sp>
        <p:nvSpPr>
          <p:cNvPr id="5" name="arrow"/>
          <p:cNvSpPr/>
          <p:nvPr/>
        </p:nvSpPr>
        <p:spPr>
          <a:xfrm>
            <a:off x="2194560" y="2029968"/>
            <a:ext cx="246888" cy="292608"/>
          </a:xfrm>
          <a:prstGeom prst="rightArrow">
            <a:avLst/>
          </a:prstGeom>
          <a:solidFill>
            <a:schemeClr val="accent5"/>
          </a:solidFill>
          <a:ln w="12700">
            <a:solidFill>
              <a:srgbClr val="5D6066"/>
            </a:solidFill>
            <a:prstDash val="solid"/>
          </a:ln>
        </p:spPr>
      </p:sp>
      <p:sp>
        <p:nvSpPr>
          <p:cNvPr id="6" name="step Clean"/>
          <p:cNvSpPr/>
          <p:nvPr/>
        </p:nvSpPr>
        <p:spPr>
          <a:xfrm>
            <a:off x="2468880" y="1600200"/>
            <a:ext cx="1600200" cy="1143000"/>
          </a:xfrm>
          <a:prstGeom prst="roundRect">
            <a:avLst>
              <a:gd name="adj" fmla="val 8000"/>
            </a:avLst>
          </a:prstGeom>
          <a:solidFill>
            <a:schemeClr val="accent2"/>
          </a:solidFill>
          <a:ln w="12700">
            <a:solidFill>
              <a:srgbClr val="2A78D6"/>
            </a:solidFill>
            <a:prstDash val="solid"/>
          </a:ln>
        </p:spPr>
      </p:sp>
      <p:sp>
        <p:nvSpPr>
          <p:cNvPr id="7" name="Text 5"/>
          <p:cNvSpPr txBox="1"/>
          <p:nvPr/>
        </p:nvSpPr>
        <p:spPr>
          <a:xfrm>
            <a:off x="246888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Clean</a:t>
            </a:r>
            <a:endParaRPr lang="en-US" sz="1600" dirty="0"/>
          </a:p>
          <a:p>
            <a:pPr algn="ctr" indent="0" marL="0">
              <a:buNone/>
            </a:pPr>
            <a:r>
              <a:rPr lang="en-US" sz="1200" dirty="0">
                <a:solidFill>
                  <a:schemeClr val="bg1"/>
                </a:solidFill>
              </a:rPr>
              <a:t>flags, never deletes</a:t>
            </a:r>
            <a:endParaRPr lang="en-US" sz="1600" dirty="0"/>
          </a:p>
        </p:txBody>
      </p:sp>
      <p:sp>
        <p:nvSpPr>
          <p:cNvPr id="8" name="arrow"/>
          <p:cNvSpPr/>
          <p:nvPr/>
        </p:nvSpPr>
        <p:spPr>
          <a:xfrm>
            <a:off x="4114800" y="2029968"/>
            <a:ext cx="246888" cy="292608"/>
          </a:xfrm>
          <a:prstGeom prst="rightArrow">
            <a:avLst/>
          </a:prstGeom>
          <a:solidFill>
            <a:schemeClr val="accent5"/>
          </a:solidFill>
          <a:ln w="12700">
            <a:solidFill>
              <a:srgbClr val="5D6066"/>
            </a:solidFill>
            <a:prstDash val="solid"/>
          </a:ln>
        </p:spPr>
      </p:sp>
      <p:sp>
        <p:nvSpPr>
          <p:cNvPr id="9" name="step Categorize"/>
          <p:cNvSpPr/>
          <p:nvPr/>
        </p:nvSpPr>
        <p:spPr>
          <a:xfrm>
            <a:off x="4389120" y="1600200"/>
            <a:ext cx="1600200" cy="1143000"/>
          </a:xfrm>
          <a:prstGeom prst="roundRect">
            <a:avLst>
              <a:gd name="adj" fmla="val 8000"/>
            </a:avLst>
          </a:prstGeom>
          <a:solidFill>
            <a:schemeClr val="accent2"/>
          </a:solidFill>
          <a:ln w="12700">
            <a:solidFill>
              <a:srgbClr val="2A78D6"/>
            </a:solidFill>
            <a:prstDash val="solid"/>
          </a:ln>
        </p:spPr>
      </p:sp>
      <p:sp>
        <p:nvSpPr>
          <p:cNvPr id="10" name="Text 8"/>
          <p:cNvSpPr txBox="1"/>
          <p:nvPr/>
        </p:nvSpPr>
        <p:spPr>
          <a:xfrm>
            <a:off x="438912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Categorize</a:t>
            </a:r>
            <a:endParaRPr lang="en-US" sz="1600" dirty="0"/>
          </a:p>
          <a:p>
            <a:pPr algn="ctr" indent="0" marL="0">
              <a:buNone/>
            </a:pPr>
            <a:r>
              <a:rPr lang="en-US" sz="1200" dirty="0">
                <a:solidFill>
                  <a:schemeClr val="bg1"/>
                </a:solidFill>
              </a:rPr>
              <a:t>22 job functions</a:t>
            </a:r>
            <a:endParaRPr lang="en-US" sz="1600" dirty="0"/>
          </a:p>
        </p:txBody>
      </p:sp>
      <p:sp>
        <p:nvSpPr>
          <p:cNvPr id="11" name="arrow"/>
          <p:cNvSpPr/>
          <p:nvPr/>
        </p:nvSpPr>
        <p:spPr>
          <a:xfrm>
            <a:off x="6035040" y="2029968"/>
            <a:ext cx="246888" cy="292608"/>
          </a:xfrm>
          <a:prstGeom prst="rightArrow">
            <a:avLst/>
          </a:prstGeom>
          <a:solidFill>
            <a:schemeClr val="accent5"/>
          </a:solidFill>
          <a:ln w="12700">
            <a:solidFill>
              <a:srgbClr val="5D6066"/>
            </a:solidFill>
            <a:prstDash val="solid"/>
          </a:ln>
        </p:spPr>
      </p:sp>
      <p:sp>
        <p:nvSpPr>
          <p:cNvPr id="12" name="step Analyse"/>
          <p:cNvSpPr/>
          <p:nvPr/>
        </p:nvSpPr>
        <p:spPr>
          <a:xfrm>
            <a:off x="6309360" y="1600200"/>
            <a:ext cx="1600200" cy="1143000"/>
          </a:xfrm>
          <a:prstGeom prst="roundRect">
            <a:avLst>
              <a:gd name="adj" fmla="val 8000"/>
            </a:avLst>
          </a:prstGeom>
          <a:solidFill>
            <a:schemeClr val="accent2"/>
          </a:solidFill>
          <a:ln w="12700">
            <a:solidFill>
              <a:srgbClr val="2A78D6"/>
            </a:solidFill>
            <a:prstDash val="solid"/>
          </a:ln>
        </p:spPr>
      </p:sp>
      <p:sp>
        <p:nvSpPr>
          <p:cNvPr id="13" name="Text 11"/>
          <p:cNvSpPr txBox="1"/>
          <p:nvPr/>
        </p:nvSpPr>
        <p:spPr>
          <a:xfrm>
            <a:off x="630936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Analyse</a:t>
            </a:r>
            <a:endParaRPr lang="en-US" sz="1600" dirty="0"/>
          </a:p>
          <a:p>
            <a:pPr algn="ctr" indent="0" marL="0">
              <a:buNone/>
            </a:pPr>
            <a:r>
              <a:rPr lang="en-US" sz="1200" dirty="0">
                <a:solidFill>
                  <a:schemeClr val="bg1"/>
                </a:solidFill>
              </a:rPr>
              <a:t>pay, trends, forecasts</a:t>
            </a:r>
            <a:endParaRPr lang="en-US" sz="1600" dirty="0"/>
          </a:p>
        </p:txBody>
      </p:sp>
      <p:sp>
        <p:nvSpPr>
          <p:cNvPr id="14" name="arrow"/>
          <p:cNvSpPr/>
          <p:nvPr/>
        </p:nvSpPr>
        <p:spPr>
          <a:xfrm>
            <a:off x="7955280" y="2029968"/>
            <a:ext cx="246888" cy="292608"/>
          </a:xfrm>
          <a:prstGeom prst="rightArrow">
            <a:avLst/>
          </a:prstGeom>
          <a:solidFill>
            <a:schemeClr val="accent5"/>
          </a:solidFill>
          <a:ln w="12700">
            <a:solidFill>
              <a:srgbClr val="5D6066"/>
            </a:solidFill>
            <a:prstDash val="solid"/>
          </a:ln>
        </p:spPr>
      </p:sp>
      <p:sp>
        <p:nvSpPr>
          <p:cNvPr id="15" name="step Deliver"/>
          <p:cNvSpPr/>
          <p:nvPr/>
        </p:nvSpPr>
        <p:spPr>
          <a:xfrm>
            <a:off x="8229600" y="1600200"/>
            <a:ext cx="1600200" cy="1143000"/>
          </a:xfrm>
          <a:prstGeom prst="roundRect">
            <a:avLst>
              <a:gd name="adj" fmla="val 8000"/>
            </a:avLst>
          </a:prstGeom>
          <a:solidFill>
            <a:schemeClr val="accent2"/>
          </a:solidFill>
          <a:ln w="12700">
            <a:solidFill>
              <a:srgbClr val="2A78D6"/>
            </a:solidFill>
            <a:prstDash val="solid"/>
          </a:ln>
        </p:spPr>
      </p:sp>
      <p:sp>
        <p:nvSpPr>
          <p:cNvPr id="16" name="Text 14"/>
          <p:cNvSpPr txBox="1"/>
          <p:nvPr/>
        </p:nvSpPr>
        <p:spPr>
          <a:xfrm>
            <a:off x="822960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Deliver</a:t>
            </a:r>
            <a:endParaRPr lang="en-US" sz="1600" dirty="0"/>
          </a:p>
          <a:p>
            <a:pPr algn="ctr" indent="0" marL="0">
              <a:buNone/>
            </a:pPr>
            <a:r>
              <a:rPr lang="en-US" sz="1200" dirty="0">
                <a:solidFill>
                  <a:schemeClr val="bg1"/>
                </a:solidFill>
              </a:rPr>
              <a:t>app, dashboard, SQL</a:t>
            </a:r>
            <a:endParaRPr lang="en-US" sz="1600" dirty="0"/>
          </a:p>
        </p:txBody>
      </p:sp>
      <p:sp>
        <p:nvSpPr>
          <p:cNvPr id="17" name="arrow"/>
          <p:cNvSpPr/>
          <p:nvPr/>
        </p:nvSpPr>
        <p:spPr>
          <a:xfrm>
            <a:off x="9875520" y="2029968"/>
            <a:ext cx="246888" cy="292608"/>
          </a:xfrm>
          <a:prstGeom prst="rightArrow">
            <a:avLst/>
          </a:prstGeom>
          <a:solidFill>
            <a:schemeClr val="accent5"/>
          </a:solidFill>
          <a:ln w="12700">
            <a:solidFill>
              <a:srgbClr val="5D6066"/>
            </a:solidFill>
            <a:prstDash val="solid"/>
          </a:ln>
        </p:spPr>
      </p:sp>
      <p:sp>
        <p:nvSpPr>
          <p:cNvPr id="18" name="step Docker"/>
          <p:cNvSpPr/>
          <p:nvPr/>
        </p:nvSpPr>
        <p:spPr>
          <a:xfrm>
            <a:off x="10149840" y="1600200"/>
            <a:ext cx="1600200" cy="1143000"/>
          </a:xfrm>
          <a:prstGeom prst="roundRect">
            <a:avLst>
              <a:gd name="adj" fmla="val 8000"/>
            </a:avLst>
          </a:prstGeom>
          <a:solidFill>
            <a:schemeClr val="tx2"/>
          </a:solidFill>
          <a:ln w="12700">
            <a:solidFill>
              <a:srgbClr val="2A78D6"/>
            </a:solidFill>
            <a:prstDash val="solid"/>
          </a:ln>
        </p:spPr>
      </p:sp>
      <p:sp>
        <p:nvSpPr>
          <p:cNvPr id="19" name="Text 17"/>
          <p:cNvSpPr txBox="1"/>
          <p:nvPr/>
        </p:nvSpPr>
        <p:spPr>
          <a:xfrm>
            <a:off x="101498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Docker</a:t>
            </a:r>
            <a:endParaRPr lang="en-US" sz="1600" dirty="0"/>
          </a:p>
          <a:p>
            <a:pPr algn="ctr" indent="0" marL="0">
              <a:buNone/>
            </a:pPr>
            <a:r>
              <a:rPr lang="en-US" sz="1200" dirty="0">
                <a:solidFill>
                  <a:schemeClr val="bg1"/>
                </a:solidFill>
              </a:rPr>
              <a:t>Nginx + Flask</a:t>
            </a:r>
            <a:endParaRPr lang="en-US" sz="1600" dirty="0"/>
          </a:p>
        </p:txBody>
      </p:sp>
      <p:sp>
        <p:nvSpPr>
          <p:cNvPr id="20" name="trust 0"/>
          <p:cNvSpPr/>
          <p:nvPr/>
        </p:nvSpPr>
        <p:spPr>
          <a:xfrm>
            <a:off x="548640" y="3291840"/>
            <a:ext cx="3474720" cy="2606040"/>
          </a:xfrm>
          <a:prstGeom prst="roundRect">
            <a:avLst>
              <a:gd name="adj" fmla="val 3509"/>
            </a:avLst>
          </a:prstGeom>
          <a:solidFill>
            <a:schemeClr val="bg2"/>
          </a:solidFill>
          <a:ln w="12700">
            <a:solidFill>
              <a:schemeClr val="bg2"/>
            </a:solidFill>
            <a:prstDash val="solid"/>
          </a:ln>
        </p:spPr>
      </p:sp>
      <p:sp>
        <p:nvSpPr>
          <p:cNvPr id="21" name="trust icon circle 0"/>
          <p:cNvSpPr/>
          <p:nvPr/>
        </p:nvSpPr>
        <p:spPr>
          <a:xfrm>
            <a:off x="822960" y="3520440"/>
            <a:ext cx="566928" cy="566928"/>
          </a:xfrm>
          <a:prstGeom prst="ellipse">
            <a:avLst/>
          </a:prstGeom>
          <a:solidFill>
            <a:schemeClr val="accent1"/>
          </a:solidFill>
          <a:ln w="12700">
            <a:solidFill>
              <a:srgbClr val="F2F3F5"/>
            </a:solidFill>
            <a:prstDash val="solid"/>
          </a:ln>
        </p:spPr>
      </p:sp>
      <p:pic>
        <p:nvPicPr>
          <p:cNvPr id="22" name="trust icon 0" descr="preencoded.png">    </p:cNvPr>
          <p:cNvPicPr>
            <a:picLocks noChangeAspect="1"/>
          </p:cNvPicPr>
          <p:nvPr/>
        </p:nvPicPr>
        <p:blipFill>
          <a:blip r:embed="rId1"/>
          <a:stretch>
            <a:fillRect/>
          </a:stretch>
        </p:blipFill>
        <p:spPr>
          <a:xfrm>
            <a:off x="950976" y="3648456"/>
            <a:ext cx="310896" cy="310896"/>
          </a:xfrm>
          <a:prstGeom prst="rect">
            <a:avLst/>
          </a:prstGeom>
        </p:spPr>
      </p:pic>
      <p:sp>
        <p:nvSpPr>
          <p:cNvPr id="23" name="Text 20"/>
          <p:cNvSpPr txBox="1"/>
          <p:nvPr/>
        </p:nvSpPr>
        <p:spPr>
          <a:xfrm>
            <a:off x="82296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Rules fixed before results</a:t>
            </a:r>
            <a:endParaRPr lang="en-US" sz="1700" dirty="0"/>
          </a:p>
        </p:txBody>
      </p:sp>
      <p:sp>
        <p:nvSpPr>
          <p:cNvPr id="24" name="Text 21"/>
          <p:cNvSpPr txBox="1"/>
          <p:nvPr/>
        </p:nvSpPr>
        <p:spPr>
          <a:xfrm>
            <a:off x="82296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Models, thresholds and scoring rules are set before I see any final result.</a:t>
            </a:r>
            <a:endParaRPr lang="en-US" sz="1400" dirty="0"/>
          </a:p>
        </p:txBody>
      </p:sp>
      <p:sp>
        <p:nvSpPr>
          <p:cNvPr id="25" name="trust 1"/>
          <p:cNvSpPr/>
          <p:nvPr/>
        </p:nvSpPr>
        <p:spPr>
          <a:xfrm>
            <a:off x="4297680" y="3291840"/>
            <a:ext cx="3474720" cy="2606040"/>
          </a:xfrm>
          <a:prstGeom prst="roundRect">
            <a:avLst>
              <a:gd name="adj" fmla="val 3509"/>
            </a:avLst>
          </a:prstGeom>
          <a:solidFill>
            <a:schemeClr val="bg2"/>
          </a:solidFill>
          <a:ln w="12700">
            <a:solidFill>
              <a:schemeClr val="bg2"/>
            </a:solidFill>
            <a:prstDash val="solid"/>
          </a:ln>
        </p:spPr>
      </p:sp>
      <p:sp>
        <p:nvSpPr>
          <p:cNvPr id="26" name="trust icon circle 1"/>
          <p:cNvSpPr/>
          <p:nvPr/>
        </p:nvSpPr>
        <p:spPr>
          <a:xfrm>
            <a:off x="4572000" y="3520440"/>
            <a:ext cx="566928" cy="566928"/>
          </a:xfrm>
          <a:prstGeom prst="ellipse">
            <a:avLst/>
          </a:prstGeom>
          <a:solidFill>
            <a:schemeClr val="accent1"/>
          </a:solidFill>
          <a:ln w="12700">
            <a:solidFill>
              <a:srgbClr val="F2F3F5"/>
            </a:solidFill>
            <a:prstDash val="solid"/>
          </a:ln>
        </p:spPr>
      </p:sp>
      <p:pic>
        <p:nvPicPr>
          <p:cNvPr id="27" name="trust icon 1" descr="preencoded.png">    </p:cNvPr>
          <p:cNvPicPr>
            <a:picLocks noChangeAspect="1"/>
          </p:cNvPicPr>
          <p:nvPr/>
        </p:nvPicPr>
        <p:blipFill>
          <a:blip r:embed="rId2"/>
          <a:stretch>
            <a:fillRect/>
          </a:stretch>
        </p:blipFill>
        <p:spPr>
          <a:xfrm>
            <a:off x="4700016" y="3648456"/>
            <a:ext cx="310896" cy="310896"/>
          </a:xfrm>
          <a:prstGeom prst="rect">
            <a:avLst/>
          </a:prstGeom>
        </p:spPr>
      </p:pic>
      <p:sp>
        <p:nvSpPr>
          <p:cNvPr id="28" name="Text 24"/>
          <p:cNvSpPr txBox="1"/>
          <p:nvPr/>
        </p:nvSpPr>
        <p:spPr>
          <a:xfrm>
            <a:off x="457200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Blind human tests</a:t>
            </a:r>
            <a:endParaRPr lang="en-US" sz="1700" dirty="0"/>
          </a:p>
        </p:txBody>
      </p:sp>
      <p:sp>
        <p:nvSpPr>
          <p:cNvPr id="29" name="Text 25"/>
          <p:cNvSpPr txBox="1"/>
          <p:nvPr/>
        </p:nvSpPr>
        <p:spPr>
          <a:xfrm>
            <a:off x="457200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I label job categories and recommendations without seeing what the system predicts.</a:t>
            </a:r>
            <a:endParaRPr lang="en-US" sz="1400" dirty="0"/>
          </a:p>
        </p:txBody>
      </p:sp>
      <p:sp>
        <p:nvSpPr>
          <p:cNvPr id="30" name="trust 2"/>
          <p:cNvSpPr/>
          <p:nvPr/>
        </p:nvSpPr>
        <p:spPr>
          <a:xfrm>
            <a:off x="8046720" y="3291840"/>
            <a:ext cx="3474720" cy="2606040"/>
          </a:xfrm>
          <a:prstGeom prst="roundRect">
            <a:avLst>
              <a:gd name="adj" fmla="val 3509"/>
            </a:avLst>
          </a:prstGeom>
          <a:solidFill>
            <a:schemeClr val="bg2"/>
          </a:solidFill>
          <a:ln w="12700">
            <a:solidFill>
              <a:schemeClr val="bg2"/>
            </a:solidFill>
            <a:prstDash val="solid"/>
          </a:ln>
        </p:spPr>
      </p:sp>
      <p:sp>
        <p:nvSpPr>
          <p:cNvPr id="31" name="trust icon circle 2"/>
          <p:cNvSpPr/>
          <p:nvPr/>
        </p:nvSpPr>
        <p:spPr>
          <a:xfrm>
            <a:off x="8321040" y="3520440"/>
            <a:ext cx="566928" cy="566928"/>
          </a:xfrm>
          <a:prstGeom prst="ellipse">
            <a:avLst/>
          </a:prstGeom>
          <a:solidFill>
            <a:schemeClr val="accent1"/>
          </a:solidFill>
          <a:ln w="12700">
            <a:solidFill>
              <a:srgbClr val="F2F3F5"/>
            </a:solidFill>
            <a:prstDash val="solid"/>
          </a:ln>
        </p:spPr>
      </p:sp>
      <p:pic>
        <p:nvPicPr>
          <p:cNvPr id="32" name="trust icon 2" descr="preencoded.png">    </p:cNvPr>
          <p:cNvPicPr>
            <a:picLocks noChangeAspect="1"/>
          </p:cNvPicPr>
          <p:nvPr/>
        </p:nvPicPr>
        <p:blipFill>
          <a:blip r:embed="rId3"/>
          <a:stretch>
            <a:fillRect/>
          </a:stretch>
        </p:blipFill>
        <p:spPr>
          <a:xfrm>
            <a:off x="8449056" y="3648456"/>
            <a:ext cx="310896" cy="310896"/>
          </a:xfrm>
          <a:prstGeom prst="rect">
            <a:avLst/>
          </a:prstGeom>
        </p:spPr>
      </p:pic>
      <p:sp>
        <p:nvSpPr>
          <p:cNvPr id="33" name="Text 28"/>
          <p:cNvSpPr txBox="1"/>
          <p:nvPr/>
        </p:nvSpPr>
        <p:spPr>
          <a:xfrm>
            <a:off x="832104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Every number checked by code</a:t>
            </a:r>
            <a:endParaRPr lang="en-US" sz="1700" dirty="0"/>
          </a:p>
        </p:txBody>
      </p:sp>
      <p:sp>
        <p:nvSpPr>
          <p:cNvPr id="34" name="Text 29"/>
          <p:cNvSpPr txBox="1"/>
          <p:nvPr/>
        </p:nvSpPr>
        <p:spPr>
          <a:xfrm>
            <a:off x="832104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Each notebook ends with a claims check; tests check the README and report too.</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Giving every job a category</a:t>
            </a:r>
            <a:endParaRPr lang="en-US" sz="3000" dirty="0"/>
          </a:p>
        </p:txBody>
      </p:sp>
      <p:sp>
        <p:nvSpPr>
          <p:cNvPr id="3" name="headline card"/>
          <p:cNvSpPr/>
          <p:nvPr/>
        </p:nvSpPr>
        <p:spPr>
          <a:xfrm>
            <a:off x="548640" y="1463040"/>
            <a:ext cx="4937760" cy="4526280"/>
          </a:xfrm>
          <a:prstGeom prst="roundRect">
            <a:avLst>
              <a:gd name="adj" fmla="val 2020"/>
            </a:avLst>
          </a:prstGeom>
          <a:solidFill>
            <a:schemeClr val="tx2"/>
          </a:solidFill>
          <a:ln w="12700">
            <a:solidFill>
              <a:schemeClr val="tx2"/>
            </a:solidFill>
            <a:prstDash val="solid"/>
          </a:ln>
        </p:spPr>
      </p:sp>
      <p:sp>
        <p:nvSpPr>
          <p:cNvPr id="4" name="blind result"/>
          <p:cNvSpPr txBox="1"/>
          <p:nvPr/>
        </p:nvSpPr>
        <p:spPr>
          <a:xfrm>
            <a:off x="914400" y="1828800"/>
            <a:ext cx="4297680" cy="2377440"/>
          </a:xfrm>
          <a:prstGeom prst="rect">
            <a:avLst/>
          </a:prstGeom>
          <a:noFill/>
          <a:ln/>
        </p:spPr>
        <p:txBody>
          <a:bodyPr wrap="square" lIns="0" tIns="0" rIns="0" bIns="0" rtlCol="0" anchor="t"/>
          <a:lstStyle/>
          <a:p>
            <a:pPr indent="0" marL="0">
              <a:buNone/>
            </a:pPr>
            <a:r>
              <a:rPr lang="en-US" sz="6600" b="1" dirty="0">
                <a:solidFill>
                  <a:schemeClr val="bg1"/>
                </a:solidFill>
              </a:rPr>
              <a:t>68.9%</a:t>
            </a:r>
            <a:endParaRPr lang="en-US" sz="6600" dirty="0"/>
          </a:p>
          <a:p>
            <a:pPr indent="0" marL="0">
              <a:buNone/>
            </a:pPr>
            <a:r>
              <a:rPr lang="en-US" sz="1800" dirty="0">
                <a:solidFill>
                  <a:schemeClr val="bg1"/>
                </a:solidFill>
              </a:rPr>
              <a:t>agreement with my blind labels</a:t>
            </a:r>
            <a:endParaRPr lang="en-US" sz="6600" dirty="0"/>
          </a:p>
          <a:p>
            <a:pPr indent="0" marL="0">
              <a:buNone/>
            </a:pPr>
            <a:r>
              <a:rPr lang="en-US" sz="1400" dirty="0">
                <a:solidFill>
                  <a:schemeClr val="accent6"/>
                </a:solidFill>
              </a:rPr>
              <a:t>241 of 350 titles  ·  95% interval 63.8% - 73.5%</a:t>
            </a:r>
            <a:endParaRPr lang="en-US" sz="6600" dirty="0"/>
          </a:p>
        </p:txBody>
      </p:sp>
      <p:sp>
        <p:nvSpPr>
          <p:cNvPr id="5" name="scale 50-90"/>
          <p:cNvSpPr/>
          <p:nvPr/>
        </p:nvSpPr>
        <p:spPr>
          <a:xfrm>
            <a:off x="914400" y="4800600"/>
            <a:ext cx="4206240" cy="73152"/>
          </a:xfrm>
          <a:prstGeom prst="rect">
            <a:avLst/>
          </a:prstGeom>
          <a:solidFill>
            <a:schemeClr val="accent5"/>
          </a:solidFill>
          <a:ln w="12700">
            <a:solidFill>
              <a:srgbClr val="5D6066"/>
            </a:solidFill>
            <a:prstDash val="solid"/>
          </a:ln>
        </p:spPr>
      </p:sp>
      <p:sp>
        <p:nvSpPr>
          <p:cNvPr id="6" name="interval"/>
          <p:cNvSpPr/>
          <p:nvPr/>
        </p:nvSpPr>
        <p:spPr>
          <a:xfrm>
            <a:off x="2365553" y="4727448"/>
            <a:ext cx="1020013" cy="219456"/>
          </a:xfrm>
          <a:prstGeom prst="rect">
            <a:avLst/>
          </a:prstGeom>
          <a:solidFill>
            <a:schemeClr val="accent1"/>
          </a:solidFill>
          <a:ln w="12700">
            <a:solidFill>
              <a:srgbClr val="C4501D"/>
            </a:solidFill>
            <a:prstDash val="solid"/>
          </a:ln>
        </p:spPr>
      </p:sp>
      <p:sp>
        <p:nvSpPr>
          <p:cNvPr id="7" name="Text 5"/>
          <p:cNvSpPr txBox="1"/>
          <p:nvPr/>
        </p:nvSpPr>
        <p:spPr>
          <a:xfrm>
            <a:off x="77724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50%</a:t>
            </a:r>
            <a:endParaRPr lang="en-US" sz="1100" dirty="0"/>
          </a:p>
        </p:txBody>
      </p:sp>
      <p:sp>
        <p:nvSpPr>
          <p:cNvPr id="8" name="Text 6"/>
          <p:cNvSpPr txBox="1"/>
          <p:nvPr/>
        </p:nvSpPr>
        <p:spPr>
          <a:xfrm>
            <a:off x="484632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90%</a:t>
            </a:r>
            <a:endParaRPr lang="en-US" sz="1100" dirty="0"/>
          </a:p>
        </p:txBody>
      </p:sp>
      <p:sp>
        <p:nvSpPr>
          <p:cNvPr id="9" name="stat functions"/>
          <p:cNvSpPr txBox="1"/>
          <p:nvPr/>
        </p:nvSpPr>
        <p:spPr>
          <a:xfrm>
            <a:off x="6035040" y="1554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22 job functions</a:t>
            </a:r>
            <a:endParaRPr lang="en-US" sz="3000" dirty="0"/>
          </a:p>
          <a:p>
            <a:pPr indent="0" marL="0">
              <a:buNone/>
            </a:pPr>
            <a:r>
              <a:rPr lang="en-US" sz="1400" dirty="0">
                <a:solidFill>
                  <a:schemeClr val="tx1"/>
                </a:solidFill>
              </a:rPr>
              <a:t>plus Other / Unclear, one category per job</a:t>
            </a:r>
            <a:endParaRPr lang="en-US" sz="3000" dirty="0"/>
          </a:p>
        </p:txBody>
      </p:sp>
      <p:sp>
        <p:nvSpPr>
          <p:cNvPr id="10" name="stat rules"/>
          <p:cNvSpPr txBox="1"/>
          <p:nvPr/>
        </p:nvSpPr>
        <p:spPr>
          <a:xfrm>
            <a:off x="6035040" y="2697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87% decided by rules</a:t>
            </a:r>
            <a:endParaRPr lang="en-US" sz="3000" dirty="0"/>
          </a:p>
          <a:p>
            <a:pPr indent="0" marL="0">
              <a:buNone/>
            </a:pPr>
            <a:r>
              <a:rPr lang="en-US" sz="1400" dirty="0">
                <a:solidFill>
                  <a:schemeClr val="tx1"/>
                </a:solidFill>
              </a:rPr>
              <a:t>transparent keyword rules; a guarded classifier adds about 1%</a:t>
            </a:r>
            <a:endParaRPr lang="en-US" sz="3000" dirty="0"/>
          </a:p>
        </p:txBody>
      </p:sp>
      <p:sp>
        <p:nvSpPr>
          <p:cNvPr id="11" name="stat named"/>
          <p:cNvSpPr txBox="1"/>
          <p:nvPr/>
        </p:nvSpPr>
        <p:spPr>
          <a:xfrm>
            <a:off x="6035040" y="3840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77.2% when named</a:t>
            </a:r>
            <a:endParaRPr lang="en-US" sz="3000" dirty="0"/>
          </a:p>
          <a:p>
            <a:pPr indent="0" marL="0">
              <a:buNone/>
            </a:pPr>
            <a:r>
              <a:rPr lang="en-US" sz="1400" dirty="0">
                <a:solidFill>
                  <a:schemeClr val="tx1"/>
                </a:solidFill>
              </a:rPr>
              <a:t>agreement when the system names a category instead of Other</a:t>
            </a:r>
            <a:endParaRPr lang="en-US" sz="3000" dirty="0"/>
          </a:p>
        </p:txBody>
      </p:sp>
      <p:sp>
        <p:nvSpPr>
          <p:cNvPr id="12" name="Text 10"/>
          <p:cNvSpPr txBox="1"/>
          <p:nvPr/>
        </p:nvSpPr>
        <p:spPr>
          <a:xfrm>
            <a:off x="6035040" y="5029200"/>
            <a:ext cx="5577840" cy="822960"/>
          </a:xfrm>
          <a:prstGeom prst="rect">
            <a:avLst/>
          </a:prstGeom>
          <a:noFill/>
          <a:ln/>
        </p:spPr>
        <p:txBody>
          <a:bodyPr wrap="square" lIns="0" tIns="0" rIns="0" bIns="0" rtlCol="0" anchor="t"/>
          <a:lstStyle/>
          <a:p>
            <a:pPr indent="0" marL="0">
              <a:buNone/>
            </a:pPr>
            <a:r>
              <a:rPr lang="en-US" sz="1400" i="1" dirty="0">
                <a:solidFill>
                  <a:schemeClr val="accent5"/>
                </a:solidFill>
              </a:rPr>
              <a:t>Software &amp; IT, AI &amp; ML, Engineering and Admin are likely undercounted, so I show the Other share next to every category result.</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Title words that go with higher or lower pay</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1</a:t>
            </a:r>
            <a:endParaRPr lang="en-US" sz="1200" dirty="0"/>
          </a:p>
        </p:txBody>
      </p:sp>
      <p:pic>
        <p:nvPicPr>
          <p:cNvPr id="4" name="figure 2 pay keywords" descr="/home/claude/deck/assets/f2_pay_keywords.png">    </p:cNvPr>
          <p:cNvPicPr>
            <a:picLocks noChangeAspect="1"/>
          </p:cNvPicPr>
          <p:nvPr/>
        </p:nvPicPr>
        <p:blipFill>
          <a:blip r:embed="rId1"/>
          <a:stretch>
            <a:fillRect/>
          </a:stretch>
        </p:blipFill>
        <p:spPr>
          <a:xfrm>
            <a:off x="548640" y="1463040"/>
            <a:ext cx="6400800" cy="4521666"/>
          </a:xfrm>
          <a:prstGeom prst="rect">
            <a:avLst/>
          </a:prstGeom>
        </p:spPr>
      </p:pic>
      <p:sp>
        <p:nvSpPr>
          <p:cNvPr id="5" name="stat consultant"/>
          <p:cNvSpPr txBox="1"/>
          <p:nvPr/>
        </p:nvSpPr>
        <p:spPr>
          <a:xfrm>
            <a:off x="7406640" y="1463040"/>
            <a:ext cx="4206240" cy="1005840"/>
          </a:xfrm>
          <a:prstGeom prst="rect">
            <a:avLst/>
          </a:prstGeom>
          <a:noFill/>
          <a:ln/>
        </p:spPr>
        <p:txBody>
          <a:bodyPr wrap="square" lIns="0" tIns="0" rIns="0" bIns="0" rtlCol="0" anchor="t"/>
          <a:lstStyle/>
          <a:p>
            <a:pPr indent="0" marL="0">
              <a:buNone/>
            </a:pPr>
            <a:r>
              <a:rPr lang="en-US" sz="3000" b="1" dirty="0">
                <a:solidFill>
                  <a:schemeClr val="accent1"/>
                </a:solidFill>
              </a:rPr>
              <a:t>+77%  consultant</a:t>
            </a:r>
            <a:endParaRPr lang="en-US" sz="3000" dirty="0"/>
          </a:p>
          <a:p>
            <a:pPr indent="0" marL="0">
              <a:buNone/>
            </a:pPr>
            <a:r>
              <a:rPr lang="en-US" sz="1400" dirty="0">
                <a:solidFill>
                  <a:schemeClr val="tx1"/>
                </a:solidFill>
              </a:rPr>
              <a:t>higher hourly offers than similar jobs in the same country and category</a:t>
            </a:r>
            <a:endParaRPr lang="en-US" sz="3000" dirty="0"/>
          </a:p>
        </p:txBody>
      </p:sp>
      <p:sp>
        <p:nvSpPr>
          <p:cNvPr id="6" name="stat va"/>
          <p:cNvSpPr txBox="1"/>
          <p:nvPr/>
        </p:nvSpPr>
        <p:spPr>
          <a:xfrm>
            <a:off x="7406640" y="2606040"/>
            <a:ext cx="4206240" cy="1005840"/>
          </a:xfrm>
          <a:prstGeom prst="rect">
            <a:avLst/>
          </a:prstGeom>
          <a:noFill/>
          <a:ln/>
        </p:spPr>
        <p:txBody>
          <a:bodyPr wrap="square" lIns="0" tIns="0" rIns="0" bIns="0" rtlCol="0" anchor="t"/>
          <a:lstStyle/>
          <a:p>
            <a:pPr indent="0" marL="0">
              <a:buNone/>
            </a:pPr>
            <a:r>
              <a:rPr lang="en-US" sz="3000" b="1" dirty="0">
                <a:solidFill>
                  <a:schemeClr val="accent3"/>
                </a:solidFill>
              </a:rPr>
              <a:t>−38%  virtual assistant</a:t>
            </a:r>
            <a:endParaRPr lang="en-US" sz="3000" dirty="0"/>
          </a:p>
          <a:p>
            <a:pPr indent="0" marL="0">
              <a:buNone/>
            </a:pPr>
            <a:r>
              <a:rPr lang="en-US" sz="1400" dirty="0">
                <a:solidFill>
                  <a:schemeClr val="tx1"/>
                </a:solidFill>
              </a:rPr>
              <a:t>lower than similar jobs</a:t>
            </a:r>
            <a:endParaRPr lang="en-US" sz="3000" dirty="0"/>
          </a:p>
        </p:txBody>
      </p:sp>
      <p:sp>
        <p:nvSpPr>
          <p:cNvPr id="7" name="stat r2"/>
          <p:cNvSpPr txBox="1"/>
          <p:nvPr/>
        </p:nvSpPr>
        <p:spPr>
          <a:xfrm>
            <a:off x="7406640" y="3611880"/>
            <a:ext cx="4206240" cy="1005840"/>
          </a:xfrm>
          <a:prstGeom prst="rect">
            <a:avLst/>
          </a:prstGeom>
          <a:noFill/>
          <a:ln/>
        </p:spPr>
        <p:txBody>
          <a:bodyPr wrap="square" lIns="0" tIns="0" rIns="0" bIns="0" rtlCol="0" anchor="t"/>
          <a:lstStyle/>
          <a:p>
            <a:pPr indent="0" marL="0">
              <a:buNone/>
            </a:pPr>
            <a:r>
              <a:rPr lang="en-US" sz="3000" b="1" dirty="0">
                <a:solidFill>
                  <a:schemeClr val="accent2"/>
                </a:solidFill>
              </a:rPr>
              <a:t>11% → 26%</a:t>
            </a:r>
            <a:endParaRPr lang="en-US" sz="3000" dirty="0"/>
          </a:p>
          <a:p>
            <a:pPr indent="0" marL="0">
              <a:buNone/>
            </a:pPr>
            <a:r>
              <a:rPr lang="en-US" sz="1400" dirty="0">
                <a:solidFill>
                  <a:schemeClr val="tx1"/>
                </a:solidFill>
              </a:rPr>
              <a:t>explained variation when title words are added</a:t>
            </a:r>
            <a:endParaRPr lang="en-US" sz="3000" dirty="0"/>
          </a:p>
        </p:txBody>
      </p:sp>
      <p:sp>
        <p:nvSpPr>
          <p:cNvPr id="8" name="Text 5"/>
          <p:cNvSpPr txBox="1"/>
          <p:nvPr/>
        </p:nvSpPr>
        <p:spPr>
          <a:xfrm>
            <a:off x="7406640" y="4846320"/>
            <a:ext cx="4206240" cy="822960"/>
          </a:xfrm>
          <a:prstGeom prst="rect">
            <a:avLst/>
          </a:prstGeom>
          <a:noFill/>
          <a:ln/>
        </p:spPr>
        <p:txBody>
          <a:bodyPr wrap="square" lIns="0" tIns="0" rIns="0" bIns="0" rtlCol="0" anchor="t"/>
          <a:lstStyle/>
          <a:p>
            <a:pPr indent="0" marL="0">
              <a:buNone/>
            </a:pPr>
            <a:r>
              <a:rPr lang="en-US" sz="1400" i="1" dirty="0">
                <a:solidFill>
                  <a:schemeClr val="accent5"/>
                </a:solidFill>
              </a:rPr>
              <a:t>“Python” is +10% in the raw comparison but −7.5% after adjustment: the job mix matters.</a:t>
            </a:r>
            <a:endParaRPr lang="en-US" sz="1400" dirty="0"/>
          </a:p>
        </p:txBody>
      </p:sp>
      <p:sp>
        <p:nvSpPr>
          <p:cNvPr id="9" name="caption"/>
          <p:cNvSpPr txBox="1"/>
          <p:nvPr/>
        </p:nvSpPr>
        <p:spPr>
          <a:xfrm>
            <a:off x="548640" y="6035040"/>
            <a:ext cx="6400800" cy="320040"/>
          </a:xfrm>
          <a:prstGeom prst="rect">
            <a:avLst/>
          </a:prstGeom>
          <a:noFill/>
          <a:ln/>
        </p:spPr>
        <p:txBody>
          <a:bodyPr wrap="square" lIns="0" tIns="0" rIns="0" bIns="0" rtlCol="0" anchor="ctr"/>
          <a:lstStyle/>
          <a:p>
            <a:pPr indent="0" marL="0">
              <a:buNone/>
            </a:pPr>
            <a:r>
              <a:rPr lang="en-US" sz="1100" i="1" dirty="0">
                <a:solidFill>
                  <a:schemeClr val="accent5"/>
                </a:solidFill>
              </a:rPr>
              <a:t>Difference in hourly offer vs. jobs in the same client country and category; black lines are 95% intervals.</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Which kinds of work are rising and falling</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2</a:t>
            </a:r>
            <a:endParaRPr lang="en-US" sz="1200" dirty="0"/>
          </a:p>
        </p:txBody>
      </p:sp>
      <p:pic>
        <p:nvPicPr>
          <p:cNvPr id="4" name="figure 3 category trends" descr="/home/claude/deck/assets/f3_category_trends.png">    </p:cNvPr>
          <p:cNvPicPr>
            <a:picLocks noChangeAspect="1"/>
          </p:cNvPicPr>
          <p:nvPr/>
        </p:nvPicPr>
        <p:blipFill>
          <a:blip r:embed="rId1"/>
          <a:stretch>
            <a:fillRect/>
          </a:stretch>
        </p:blipFill>
        <p:spPr>
          <a:xfrm>
            <a:off x="548640" y="1417320"/>
            <a:ext cx="6949440" cy="3866134"/>
          </a:xfrm>
          <a:prstGeom prst="rect">
            <a:avLst/>
          </a:prstGeom>
        </p:spPr>
      </p:pic>
      <p:sp>
        <p:nvSpPr>
          <p:cNvPr id="5" name="Text 2"/>
          <p:cNvSpPr txBox="1"/>
          <p:nvPr/>
        </p:nvSpPr>
        <p:spPr>
          <a:xfrm>
            <a:off x="7863840" y="1508760"/>
            <a:ext cx="3840480" cy="173736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Rising</a:t>
            </a:r>
            <a:endParaRPr lang="en-US" sz="1400" dirty="0"/>
          </a:p>
          <a:p>
            <a:pPr marL="342900" indent="-342900">
              <a:spcAft>
                <a:spcPts val="400"/>
              </a:spcAft>
              <a:buSzPct val="100000"/>
              <a:buChar char="•"/>
            </a:pPr>
            <a:r>
              <a:rPr lang="en-US" sz="1400" dirty="0">
                <a:solidFill>
                  <a:schemeClr val="tx1"/>
                </a:solidFill>
              </a:rPr>
              <a:t>Digital Marketing  +1.0 point (+10%)</a:t>
            </a:r>
            <a:endParaRPr lang="en-US" sz="1400" dirty="0"/>
          </a:p>
          <a:p>
            <a:pPr marL="342900" indent="-342900">
              <a:spcAft>
                <a:spcPts val="400"/>
              </a:spcAft>
              <a:buSzPct val="100000"/>
              <a:buChar char="•"/>
            </a:pPr>
            <a:r>
              <a:rPr lang="en-US" sz="1400" dirty="0">
                <a:solidFill>
                  <a:schemeClr val="tx1"/>
                </a:solidFill>
              </a:rPr>
              <a:t>Video, Design, Sales, E-commerce</a:t>
            </a:r>
            <a:endParaRPr lang="en-US" sz="1400" dirty="0"/>
          </a:p>
          <a:p>
            <a:pPr marL="342900" indent="-342900">
              <a:spcAft>
                <a:spcPts val="400"/>
              </a:spcAft>
              <a:buSzPct val="100000"/>
              <a:buChar char="•"/>
            </a:pPr>
            <a:r>
              <a:rPr lang="en-US" sz="1400" dirty="0">
                <a:solidFill>
                  <a:schemeClr val="tx1"/>
                </a:solidFill>
              </a:rPr>
              <a:t>AI &amp; Machine Learning  +19%</a:t>
            </a:r>
            <a:endParaRPr lang="en-US" sz="1400" dirty="0"/>
          </a:p>
        </p:txBody>
      </p:sp>
      <p:sp>
        <p:nvSpPr>
          <p:cNvPr id="6" name="Text 3"/>
          <p:cNvSpPr txBox="1"/>
          <p:nvPr/>
        </p:nvSpPr>
        <p:spPr>
          <a:xfrm>
            <a:off x="7863840" y="3337560"/>
            <a:ext cx="3840480" cy="1463040"/>
          </a:xfrm>
          <a:prstGeom prst="rect">
            <a:avLst/>
          </a:prstGeom>
          <a:noFill/>
          <a:ln/>
        </p:spPr>
        <p:txBody>
          <a:bodyPr wrap="square" lIns="0" tIns="0" rIns="0" bIns="0" rtlCol="0" anchor="t"/>
          <a:lstStyle/>
          <a:p>
            <a:pPr indent="0" marL="0">
              <a:spcAft>
                <a:spcPts val="400"/>
              </a:spcAft>
              <a:buNone/>
            </a:pPr>
            <a:r>
              <a:rPr lang="en-US" sz="1700" b="1" dirty="0">
                <a:solidFill>
                  <a:schemeClr val="accent3"/>
                </a:solidFill>
              </a:rPr>
              <a:t>Falling</a:t>
            </a:r>
            <a:endParaRPr lang="en-US" sz="1400" dirty="0"/>
          </a:p>
          <a:p>
            <a:pPr marL="342900" indent="-342900">
              <a:spcAft>
                <a:spcPts val="400"/>
              </a:spcAft>
              <a:buSzPct val="100000"/>
              <a:buChar char="•"/>
            </a:pPr>
            <a:r>
              <a:rPr lang="en-US" sz="1400" dirty="0">
                <a:solidFill>
                  <a:schemeClr val="tx1"/>
                </a:solidFill>
              </a:rPr>
              <a:t>Writing  5.8% → 3.7% of posts</a:t>
            </a:r>
            <a:endParaRPr lang="en-US" sz="1400" dirty="0"/>
          </a:p>
          <a:p>
            <a:pPr marL="342900" indent="-342900">
              <a:spcAft>
                <a:spcPts val="400"/>
              </a:spcAft>
              <a:buSzPct val="100000"/>
              <a:buChar char="•"/>
            </a:pPr>
            <a:r>
              <a:rPr lang="en-US" sz="1400" dirty="0">
                <a:solidFill>
                  <a:schemeClr val="tx1"/>
                </a:solidFill>
              </a:rPr>
              <a:t>Admin  −1.4 points</a:t>
            </a:r>
            <a:endParaRPr lang="en-US" sz="1400" dirty="0"/>
          </a:p>
          <a:p>
            <a:pPr marL="342900" indent="-342900">
              <a:spcAft>
                <a:spcPts val="400"/>
              </a:spcAft>
              <a:buSzPct val="100000"/>
              <a:buChar char="•"/>
            </a:pPr>
            <a:r>
              <a:rPr lang="en-US" sz="1400" dirty="0">
                <a:solidFill>
                  <a:schemeClr val="tx1"/>
                </a:solidFill>
              </a:rPr>
              <a:t>Translation  −0.9 points</a:t>
            </a:r>
            <a:endParaRPr lang="en-US" sz="1400" dirty="0"/>
          </a:p>
        </p:txBody>
      </p:sp>
      <p:sp>
        <p:nvSpPr>
          <p:cNvPr id="7" name="Text 4"/>
          <p:cNvSpPr txBox="1"/>
          <p:nvPr/>
        </p:nvSpPr>
        <p:spPr>
          <a:xfrm>
            <a:off x="7863840" y="4983480"/>
            <a:ext cx="3840480" cy="731520"/>
          </a:xfrm>
          <a:prstGeom prst="rect">
            <a:avLst/>
          </a:prstGeom>
          <a:noFill/>
          <a:ln/>
        </p:spPr>
        <p:txBody>
          <a:bodyPr wrap="square" lIns="0" tIns="0" rIns="0" bIns="0" rtlCol="0" anchor="t"/>
          <a:lstStyle/>
          <a:p>
            <a:pPr indent="0" marL="0">
              <a:buNone/>
            </a:pPr>
            <a:r>
              <a:rPr lang="en-US" sz="1400" i="1" dirty="0">
                <a:solidFill>
                  <a:schemeClr val="accent5"/>
                </a:solidFill>
              </a:rPr>
              <a:t>Part of the change is one step around 26 February, not a smooth trend.</a:t>
            </a:r>
            <a:endParaRPr lang="en-US" sz="1400" dirty="0"/>
          </a:p>
        </p:txBody>
      </p:sp>
      <p:sp>
        <p:nvSpPr>
          <p:cNvPr id="8" name="caption"/>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00" i="1" dirty="0">
                <a:solidFill>
                  <a:schemeClr val="accent5"/>
                </a:solidFill>
              </a:rPr>
              <a:t>9 of 22 functions change significantly (FDR 5%) within the 37-day window.</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Pay depends on the client's country, and on the job mix</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4</a:t>
            </a:r>
            <a:endParaRPr lang="en-US" sz="1200" dirty="0"/>
          </a:p>
        </p:txBody>
      </p:sp>
      <p:pic>
        <p:nvPicPr>
          <p:cNvPr id="4" name="figure 5 country rates" descr="/home/claude/deck/assets/f5_country_rates.png">    </p:cNvPr>
          <p:cNvPicPr>
            <a:picLocks noChangeAspect="1"/>
          </p:cNvPicPr>
          <p:nvPr/>
        </p:nvPicPr>
        <p:blipFill>
          <a:blip r:embed="rId1"/>
          <a:stretch>
            <a:fillRect/>
          </a:stretch>
        </p:blipFill>
        <p:spPr>
          <a:xfrm>
            <a:off x="548640" y="1417320"/>
            <a:ext cx="7223760" cy="4390913"/>
          </a:xfrm>
          <a:prstGeom prst="rect">
            <a:avLst/>
          </a:prstGeom>
        </p:spPr>
      </p:pic>
      <p:sp>
        <p:nvSpPr>
          <p:cNvPr id="5" name="stat countries"/>
          <p:cNvSpPr txBox="1"/>
          <p:nvPr/>
        </p:nvSpPr>
        <p:spPr>
          <a:xfrm>
            <a:off x="8229600" y="1508760"/>
            <a:ext cx="3474720" cy="1005840"/>
          </a:xfrm>
          <a:prstGeom prst="rect">
            <a:avLst/>
          </a:prstGeom>
          <a:noFill/>
          <a:ln/>
        </p:spPr>
        <p:txBody>
          <a:bodyPr wrap="square" lIns="0" tIns="0" rIns="0" bIns="0" rtlCol="0" anchor="t"/>
          <a:lstStyle/>
          <a:p>
            <a:pPr indent="0" marL="0">
              <a:buNone/>
            </a:pPr>
            <a:r>
              <a:rPr lang="en-US" sz="3000" b="1" dirty="0">
                <a:solidFill>
                  <a:schemeClr val="accent2"/>
                </a:solidFill>
              </a:rPr>
              <a:t>91 countries</a:t>
            </a:r>
            <a:endParaRPr lang="en-US" sz="3000" dirty="0"/>
          </a:p>
          <a:p>
            <a:pPr indent="0" marL="0">
              <a:buNone/>
            </a:pPr>
            <a:r>
              <a:rPr lang="en-US" sz="1400" dirty="0">
                <a:solidFill>
                  <a:schemeClr val="tx1"/>
                </a:solidFill>
              </a:rPr>
              <a:t>with at least 30 rated hourly jobs</a:t>
            </a:r>
            <a:endParaRPr lang="en-US" sz="3000" dirty="0"/>
          </a:p>
        </p:txBody>
      </p:sp>
      <p:sp>
        <p:nvSpPr>
          <p:cNvPr id="6" name="stat us"/>
          <p:cNvSpPr txBox="1"/>
          <p:nvPr/>
        </p:nvSpPr>
        <p:spPr>
          <a:xfrm>
            <a:off x="8229600" y="2697480"/>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$25 / hour</a:t>
            </a:r>
            <a:endParaRPr lang="en-US" sz="3000" dirty="0"/>
          </a:p>
          <a:p>
            <a:pPr indent="0" marL="0">
              <a:buNone/>
            </a:pPr>
            <a:r>
              <a:rPr lang="en-US" sz="1400" dirty="0">
                <a:solidFill>
                  <a:schemeClr val="tx1"/>
                </a:solidFill>
              </a:rPr>
              <a:t>US median, about +9% for the same kinds of jobs</a:t>
            </a:r>
            <a:endParaRPr lang="en-US" sz="3000" dirty="0"/>
          </a:p>
        </p:txBody>
      </p:sp>
      <p:sp>
        <p:nvSpPr>
          <p:cNvPr id="7" name="stat australia"/>
          <p:cNvSpPr txBox="1"/>
          <p:nvPr/>
        </p:nvSpPr>
        <p:spPr>
          <a:xfrm>
            <a:off x="8229600" y="3886200"/>
            <a:ext cx="3474720" cy="1005840"/>
          </a:xfrm>
          <a:prstGeom prst="rect">
            <a:avLst/>
          </a:prstGeom>
          <a:noFill/>
          <a:ln/>
        </p:spPr>
        <p:txBody>
          <a:bodyPr wrap="square" lIns="0" tIns="0" rIns="0" bIns="0" rtlCol="0" anchor="t"/>
          <a:lstStyle/>
          <a:p>
            <a:pPr indent="0" marL="0">
              <a:buNone/>
            </a:pPr>
            <a:r>
              <a:rPr lang="en-US" sz="3000" b="1" dirty="0">
                <a:solidFill>
                  <a:schemeClr val="accent3"/>
                </a:solidFill>
              </a:rPr>
              <a:t>−12%</a:t>
            </a:r>
            <a:endParaRPr lang="en-US" sz="3000" dirty="0"/>
          </a:p>
          <a:p>
            <a:pPr indent="0" marL="0">
              <a:buNone/>
            </a:pPr>
            <a:r>
              <a:rPr lang="en-US" sz="1400" dirty="0">
                <a:solidFill>
                  <a:schemeClr val="tx1"/>
                </a:solidFill>
              </a:rPr>
              <a:t>Australia: near-average median, but less for the same work</a:t>
            </a:r>
            <a:endParaRPr lang="en-US" sz="3000" dirty="0"/>
          </a:p>
        </p:txBody>
      </p:sp>
      <p:sp>
        <p:nvSpPr>
          <p:cNvPr id="8" name="caption"/>
          <p:cNvSpPr txBox="1"/>
          <p:nvPr/>
        </p:nvSpPr>
        <p:spPr>
          <a:xfrm>
            <a:off x="548640" y="6035040"/>
            <a:ext cx="7223760" cy="320040"/>
          </a:xfrm>
          <a:prstGeom prst="rect">
            <a:avLst/>
          </a:prstGeom>
          <a:noFill/>
          <a:ln/>
        </p:spPr>
        <p:txBody>
          <a:bodyPr wrap="square" lIns="0" tIns="0" rIns="0" bIns="0" rtlCol="0" anchor="ctr"/>
          <a:lstStyle/>
          <a:p>
            <a:pPr indent="0" marL="0">
              <a:buNone/>
            </a:pPr>
            <a:r>
              <a:rPr lang="en-US" sz="1100" i="1" dirty="0">
                <a:solidFill>
                  <a:schemeClr val="accent5"/>
                </a:solidFill>
              </a:rPr>
              <a:t>Left: median hourly offer. Right: index adjusted for job categories. Interactive map in Notebook 04 and the dashboard.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The next two weeks: who leads, and how sure I am</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TASKS 3 &amp; 8</a:t>
            </a:r>
            <a:endParaRPr lang="en-US" sz="1200" dirty="0"/>
          </a:p>
        </p:txBody>
      </p:sp>
      <p:pic>
        <p:nvPicPr>
          <p:cNvPr id="4" name="figure 4 category outlook" descr="/home/claude/deck/assets/f4_category_outlook.png">    </p:cNvPr>
          <p:cNvPicPr>
            <a:picLocks noChangeAspect="1"/>
          </p:cNvPicPr>
          <p:nvPr/>
        </p:nvPicPr>
        <p:blipFill>
          <a:blip r:embed="rId1"/>
          <a:stretch>
            <a:fillRect/>
          </a:stretch>
        </p:blipFill>
        <p:spPr>
          <a:xfrm>
            <a:off x="548640" y="1417320"/>
            <a:ext cx="6583680" cy="3876045"/>
          </a:xfrm>
          <a:prstGeom prst="rect">
            <a:avLst/>
          </a:prstGeom>
        </p:spPr>
      </p:pic>
      <p:sp>
        <p:nvSpPr>
          <p:cNvPr id="5" name="top three"/>
          <p:cNvSpPr txBox="1"/>
          <p:nvPr/>
        </p:nvSpPr>
        <p:spPr>
          <a:xfrm>
            <a:off x="7498080" y="1463040"/>
            <a:ext cx="4206240" cy="914400"/>
          </a:xfrm>
          <a:prstGeom prst="rect">
            <a:avLst/>
          </a:prstGeom>
          <a:noFill/>
          <a:ln/>
        </p:spPr>
        <p:txBody>
          <a:bodyPr wrap="square" lIns="0" tIns="0" rIns="0" bIns="0" rtlCol="0" anchor="t"/>
          <a:lstStyle/>
          <a:p>
            <a:pPr indent="0" marL="0">
              <a:buNone/>
            </a:pPr>
            <a:r>
              <a:rPr lang="en-US" sz="2600" b="1" dirty="0">
                <a:solidFill>
                  <a:schemeClr val="accent1"/>
                </a:solidFill>
              </a:rPr>
              <a:t>about 900 · 715 · 665</a:t>
            </a:r>
            <a:endParaRPr lang="en-US" sz="2600" dirty="0"/>
          </a:p>
          <a:p>
            <a:pPr indent="0" marL="0">
              <a:buNone/>
            </a:pPr>
            <a:r>
              <a:rPr lang="en-US" sz="1400" dirty="0">
                <a:solidFill>
                  <a:schemeClr val="tx1"/>
                </a:solidFill>
              </a:rPr>
              <a:t>jobs a day: Web Development, Design, Marketing</a:t>
            </a:r>
            <a:endParaRPr lang="en-US" sz="2600" dirty="0"/>
          </a:p>
        </p:txBody>
      </p:sp>
      <p:sp>
        <p:nvSpPr>
          <p:cNvPr id="6" name="scenario 0"/>
          <p:cNvSpPr/>
          <p:nvPr/>
        </p:nvSpPr>
        <p:spPr>
          <a:xfrm>
            <a:off x="7498080" y="2560320"/>
            <a:ext cx="4206240" cy="731520"/>
          </a:xfrm>
          <a:prstGeom prst="roundRect">
            <a:avLst>
              <a:gd name="adj" fmla="val 12500"/>
            </a:avLst>
          </a:prstGeom>
          <a:solidFill>
            <a:schemeClr val="bg2"/>
          </a:solidFill>
          <a:ln w="12700">
            <a:solidFill>
              <a:schemeClr val="bg2"/>
            </a:solidFill>
            <a:prstDash val="solid"/>
          </a:ln>
        </p:spPr>
      </p:sp>
      <p:sp>
        <p:nvSpPr>
          <p:cNvPr id="7" name="Text 4"/>
          <p:cNvSpPr txBox="1"/>
          <p:nvPr/>
        </p:nvSpPr>
        <p:spPr>
          <a:xfrm>
            <a:off x="7680960" y="256032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Central outlook</a:t>
            </a:r>
            <a:endParaRPr lang="en-US" sz="1400" dirty="0"/>
          </a:p>
          <a:p>
            <a:pPr indent="0" marL="0">
              <a:buNone/>
            </a:pPr>
            <a:r>
              <a:rPr lang="en-US" sz="1400" dirty="0">
                <a:solidFill>
                  <a:schemeClr val="tx1"/>
                </a:solidFill>
              </a:rPr>
              <a:t>about 6,100 jobs a day in total</a:t>
            </a:r>
            <a:endParaRPr lang="en-US" sz="1400" dirty="0"/>
          </a:p>
        </p:txBody>
      </p:sp>
      <p:sp>
        <p:nvSpPr>
          <p:cNvPr id="8" name="scenario 1"/>
          <p:cNvSpPr/>
          <p:nvPr/>
        </p:nvSpPr>
        <p:spPr>
          <a:xfrm>
            <a:off x="7498080" y="3429000"/>
            <a:ext cx="4206240" cy="731520"/>
          </a:xfrm>
          <a:prstGeom prst="roundRect">
            <a:avLst>
              <a:gd name="adj" fmla="val 12500"/>
            </a:avLst>
          </a:prstGeom>
          <a:solidFill>
            <a:schemeClr val="bg2"/>
          </a:solidFill>
          <a:ln w="12700">
            <a:solidFill>
              <a:schemeClr val="bg2"/>
            </a:solidFill>
            <a:prstDash val="solid"/>
          </a:ln>
        </p:spPr>
      </p:sp>
      <p:sp>
        <p:nvSpPr>
          <p:cNvPr id="9" name="Text 6"/>
          <p:cNvSpPr txBox="1"/>
          <p:nvPr/>
        </p:nvSpPr>
        <p:spPr>
          <a:xfrm>
            <a:off x="7680960" y="342900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80% empirical range</a:t>
            </a:r>
            <a:endParaRPr lang="en-US" sz="1400" dirty="0"/>
          </a:p>
          <a:p>
            <a:pPr indent="0" marL="0">
              <a:buNone/>
            </a:pPr>
            <a:r>
              <a:rPr lang="en-US" sz="1400" dirty="0">
                <a:solidFill>
                  <a:schemeClr val="tx1"/>
                </a:solidFill>
              </a:rPr>
              <a:t>5,930 - 6,310 a day (days 1-7)</a:t>
            </a:r>
            <a:endParaRPr lang="en-US" sz="1400" dirty="0"/>
          </a:p>
        </p:txBody>
      </p:sp>
      <p:sp>
        <p:nvSpPr>
          <p:cNvPr id="10" name="scenario 2"/>
          <p:cNvSpPr/>
          <p:nvPr/>
        </p:nvSpPr>
        <p:spPr>
          <a:xfrm>
            <a:off x="7498080" y="4297680"/>
            <a:ext cx="4206240" cy="731520"/>
          </a:xfrm>
          <a:prstGeom prst="roundRect">
            <a:avLst>
              <a:gd name="adj" fmla="val 12500"/>
            </a:avLst>
          </a:prstGeom>
          <a:solidFill>
            <a:schemeClr val="bg2"/>
          </a:solidFill>
          <a:ln w="12700">
            <a:solidFill>
              <a:schemeClr val="bg2"/>
            </a:solidFill>
            <a:prstDash val="solid"/>
          </a:ln>
        </p:spPr>
      </p:sp>
      <p:sp>
        <p:nvSpPr>
          <p:cNvPr id="11" name="Text 8"/>
          <p:cNvSpPr txBox="1"/>
          <p:nvPr/>
        </p:nvSpPr>
        <p:spPr>
          <a:xfrm>
            <a:off x="7680960" y="429768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Trend continuation</a:t>
            </a:r>
            <a:endParaRPr lang="en-US" sz="1400" dirty="0"/>
          </a:p>
          <a:p>
            <a:pPr indent="0" marL="0">
              <a:buNone/>
            </a:pPr>
            <a:r>
              <a:rPr lang="en-US" sz="1400" dirty="0">
                <a:solidFill>
                  <a:schemeClr val="tx1"/>
                </a:solidFill>
              </a:rPr>
              <a:t>rising only for Marketing, Video, Design</a:t>
            </a:r>
            <a:endParaRPr lang="en-US" sz="1400" dirty="0"/>
          </a:p>
        </p:txBody>
      </p:sp>
      <p:sp>
        <p:nvSpPr>
          <p:cNvPr id="12" name="Text 9"/>
          <p:cNvSpPr txBox="1"/>
          <p:nvPr/>
        </p:nvSpPr>
        <p:spPr>
          <a:xfrm>
            <a:off x="7498080" y="5257800"/>
            <a:ext cx="4206240" cy="685800"/>
          </a:xfrm>
          <a:prstGeom prst="rect">
            <a:avLst/>
          </a:prstGeom>
          <a:noFill/>
          <a:ln/>
        </p:spPr>
        <p:txBody>
          <a:bodyPr wrap="square" lIns="0" tIns="0" rIns="0" bIns="0" rtlCol="0" anchor="t"/>
          <a:lstStyle/>
          <a:p>
            <a:pPr indent="0" marL="0">
              <a:buNone/>
            </a:pPr>
            <a:r>
              <a:rPr lang="en-US" sz="1400" i="1" dirty="0">
                <a:solidFill>
                  <a:schemeClr val="accent5"/>
                </a:solidFill>
              </a:rPr>
              <a:t>Final-week test: the model beats the simple baseline for 20 of 23 categories, but not for total volume.</a:t>
            </a:r>
            <a:endParaRPr lang="en-US" sz="1400" dirty="0"/>
          </a:p>
        </p:txBody>
      </p:sp>
      <p:sp>
        <p:nvSpPr>
          <p:cNvPr id="13" name="caption"/>
          <p:cNvSpPr txBox="1"/>
          <p:nvPr/>
        </p:nvSpPr>
        <p:spPr>
          <a:xfrm>
            <a:off x="548640" y="6035040"/>
            <a:ext cx="6583680" cy="320040"/>
          </a:xfrm>
          <a:prstGeom prst="rect">
            <a:avLst/>
          </a:prstGeom>
          <a:noFill/>
          <a:ln/>
        </p:spPr>
        <p:txBody>
          <a:bodyPr wrap="square" lIns="0" tIns="0" rIns="0" bIns="0" rtlCol="0" anchor="ctr"/>
          <a:lstStyle/>
          <a:p>
            <a:pPr indent="0" marL="0">
              <a:buNone/>
            </a:pPr>
            <a:r>
              <a:rPr lang="en-US" sz="1100" i="1" dirty="0">
                <a:solidFill>
                  <a:schemeClr val="accent5"/>
                </a:solidFill>
              </a:rPr>
              <a:t>Forecast jobs per day, 24-30 March 2024, with 80% empirical ranges; overlapping ranges mean similar demand.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data can measure about remote work</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7</a:t>
            </a:r>
            <a:endParaRPr lang="en-US" sz="1200" dirty="0"/>
          </a:p>
        </p:txBody>
      </p:sp>
      <p:sp>
        <p:nvSpPr>
          <p:cNvPr id="4" name="message"/>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800" b="1" dirty="0">
                <a:solidFill>
                  <a:schemeClr val="accent1"/>
                </a:solidFill>
              </a:rPr>
              <a:t>The data has no remote / on-site field, so I do not invent a remote-work percentage.</a:t>
            </a:r>
            <a:endParaRPr lang="en-US" sz="1800" dirty="0"/>
          </a:p>
        </p:txBody>
      </p:sp>
      <p:sp>
        <p:nvSpPr>
          <p:cNvPr id="5" name="remote card 0"/>
          <p:cNvSpPr/>
          <p:nvPr/>
        </p:nvSpPr>
        <p:spPr>
          <a:xfrm>
            <a:off x="548640" y="2057400"/>
            <a:ext cx="4572000" cy="1143000"/>
          </a:xfrm>
          <a:prstGeom prst="roundRect">
            <a:avLst>
              <a:gd name="adj" fmla="val 8000"/>
            </a:avLst>
          </a:prstGeom>
          <a:solidFill>
            <a:schemeClr val="bg2"/>
          </a:solidFill>
          <a:ln w="12700">
            <a:solidFill>
              <a:schemeClr val="bg2"/>
            </a:solidFill>
            <a:prstDash val="solid"/>
          </a:ln>
        </p:spPr>
      </p:sp>
      <p:sp>
        <p:nvSpPr>
          <p:cNvPr id="6" name="Text 4"/>
          <p:cNvSpPr txBox="1"/>
          <p:nvPr/>
        </p:nvSpPr>
        <p:spPr>
          <a:xfrm>
            <a:off x="777240" y="210312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about 46%</a:t>
            </a:r>
            <a:endParaRPr lang="en-US" sz="2400" dirty="0"/>
          </a:p>
          <a:p>
            <a:pPr indent="0" marL="0">
              <a:buNone/>
            </a:pPr>
            <a:r>
              <a:rPr lang="en-US" sz="1400" dirty="0">
                <a:solidFill>
                  <a:schemeClr val="tx1"/>
                </a:solidFill>
              </a:rPr>
              <a:t>of clients are in North America; stable over the window</a:t>
            </a:r>
            <a:endParaRPr lang="en-US" sz="2400" dirty="0"/>
          </a:p>
        </p:txBody>
      </p:sp>
      <p:sp>
        <p:nvSpPr>
          <p:cNvPr id="7" name="remote card 1"/>
          <p:cNvSpPr/>
          <p:nvPr/>
        </p:nvSpPr>
        <p:spPr>
          <a:xfrm>
            <a:off x="548640" y="3383280"/>
            <a:ext cx="457200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42900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58.3% → 56.1%</a:t>
            </a:r>
            <a:endParaRPr lang="en-US" sz="2400" dirty="0"/>
          </a:p>
          <a:p>
            <a:pPr indent="0" marL="0">
              <a:buNone/>
            </a:pPr>
            <a:r>
              <a:rPr lang="en-US" sz="1400" dirty="0">
                <a:solidFill>
                  <a:schemeClr val="tx1"/>
                </a:solidFill>
              </a:rPr>
              <a:t>hourly share: fixed-price work gains slightly</a:t>
            </a:r>
            <a:endParaRPr lang="en-US" sz="2400" dirty="0"/>
          </a:p>
        </p:txBody>
      </p:sp>
      <p:sp>
        <p:nvSpPr>
          <p:cNvPr id="9" name="remote card 2"/>
          <p:cNvSpPr/>
          <p:nvPr/>
        </p:nvSpPr>
        <p:spPr>
          <a:xfrm>
            <a:off x="548640" y="4709160"/>
            <a:ext cx="4572000" cy="11430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777240" y="475488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about 0.5%</a:t>
            </a:r>
            <a:endParaRPr lang="en-US" sz="2400" dirty="0"/>
          </a:p>
          <a:p>
            <a:pPr indent="0" marL="0">
              <a:buNone/>
            </a:pPr>
            <a:r>
              <a:rPr lang="en-US" sz="1400" dirty="0">
                <a:solidFill>
                  <a:schemeClr val="tx1"/>
                </a:solidFill>
              </a:rPr>
              <a:t>of titles say “remote”; on-site under 0.1%</a:t>
            </a:r>
            <a:endParaRPr lang="en-US" sz="2400" dirty="0"/>
          </a:p>
        </p:txBody>
      </p:sp>
      <p:pic>
        <p:nvPicPr>
          <p:cNvPr id="11" name="figure 7 online signals" descr="/home/claude/deck/assets/f7_online_signals.png">    </p:cNvPr>
          <p:cNvPicPr>
            <a:picLocks noChangeAspect="1"/>
          </p:cNvPicPr>
          <p:nvPr/>
        </p:nvPicPr>
        <p:blipFill>
          <a:blip r:embed="rId1"/>
          <a:stretch>
            <a:fillRect/>
          </a:stretch>
        </p:blipFill>
        <p:spPr>
          <a:xfrm>
            <a:off x="5577840" y="2011680"/>
            <a:ext cx="5486400" cy="3832268"/>
          </a:xfrm>
          <a:prstGeom prst="rect">
            <a:avLst/>
          </a:prstGeom>
        </p:spPr>
      </p:pic>
      <p:sp>
        <p:nvSpPr>
          <p:cNvPr id="12" name="caption"/>
          <p:cNvSpPr txBox="1"/>
          <p:nvPr/>
        </p:nvSpPr>
        <p:spPr>
          <a:xfrm>
            <a:off x="5577840" y="5989320"/>
            <a:ext cx="6035040" cy="320040"/>
          </a:xfrm>
          <a:prstGeom prst="rect">
            <a:avLst/>
          </a:prstGeom>
          <a:noFill/>
          <a:ln/>
        </p:spPr>
        <p:txBody>
          <a:bodyPr wrap="square" lIns="0" tIns="0" rIns="0" bIns="0" rtlCol="0" anchor="ctr"/>
          <a:lstStyle/>
          <a:p>
            <a:pPr indent="0" marL="0">
              <a:buNone/>
            </a:pPr>
            <a:r>
              <a:rPr lang="en-US" sz="1100" i="1" dirty="0">
                <a:solidFill>
                  <a:schemeClr val="accent5"/>
                </a:solidFill>
              </a:rPr>
              <a:t>Daily hourly share and North American client share, then the 14-day forecast with its range.</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job recommender that matches skills to jobs</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5</a:t>
            </a:r>
            <a:endParaRPr lang="en-US" sz="1200" dirty="0"/>
          </a:p>
        </p:txBody>
      </p:sp>
      <p:pic>
        <p:nvPicPr>
          <p:cNvPr id="4" name="recommender screenshot" descr="/home/claude/deck/assets/recommender.png">    </p:cNvPr>
          <p:cNvPicPr>
            <a:picLocks noChangeAspect="1"/>
          </p:cNvPicPr>
          <p:nvPr/>
        </p:nvPicPr>
        <p:blipFill>
          <a:blip r:embed="rId1"/>
          <a:stretch>
            <a:fillRect/>
          </a:stretch>
        </p:blipFill>
        <p:spPr>
          <a:xfrm>
            <a:off x="548640" y="1371600"/>
            <a:ext cx="5257800" cy="4686014"/>
          </a:xfrm>
          <a:prstGeom prst="rect">
            <a:avLst/>
          </a:prstGeom>
        </p:spPr>
      </p:pic>
      <p:sp>
        <p:nvSpPr>
          <p:cNvPr id="5" name="step circle 1"/>
          <p:cNvSpPr/>
          <p:nvPr/>
        </p:nvSpPr>
        <p:spPr>
          <a:xfrm>
            <a:off x="6309360" y="1463040"/>
            <a:ext cx="548640" cy="548640"/>
          </a:xfrm>
          <a:prstGeom prst="ellipse">
            <a:avLst/>
          </a:prstGeom>
          <a:solidFill>
            <a:schemeClr val="accent1"/>
          </a:solidFill>
          <a:ln w="12700">
            <a:solidFill>
              <a:srgbClr val="C4501D"/>
            </a:solidFill>
            <a:prstDash val="solid"/>
          </a:ln>
        </p:spPr>
      </p:sp>
      <p:sp>
        <p:nvSpPr>
          <p:cNvPr id="6" name="Text 3"/>
          <p:cNvSpPr txBox="1"/>
          <p:nvPr/>
        </p:nvSpPr>
        <p:spPr>
          <a:xfrm>
            <a:off x="630936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7040880" y="1417320"/>
            <a:ext cx="4572000" cy="685800"/>
          </a:xfrm>
          <a:prstGeom prst="rect">
            <a:avLst/>
          </a:prstGeom>
          <a:noFill/>
          <a:ln/>
        </p:spPr>
        <p:txBody>
          <a:bodyPr wrap="square" lIns="0" tIns="0" rIns="0" bIns="0" rtlCol="0" anchor="t"/>
          <a:lstStyle/>
          <a:p>
            <a:pPr indent="0" marL="0">
              <a:buNone/>
            </a:pPr>
            <a:r>
              <a:rPr lang="en-US" sz="1600" b="1" dirty="0">
                <a:solidFill>
                  <a:schemeClr val="tx1"/>
                </a:solidFill>
              </a:rPr>
              <a:t>Type skills</a:t>
            </a:r>
            <a:endParaRPr lang="en-US" sz="1600" dirty="0"/>
          </a:p>
          <a:p>
            <a:pPr indent="0" marL="0">
              <a:buNone/>
            </a:pPr>
            <a:r>
              <a:rPr lang="en-US" sz="1400" dirty="0">
                <a:solidFill>
                  <a:schemeClr val="accent5"/>
                </a:solidFill>
              </a:rPr>
              <a:t>for example python, sql, power bi</a:t>
            </a:r>
            <a:endParaRPr lang="en-US" sz="1600" dirty="0"/>
          </a:p>
        </p:txBody>
      </p:sp>
      <p:sp>
        <p:nvSpPr>
          <p:cNvPr id="8" name="step circle 2"/>
          <p:cNvSpPr/>
          <p:nvPr/>
        </p:nvSpPr>
        <p:spPr>
          <a:xfrm>
            <a:off x="6309360" y="2331720"/>
            <a:ext cx="548640" cy="548640"/>
          </a:xfrm>
          <a:prstGeom prst="ellipse">
            <a:avLst/>
          </a:prstGeom>
          <a:solidFill>
            <a:schemeClr val="accent1"/>
          </a:solidFill>
          <a:ln w="12700">
            <a:solidFill>
              <a:srgbClr val="C4501D"/>
            </a:solidFill>
            <a:prstDash val="solid"/>
          </a:ln>
        </p:spPr>
      </p:sp>
      <p:sp>
        <p:nvSpPr>
          <p:cNvPr id="9" name="Text 6"/>
          <p:cNvSpPr txBox="1"/>
          <p:nvPr/>
        </p:nvSpPr>
        <p:spPr>
          <a:xfrm>
            <a:off x="630936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7"/>
          <p:cNvSpPr txBox="1"/>
          <p:nvPr/>
        </p:nvSpPr>
        <p:spPr>
          <a:xfrm>
            <a:off x="7040880" y="2286000"/>
            <a:ext cx="4572000" cy="685800"/>
          </a:xfrm>
          <a:prstGeom prst="rect">
            <a:avLst/>
          </a:prstGeom>
          <a:noFill/>
          <a:ln/>
        </p:spPr>
        <p:txBody>
          <a:bodyPr wrap="square" lIns="0" tIns="0" rIns="0" bIns="0" rtlCol="0" anchor="t"/>
          <a:lstStyle/>
          <a:p>
            <a:pPr indent="0" marL="0">
              <a:buNone/>
            </a:pPr>
            <a:r>
              <a:rPr lang="en-US" sz="1600" b="1" dirty="0">
                <a:solidFill>
                  <a:schemeClr val="tx1"/>
                </a:solidFill>
              </a:rPr>
              <a:t>Match job titles</a:t>
            </a:r>
            <a:endParaRPr lang="en-US" sz="1600" dirty="0"/>
          </a:p>
          <a:p>
            <a:pPr indent="0" marL="0">
              <a:buNone/>
            </a:pPr>
            <a:r>
              <a:rPr lang="en-US" sz="1400" dirty="0">
                <a:solidFill>
                  <a:schemeClr val="accent5"/>
                </a:solidFill>
              </a:rPr>
              <a:t>hybrid word + character TF-IDF</a:t>
            </a:r>
            <a:endParaRPr lang="en-US" sz="1600" dirty="0"/>
          </a:p>
        </p:txBody>
      </p:sp>
      <p:sp>
        <p:nvSpPr>
          <p:cNvPr id="11" name="step circle 3"/>
          <p:cNvSpPr/>
          <p:nvPr/>
        </p:nvSpPr>
        <p:spPr>
          <a:xfrm>
            <a:off x="6309360" y="3200400"/>
            <a:ext cx="548640" cy="548640"/>
          </a:xfrm>
          <a:prstGeom prst="ellipse">
            <a:avLst/>
          </a:prstGeom>
          <a:solidFill>
            <a:schemeClr val="accent1"/>
          </a:solidFill>
          <a:ln w="12700">
            <a:solidFill>
              <a:srgbClr val="C4501D"/>
            </a:solidFill>
            <a:prstDash val="solid"/>
          </a:ln>
        </p:spPr>
      </p:sp>
      <p:sp>
        <p:nvSpPr>
          <p:cNvPr id="12" name="Text 9"/>
          <p:cNvSpPr txBox="1"/>
          <p:nvPr/>
        </p:nvSpPr>
        <p:spPr>
          <a:xfrm>
            <a:off x="6309360" y="3200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0"/>
          <p:cNvSpPr txBox="1"/>
          <p:nvPr/>
        </p:nvSpPr>
        <p:spPr>
          <a:xfrm>
            <a:off x="7040880" y="3154680"/>
            <a:ext cx="4572000" cy="685800"/>
          </a:xfrm>
          <a:prstGeom prst="rect">
            <a:avLst/>
          </a:prstGeom>
          <a:noFill/>
          <a:ln/>
        </p:spPr>
        <p:txBody>
          <a:bodyPr wrap="square" lIns="0" tIns="0" rIns="0" bIns="0" rtlCol="0" anchor="t"/>
          <a:lstStyle/>
          <a:p>
            <a:pPr indent="0" marL="0">
              <a:buNone/>
            </a:pPr>
            <a:r>
              <a:rPr lang="en-US" sz="1600" b="1" dirty="0">
                <a:solidFill>
                  <a:schemeClr val="tx1"/>
                </a:solidFill>
              </a:rPr>
              <a:t>Strict filters</a:t>
            </a:r>
            <a:endParaRPr lang="en-US" sz="1600" dirty="0"/>
          </a:p>
          <a:p>
            <a:pPr indent="0" marL="0">
              <a:buNone/>
            </a:pPr>
            <a:r>
              <a:rPr lang="en-US" sz="1400" dirty="0">
                <a:solidFill>
                  <a:schemeClr val="accent5"/>
                </a:solidFill>
              </a:rPr>
              <a:t>pay, contract type, recency</a:t>
            </a:r>
            <a:endParaRPr lang="en-US" sz="1600" dirty="0"/>
          </a:p>
        </p:txBody>
      </p:sp>
      <p:sp>
        <p:nvSpPr>
          <p:cNvPr id="14" name="eval headline"/>
          <p:cNvSpPr txBox="1"/>
          <p:nvPr/>
        </p:nvSpPr>
        <p:spPr>
          <a:xfrm>
            <a:off x="6309360" y="4114800"/>
            <a:ext cx="5394960" cy="365760"/>
          </a:xfrm>
          <a:prstGeom prst="rect">
            <a:avLst/>
          </a:prstGeom>
          <a:noFill/>
          <a:ln/>
        </p:spPr>
        <p:txBody>
          <a:bodyPr wrap="square" lIns="0" tIns="0" rIns="0" bIns="0" rtlCol="0" anchor="ctr"/>
          <a:lstStyle/>
          <a:p>
            <a:pPr indent="0" marL="0">
              <a:buNone/>
            </a:pPr>
            <a:r>
              <a:rPr lang="en-US" sz="1400" dirty="0">
                <a:solidFill>
                  <a:schemeClr val="tx1"/>
                </a:solidFill>
              </a:rPr>
              <a:t>Blind test, 12 profiles:  </a:t>
            </a:r>
            <a:pPr indent="0" marL="0">
              <a:buNone/>
            </a:pPr>
            <a:r>
              <a:rPr lang="en-US" sz="1400" b="1" dirty="0">
                <a:solidFill>
                  <a:schemeClr val="accent1"/>
                </a:solidFill>
              </a:rPr>
              <a:t>nDCG@5 0.985  ·  Precision@5 0.967</a:t>
            </a:r>
            <a:endParaRPr lang="en-US" sz="1400" dirty="0"/>
          </a:p>
        </p:txBody>
      </p:sp>
      <p:pic>
        <p:nvPicPr>
          <p:cNvPr id="15" name="figure 6 recommender eval" descr="/home/claude/deck/assets/f6_recommender_eval.png">    </p:cNvPr>
          <p:cNvPicPr>
            <a:picLocks noChangeAspect="1"/>
          </p:cNvPicPr>
          <p:nvPr/>
        </p:nvPicPr>
        <p:blipFill>
          <a:blip r:embed="rId2"/>
          <a:stretch>
            <a:fillRect/>
          </a:stretch>
        </p:blipFill>
        <p:spPr>
          <a:xfrm>
            <a:off x="6309360" y="4526280"/>
            <a:ext cx="5303520" cy="1788859"/>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dashboard that updates with every new month</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6</a:t>
            </a:r>
            <a:endParaRPr lang="en-US" sz="1200" dirty="0"/>
          </a:p>
        </p:txBody>
      </p:sp>
      <p:pic>
        <p:nvPicPr>
          <p:cNvPr id="4" name="dashboard screenshot" descr="/home/claude/deck/assets/dashboard.png">    </p:cNvPr>
          <p:cNvPicPr>
            <a:picLocks noChangeAspect="1"/>
          </p:cNvPicPr>
          <p:nvPr/>
        </p:nvPicPr>
        <p:blipFill>
          <a:blip r:embed="rId1"/>
          <a:stretch>
            <a:fillRect/>
          </a:stretch>
        </p:blipFill>
        <p:spPr>
          <a:xfrm>
            <a:off x="548640" y="1371600"/>
            <a:ext cx="6035040" cy="4488561"/>
          </a:xfrm>
          <a:prstGeom prst="rect">
            <a:avLst/>
          </a:prstGeom>
        </p:spPr>
      </p:pic>
      <p:sp>
        <p:nvSpPr>
          <p:cNvPr id="5" name="chain 0"/>
          <p:cNvSpPr/>
          <p:nvPr/>
        </p:nvSpPr>
        <p:spPr>
          <a:xfrm>
            <a:off x="7132320" y="1463040"/>
            <a:ext cx="4480560" cy="685800"/>
          </a:xfrm>
          <a:prstGeom prst="roundRect">
            <a:avLst>
              <a:gd name="adj" fmla="val 13333"/>
            </a:avLst>
          </a:prstGeom>
          <a:solidFill>
            <a:schemeClr val="bg2"/>
          </a:solidFill>
          <a:ln w="12700">
            <a:solidFill>
              <a:srgbClr val="F2F3F5"/>
            </a:solidFill>
            <a:prstDash val="solid"/>
          </a:ln>
        </p:spPr>
      </p:sp>
      <p:sp>
        <p:nvSpPr>
          <p:cNvPr id="6" name="Text 3"/>
          <p:cNvSpPr txBox="1"/>
          <p:nvPr/>
        </p:nvSpPr>
        <p:spPr>
          <a:xfrm>
            <a:off x="7132320" y="1463040"/>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New monthly extract</a:t>
            </a:r>
            <a:endParaRPr lang="en-US" sz="1600" dirty="0"/>
          </a:p>
        </p:txBody>
      </p:sp>
      <p:sp>
        <p:nvSpPr>
          <p:cNvPr id="7" name="chain arrow"/>
          <p:cNvSpPr/>
          <p:nvPr/>
        </p:nvSpPr>
        <p:spPr>
          <a:xfrm>
            <a:off x="9235440" y="2176272"/>
            <a:ext cx="274320" cy="274320"/>
          </a:xfrm>
          <a:prstGeom prst="downArrow">
            <a:avLst/>
          </a:prstGeom>
          <a:solidFill>
            <a:schemeClr val="accent5"/>
          </a:solidFill>
          <a:ln w="12700">
            <a:solidFill>
              <a:srgbClr val="5D6066"/>
            </a:solidFill>
            <a:prstDash val="solid"/>
          </a:ln>
        </p:spPr>
      </p:sp>
      <p:sp>
        <p:nvSpPr>
          <p:cNvPr id="8" name="chain 1"/>
          <p:cNvSpPr/>
          <p:nvPr/>
        </p:nvSpPr>
        <p:spPr>
          <a:xfrm>
            <a:off x="7132320" y="2487168"/>
            <a:ext cx="4480560" cy="685800"/>
          </a:xfrm>
          <a:prstGeom prst="roundRect">
            <a:avLst>
              <a:gd name="adj" fmla="val 13333"/>
            </a:avLst>
          </a:prstGeom>
          <a:solidFill>
            <a:schemeClr val="bg2"/>
          </a:solidFill>
          <a:ln w="12700">
            <a:solidFill>
              <a:srgbClr val="F2F3F5"/>
            </a:solidFill>
            <a:prstDash val="solid"/>
          </a:ln>
        </p:spPr>
      </p:sp>
      <p:sp>
        <p:nvSpPr>
          <p:cNvPr id="9" name="Text 6"/>
          <p:cNvSpPr txBox="1"/>
          <p:nvPr/>
        </p:nvSpPr>
        <p:spPr>
          <a:xfrm>
            <a:off x="7132320" y="2487168"/>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Pipeline rebuild</a:t>
            </a:r>
            <a:endParaRPr lang="en-US" sz="1600" dirty="0"/>
          </a:p>
        </p:txBody>
      </p:sp>
      <p:sp>
        <p:nvSpPr>
          <p:cNvPr id="10" name="chain arrow"/>
          <p:cNvSpPr/>
          <p:nvPr/>
        </p:nvSpPr>
        <p:spPr>
          <a:xfrm>
            <a:off x="9235440" y="3200400"/>
            <a:ext cx="274320" cy="274320"/>
          </a:xfrm>
          <a:prstGeom prst="downArrow">
            <a:avLst/>
          </a:prstGeom>
          <a:solidFill>
            <a:schemeClr val="accent5"/>
          </a:solidFill>
          <a:ln w="12700">
            <a:solidFill>
              <a:srgbClr val="5D6066"/>
            </a:solidFill>
            <a:prstDash val="solid"/>
          </a:ln>
        </p:spPr>
      </p:sp>
      <p:sp>
        <p:nvSpPr>
          <p:cNvPr id="11" name="chain 2"/>
          <p:cNvSpPr/>
          <p:nvPr/>
        </p:nvSpPr>
        <p:spPr>
          <a:xfrm>
            <a:off x="7132320" y="3511296"/>
            <a:ext cx="4480560" cy="685800"/>
          </a:xfrm>
          <a:prstGeom prst="roundRect">
            <a:avLst>
              <a:gd name="adj" fmla="val 13333"/>
            </a:avLst>
          </a:prstGeom>
          <a:solidFill>
            <a:schemeClr val="bg2"/>
          </a:solidFill>
          <a:ln w="12700">
            <a:solidFill>
              <a:srgbClr val="F2F3F5"/>
            </a:solidFill>
            <a:prstDash val="solid"/>
          </a:ln>
        </p:spPr>
      </p:sp>
      <p:sp>
        <p:nvSpPr>
          <p:cNvPr id="12" name="Text 9"/>
          <p:cNvSpPr txBox="1"/>
          <p:nvPr/>
        </p:nvSpPr>
        <p:spPr>
          <a:xfrm>
            <a:off x="7132320" y="3511296"/>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Updated monthly tables</a:t>
            </a:r>
            <a:endParaRPr lang="en-US" sz="1600" dirty="0"/>
          </a:p>
        </p:txBody>
      </p:sp>
      <p:sp>
        <p:nvSpPr>
          <p:cNvPr id="13" name="chain arrow"/>
          <p:cNvSpPr/>
          <p:nvPr/>
        </p:nvSpPr>
        <p:spPr>
          <a:xfrm>
            <a:off x="9235440" y="4224528"/>
            <a:ext cx="274320" cy="274320"/>
          </a:xfrm>
          <a:prstGeom prst="downArrow">
            <a:avLst/>
          </a:prstGeom>
          <a:solidFill>
            <a:schemeClr val="accent5"/>
          </a:solidFill>
          <a:ln w="12700">
            <a:solidFill>
              <a:srgbClr val="5D6066"/>
            </a:solidFill>
            <a:prstDash val="solid"/>
          </a:ln>
        </p:spPr>
      </p:sp>
      <p:sp>
        <p:nvSpPr>
          <p:cNvPr id="14" name="chain 3"/>
          <p:cNvSpPr/>
          <p:nvPr/>
        </p:nvSpPr>
        <p:spPr>
          <a:xfrm>
            <a:off x="7132320" y="4535424"/>
            <a:ext cx="4480560" cy="685800"/>
          </a:xfrm>
          <a:prstGeom prst="roundRect">
            <a:avLst>
              <a:gd name="adj" fmla="val 13333"/>
            </a:avLst>
          </a:prstGeom>
          <a:solidFill>
            <a:schemeClr val="accent1"/>
          </a:solidFill>
          <a:ln w="12700">
            <a:solidFill>
              <a:srgbClr val="F2F3F5"/>
            </a:solidFill>
            <a:prstDash val="solid"/>
          </a:ln>
        </p:spPr>
      </p:sp>
      <p:sp>
        <p:nvSpPr>
          <p:cNvPr id="15" name="Text 12"/>
          <p:cNvSpPr txBox="1"/>
          <p:nvPr/>
        </p:nvSpPr>
        <p:spPr>
          <a:xfrm>
            <a:off x="7132320" y="4535424"/>
            <a:ext cx="4480560" cy="685800"/>
          </a:xfrm>
          <a:prstGeom prst="rect">
            <a:avLst/>
          </a:prstGeom>
          <a:noFill/>
          <a:ln/>
        </p:spPr>
        <p:txBody>
          <a:bodyPr wrap="square" lIns="0" tIns="0" rIns="0" bIns="0" rtlCol="0" anchor="ctr"/>
          <a:lstStyle/>
          <a:p>
            <a:pPr algn="ctr" indent="0" marL="0">
              <a:buNone/>
            </a:pPr>
            <a:r>
              <a:rPr lang="en-US" sz="1600" b="1" dirty="0">
                <a:solidFill>
                  <a:schemeClr val="bg1"/>
                </a:solidFill>
              </a:rPr>
              <a:t>Updated dashboard</a:t>
            </a:r>
            <a:endParaRPr lang="en-US" sz="1600" dirty="0"/>
          </a:p>
        </p:txBody>
      </p:sp>
      <p:sp>
        <p:nvSpPr>
          <p:cNvPr id="16" name="Text 13"/>
          <p:cNvSpPr txBox="1"/>
          <p:nvPr/>
        </p:nvSpPr>
        <p:spPr>
          <a:xfrm>
            <a:off x="7132320" y="5577840"/>
            <a:ext cx="4480560" cy="548640"/>
          </a:xfrm>
          <a:prstGeom prst="rect">
            <a:avLst/>
          </a:prstGeom>
          <a:noFill/>
          <a:ln/>
        </p:spPr>
        <p:txBody>
          <a:bodyPr wrap="square" lIns="0" tIns="0" rIns="0" bIns="0" rtlCol="0" anchor="t"/>
          <a:lstStyle/>
          <a:p>
            <a:pPr indent="0" marL="0">
              <a:buNone/>
            </a:pPr>
            <a:r>
              <a:rPr lang="en-US" sz="1400" i="1" dirty="0">
                <a:solidFill>
                  <a:schemeClr val="accent5"/>
                </a:solidFill>
              </a:rPr>
              <a:t>An automated test adds a synthetic April and checks that the new month appears.</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Why the results can be trusted</a:t>
            </a:r>
            <a:endParaRPr lang="en-US" sz="3000" dirty="0"/>
          </a:p>
        </p:txBody>
      </p:sp>
      <p:pic>
        <p:nvPicPr>
          <p:cNvPr id="3" name="ci screenshot run 25" descr="/home/claude/deck/assets/ci_run25.png">    </p:cNvPr>
          <p:cNvPicPr>
            <a:picLocks noChangeAspect="1"/>
          </p:cNvPicPr>
          <p:nvPr/>
        </p:nvPicPr>
        <p:blipFill>
          <a:blip r:embed="rId1"/>
          <a:stretch>
            <a:fillRect/>
          </a:stretch>
        </p:blipFill>
        <p:spPr>
          <a:xfrm>
            <a:off x="548640" y="1463040"/>
            <a:ext cx="6217920" cy="2232955"/>
          </a:xfrm>
          <a:prstGeom prst="rect">
            <a:avLst/>
          </a:prstGeom>
        </p:spPr>
      </p:pic>
      <p:sp>
        <p:nvSpPr>
          <p:cNvPr id="4" name="caption"/>
          <p:cNvSpPr txBox="1"/>
          <p:nvPr/>
        </p:nvSpPr>
        <p:spPr>
          <a:xfrm>
            <a:off x="548640" y="3840480"/>
            <a:ext cx="6217920" cy="320040"/>
          </a:xfrm>
          <a:prstGeom prst="rect">
            <a:avLst/>
          </a:prstGeom>
          <a:noFill/>
          <a:ln/>
        </p:spPr>
        <p:txBody>
          <a:bodyPr wrap="square" lIns="0" tIns="0" rIns="0" bIns="0" rtlCol="0" anchor="ctr"/>
          <a:lstStyle/>
          <a:p>
            <a:pPr indent="0" marL="0">
              <a:buNone/>
            </a:pPr>
            <a:r>
              <a:rPr lang="en-US" sz="1100" i="1" dirty="0">
                <a:solidFill>
                  <a:schemeClr val="accent5"/>
                </a:solidFill>
              </a:rPr>
              <a:t>GitHub Actions, run #25: the test and docker jobs both pass on every push.</a:t>
            </a:r>
            <a:endParaRPr lang="en-US" sz="1100" dirty="0"/>
          </a:p>
        </p:txBody>
      </p:sp>
      <p:sp>
        <p:nvSpPr>
          <p:cNvPr id="5" name="fact 0"/>
          <p:cNvSpPr/>
          <p:nvPr/>
        </p:nvSpPr>
        <p:spPr>
          <a:xfrm>
            <a:off x="7223760" y="1463040"/>
            <a:ext cx="4389120" cy="960120"/>
          </a:xfrm>
          <a:prstGeom prst="roundRect">
            <a:avLst>
              <a:gd name="adj" fmla="val 9524"/>
            </a:avLst>
          </a:prstGeom>
          <a:solidFill>
            <a:schemeClr val="bg2"/>
          </a:solidFill>
          <a:ln w="12700">
            <a:solidFill>
              <a:schemeClr val="bg2"/>
            </a:solidFill>
            <a:prstDash val="solid"/>
          </a:ln>
        </p:spPr>
      </p:sp>
      <p:sp>
        <p:nvSpPr>
          <p:cNvPr id="6" name="Text 3"/>
          <p:cNvSpPr txBox="1"/>
          <p:nvPr/>
        </p:nvSpPr>
        <p:spPr>
          <a:xfrm>
            <a:off x="7452360" y="1463040"/>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429</a:t>
            </a:r>
            <a:endParaRPr lang="en-US" sz="2200" dirty="0"/>
          </a:p>
          <a:p>
            <a:pPr indent="0" marL="0">
              <a:buNone/>
            </a:pPr>
            <a:r>
              <a:rPr lang="en-US" sz="1400" dirty="0">
                <a:solidFill>
                  <a:schemeClr val="tx1"/>
                </a:solidFill>
              </a:rPr>
              <a:t>automated tests</a:t>
            </a:r>
            <a:endParaRPr lang="en-US" sz="2200" dirty="0"/>
          </a:p>
        </p:txBody>
      </p:sp>
      <p:sp>
        <p:nvSpPr>
          <p:cNvPr id="7" name="fact 1"/>
          <p:cNvSpPr/>
          <p:nvPr/>
        </p:nvSpPr>
        <p:spPr>
          <a:xfrm>
            <a:off x="7223760" y="2578608"/>
            <a:ext cx="4389120" cy="960120"/>
          </a:xfrm>
          <a:prstGeom prst="roundRect">
            <a:avLst>
              <a:gd name="adj" fmla="val 9524"/>
            </a:avLst>
          </a:prstGeom>
          <a:solidFill>
            <a:schemeClr val="bg2"/>
          </a:solidFill>
          <a:ln w="12700">
            <a:solidFill>
              <a:schemeClr val="bg2"/>
            </a:solidFill>
            <a:prstDash val="solid"/>
          </a:ln>
        </p:spPr>
      </p:sp>
      <p:sp>
        <p:nvSpPr>
          <p:cNvPr id="8" name="Text 5"/>
          <p:cNvSpPr txBox="1"/>
          <p:nvPr/>
        </p:nvSpPr>
        <p:spPr>
          <a:xfrm>
            <a:off x="7452360" y="2578608"/>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SQL</a:t>
            </a:r>
            <a:endParaRPr lang="en-US" sz="2200" dirty="0"/>
          </a:p>
          <a:p>
            <a:pPr indent="0" marL="0">
              <a:buNone/>
            </a:pPr>
            <a:r>
              <a:rPr lang="en-US" sz="1400" dirty="0">
                <a:solidFill>
                  <a:schemeClr val="tx1"/>
                </a:solidFill>
              </a:rPr>
              <a:t>reproduces selected results from row-level data</a:t>
            </a:r>
            <a:endParaRPr lang="en-US" sz="2200" dirty="0"/>
          </a:p>
        </p:txBody>
      </p:sp>
      <p:sp>
        <p:nvSpPr>
          <p:cNvPr id="9" name="fact 2"/>
          <p:cNvSpPr/>
          <p:nvPr/>
        </p:nvSpPr>
        <p:spPr>
          <a:xfrm>
            <a:off x="7223760" y="3694176"/>
            <a:ext cx="4389120" cy="960120"/>
          </a:xfrm>
          <a:prstGeom prst="roundRect">
            <a:avLst>
              <a:gd name="adj" fmla="val 9524"/>
            </a:avLst>
          </a:prstGeom>
          <a:solidFill>
            <a:schemeClr val="bg2"/>
          </a:solidFill>
          <a:ln w="12700">
            <a:solidFill>
              <a:schemeClr val="bg2"/>
            </a:solidFill>
            <a:prstDash val="solid"/>
          </a:ln>
        </p:spPr>
      </p:sp>
      <p:sp>
        <p:nvSpPr>
          <p:cNvPr id="10" name="Text 7"/>
          <p:cNvSpPr txBox="1"/>
          <p:nvPr/>
        </p:nvSpPr>
        <p:spPr>
          <a:xfrm>
            <a:off x="7452360" y="3694176"/>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Windows = Linux</a:t>
            </a:r>
            <a:endParaRPr lang="en-US" sz="2200" dirty="0"/>
          </a:p>
          <a:p>
            <a:pPr indent="0" marL="0">
              <a:buNone/>
            </a:pPr>
            <a:r>
              <a:rPr lang="en-US" sz="1400" dirty="0">
                <a:solidFill>
                  <a:schemeClr val="tx1"/>
                </a:solidFill>
              </a:rPr>
              <a:t>every reported result stays the same</a:t>
            </a:r>
            <a:endParaRPr lang="en-US" sz="2200" dirty="0"/>
          </a:p>
        </p:txBody>
      </p:sp>
      <p:sp>
        <p:nvSpPr>
          <p:cNvPr id="11" name="fact 3"/>
          <p:cNvSpPr/>
          <p:nvPr/>
        </p:nvSpPr>
        <p:spPr>
          <a:xfrm>
            <a:off x="7223760" y="4809744"/>
            <a:ext cx="4389120"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452360" y="4809744"/>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Git tags</a:t>
            </a:r>
            <a:endParaRPr lang="en-US" sz="2200" dirty="0"/>
          </a:p>
          <a:p>
            <a:pPr indent="0" marL="0">
              <a:buNone/>
            </a:pPr>
            <a:r>
              <a:rPr lang="en-US" sz="1400" dirty="0">
                <a:solidFill>
                  <a:schemeClr val="tx1"/>
                </a:solidFill>
              </a:rPr>
              <a:t>freeze the final evaluations</a:t>
            </a:r>
            <a:endParaRPr lang="en-US" sz="2200" dirty="0"/>
          </a:p>
        </p:txBody>
      </p:sp>
      <p:sp>
        <p:nvSpPr>
          <p:cNvPr id="13" name="claims line"/>
          <p:cNvSpPr txBox="1"/>
          <p:nvPr/>
        </p:nvSpPr>
        <p:spPr>
          <a:xfrm>
            <a:off x="548640" y="4434840"/>
            <a:ext cx="6217920" cy="822960"/>
          </a:xfrm>
          <a:prstGeom prst="rect">
            <a:avLst/>
          </a:prstGeom>
          <a:noFill/>
          <a:ln/>
        </p:spPr>
        <p:txBody>
          <a:bodyPr wrap="square" lIns="0" tIns="0" rIns="0" bIns="0" rtlCol="0" anchor="t"/>
          <a:lstStyle/>
          <a:p>
            <a:pPr indent="0" marL="0">
              <a:buNone/>
            </a:pPr>
            <a:r>
              <a:rPr lang="en-US" sz="1600" dirty="0">
                <a:solidFill>
                  <a:schemeClr val="tx1"/>
                </a:solidFill>
              </a:rPr>
              <a:t>Every number quoted in a notebook, the README or the report is checked against the data by code.</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Deployment with Docker</a:t>
            </a:r>
            <a:endParaRPr lang="en-US" sz="3000" dirty="0"/>
          </a:p>
        </p:txBody>
      </p:sp>
      <p:sp>
        <p:nvSpPr>
          <p:cNvPr id="3" name="arch Browser"/>
          <p:cNvSpPr/>
          <p:nvPr/>
        </p:nvSpPr>
        <p:spPr>
          <a:xfrm>
            <a:off x="548640" y="1828800"/>
            <a:ext cx="2468880" cy="1463040"/>
          </a:xfrm>
          <a:prstGeom prst="roundRect">
            <a:avLst>
              <a:gd name="adj" fmla="val 7500"/>
            </a:avLst>
          </a:prstGeom>
          <a:solidFill>
            <a:schemeClr val="tx2"/>
          </a:solidFill>
          <a:ln w="12700">
            <a:solidFill>
              <a:srgbClr val="FFFFFF"/>
            </a:solidFill>
            <a:prstDash val="solid"/>
          </a:ln>
        </p:spPr>
      </p:sp>
      <p:sp>
        <p:nvSpPr>
          <p:cNvPr id="4" name="Text 2"/>
          <p:cNvSpPr txBox="1"/>
          <p:nvPr/>
        </p:nvSpPr>
        <p:spPr>
          <a:xfrm>
            <a:off x="54864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Browser</a:t>
            </a:r>
            <a:endParaRPr lang="en-US" sz="1800" dirty="0"/>
          </a:p>
          <a:p>
            <a:pPr algn="ctr" indent="0" marL="0">
              <a:buNone/>
            </a:pPr>
            <a:r>
              <a:rPr lang="en-US" sz="1400" dirty="0">
                <a:solidFill>
                  <a:schemeClr val="bg1"/>
                </a:solidFill>
              </a:rPr>
              <a:t>localhost:8080</a:t>
            </a:r>
            <a:endParaRPr lang="en-US" sz="1800" dirty="0"/>
          </a:p>
        </p:txBody>
      </p:sp>
      <p:sp>
        <p:nvSpPr>
          <p:cNvPr id="5" name="arch arrow"/>
          <p:cNvSpPr/>
          <p:nvPr/>
        </p:nvSpPr>
        <p:spPr>
          <a:xfrm>
            <a:off x="3072384" y="2377440"/>
            <a:ext cx="310896" cy="365760"/>
          </a:xfrm>
          <a:prstGeom prst="rightArrow">
            <a:avLst/>
          </a:prstGeom>
          <a:solidFill>
            <a:schemeClr val="accent5"/>
          </a:solidFill>
          <a:ln w="12700">
            <a:solidFill>
              <a:srgbClr val="5D6066"/>
            </a:solidFill>
            <a:prstDash val="solid"/>
          </a:ln>
        </p:spPr>
      </p:sp>
      <p:sp>
        <p:nvSpPr>
          <p:cNvPr id="6" name="arch Nginx"/>
          <p:cNvSpPr/>
          <p:nvPr/>
        </p:nvSpPr>
        <p:spPr>
          <a:xfrm>
            <a:off x="3429000" y="1828800"/>
            <a:ext cx="2468880" cy="1463040"/>
          </a:xfrm>
          <a:prstGeom prst="roundRect">
            <a:avLst>
              <a:gd name="adj" fmla="val 7500"/>
            </a:avLst>
          </a:prstGeom>
          <a:solidFill>
            <a:schemeClr val="accent2"/>
          </a:solidFill>
          <a:ln w="12700">
            <a:solidFill>
              <a:srgbClr val="FFFFFF"/>
            </a:solidFill>
            <a:prstDash val="solid"/>
          </a:ln>
        </p:spPr>
      </p:sp>
      <p:sp>
        <p:nvSpPr>
          <p:cNvPr id="7" name="Text 5"/>
          <p:cNvSpPr txBox="1"/>
          <p:nvPr/>
        </p:nvSpPr>
        <p:spPr>
          <a:xfrm>
            <a:off x="342900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Nginx</a:t>
            </a:r>
            <a:endParaRPr lang="en-US" sz="1800" dirty="0"/>
          </a:p>
          <a:p>
            <a:pPr algn="ctr" indent="0" marL="0">
              <a:buNone/>
            </a:pPr>
            <a:r>
              <a:rPr lang="en-US" sz="1400" dirty="0">
                <a:solidFill>
                  <a:schemeClr val="bg1"/>
                </a:solidFill>
              </a:rPr>
              <a:t>web server, the only public port</a:t>
            </a:r>
            <a:endParaRPr lang="en-US" sz="1800" dirty="0"/>
          </a:p>
        </p:txBody>
      </p:sp>
      <p:sp>
        <p:nvSpPr>
          <p:cNvPr id="8" name="arch arrow"/>
          <p:cNvSpPr/>
          <p:nvPr/>
        </p:nvSpPr>
        <p:spPr>
          <a:xfrm>
            <a:off x="5952744" y="2377440"/>
            <a:ext cx="310896" cy="365760"/>
          </a:xfrm>
          <a:prstGeom prst="rightArrow">
            <a:avLst/>
          </a:prstGeom>
          <a:solidFill>
            <a:schemeClr val="accent5"/>
          </a:solidFill>
          <a:ln w="12700">
            <a:solidFill>
              <a:srgbClr val="5D6066"/>
            </a:solidFill>
            <a:prstDash val="solid"/>
          </a:ln>
        </p:spPr>
      </p:sp>
      <p:sp>
        <p:nvSpPr>
          <p:cNvPr id="9" name="arch Gunicorn + Flask"/>
          <p:cNvSpPr/>
          <p:nvPr/>
        </p:nvSpPr>
        <p:spPr>
          <a:xfrm>
            <a:off x="6309360" y="1828800"/>
            <a:ext cx="2468880" cy="1463040"/>
          </a:xfrm>
          <a:prstGeom prst="roundRect">
            <a:avLst>
              <a:gd name="adj" fmla="val 7500"/>
            </a:avLst>
          </a:prstGeom>
          <a:solidFill>
            <a:schemeClr val="accent2"/>
          </a:solidFill>
          <a:ln w="12700">
            <a:solidFill>
              <a:srgbClr val="FFFFFF"/>
            </a:solidFill>
            <a:prstDash val="solid"/>
          </a:ln>
        </p:spPr>
      </p:sp>
      <p:sp>
        <p:nvSpPr>
          <p:cNvPr id="10" name="Text 8"/>
          <p:cNvSpPr txBox="1"/>
          <p:nvPr/>
        </p:nvSpPr>
        <p:spPr>
          <a:xfrm>
            <a:off x="630936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Gunicorn + Flask</a:t>
            </a:r>
            <a:endParaRPr lang="en-US" sz="1800" dirty="0"/>
          </a:p>
          <a:p>
            <a:pPr algn="ctr" indent="0" marL="0">
              <a:buNone/>
            </a:pPr>
            <a:r>
              <a:rPr lang="en-US" sz="1400" dirty="0">
                <a:solidFill>
                  <a:schemeClr val="bg1"/>
                </a:solidFill>
              </a:rPr>
              <a:t>1 worker, 4 threads</a:t>
            </a:r>
            <a:endParaRPr lang="en-US" sz="1800" dirty="0"/>
          </a:p>
        </p:txBody>
      </p:sp>
      <p:sp>
        <p:nvSpPr>
          <p:cNvPr id="11" name="arch arrow"/>
          <p:cNvSpPr/>
          <p:nvPr/>
        </p:nvSpPr>
        <p:spPr>
          <a:xfrm>
            <a:off x="8833104" y="2377440"/>
            <a:ext cx="310896" cy="365760"/>
          </a:xfrm>
          <a:prstGeom prst="rightArrow">
            <a:avLst/>
          </a:prstGeom>
          <a:solidFill>
            <a:schemeClr val="accent5"/>
          </a:solidFill>
          <a:ln w="12700">
            <a:solidFill>
              <a:srgbClr val="5D6066"/>
            </a:solidFill>
            <a:prstDash val="solid"/>
          </a:ln>
        </p:spPr>
      </p:sp>
      <p:sp>
        <p:nvSpPr>
          <p:cNvPr id="12" name="arch Verified data"/>
          <p:cNvSpPr/>
          <p:nvPr/>
        </p:nvSpPr>
        <p:spPr>
          <a:xfrm>
            <a:off x="9189720" y="1828800"/>
            <a:ext cx="2468880" cy="1463040"/>
          </a:xfrm>
          <a:prstGeom prst="roundRect">
            <a:avLst>
              <a:gd name="adj" fmla="val 7500"/>
            </a:avLst>
          </a:prstGeom>
          <a:solidFill>
            <a:schemeClr val="accent4"/>
          </a:solidFill>
          <a:ln w="12700">
            <a:solidFill>
              <a:srgbClr val="FFFFFF"/>
            </a:solidFill>
            <a:prstDash val="solid"/>
          </a:ln>
        </p:spPr>
      </p:sp>
      <p:sp>
        <p:nvSpPr>
          <p:cNvPr id="13" name="Text 11"/>
          <p:cNvSpPr txBox="1"/>
          <p:nvPr/>
        </p:nvSpPr>
        <p:spPr>
          <a:xfrm>
            <a:off x="918972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Verified data</a:t>
            </a:r>
            <a:endParaRPr lang="en-US" sz="1800" dirty="0"/>
          </a:p>
          <a:p>
            <a:pPr algn="ctr" indent="0" marL="0">
              <a:buNone/>
            </a:pPr>
            <a:r>
              <a:rPr lang="en-US" sz="1400" dirty="0">
                <a:solidFill>
                  <a:schemeClr val="bg1"/>
                </a:solidFill>
              </a:rPr>
              <a:t>mounted read-only</a:t>
            </a:r>
            <a:endParaRPr lang="en-US" sz="1800" dirty="0"/>
          </a:p>
        </p:txBody>
      </p:sp>
      <p:sp>
        <p:nvSpPr>
          <p:cNvPr id="14" name="run card"/>
          <p:cNvSpPr/>
          <p:nvPr/>
        </p:nvSpPr>
        <p:spPr>
          <a:xfrm>
            <a:off x="548640" y="3886200"/>
            <a:ext cx="5394960" cy="1600200"/>
          </a:xfrm>
          <a:prstGeom prst="roundRect">
            <a:avLst>
              <a:gd name="adj" fmla="val 5714"/>
            </a:avLst>
          </a:prstGeom>
          <a:solidFill>
            <a:schemeClr val="bg2"/>
          </a:solidFill>
          <a:ln w="12700">
            <a:solidFill>
              <a:schemeClr val="bg2"/>
            </a:solidFill>
            <a:prstDash val="solid"/>
          </a:ln>
        </p:spPr>
      </p:sp>
      <p:sp>
        <p:nvSpPr>
          <p:cNvPr id="15" name="Text 13"/>
          <p:cNvSpPr txBox="1"/>
          <p:nvPr/>
        </p:nvSpPr>
        <p:spPr>
          <a:xfrm>
            <a:off x="82296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Run it</a:t>
            </a:r>
            <a:endParaRPr lang="en-US" sz="1700" dirty="0"/>
          </a:p>
          <a:p>
            <a:pPr indent="0" marL="0">
              <a:buNone/>
            </a:pPr>
            <a:r>
              <a:rPr lang="en-US" sz="1600" dirty="0">
                <a:solidFill>
                  <a:schemeClr val="accent1"/>
                </a:solidFill>
                <a:latin typeface="Courier New" pitchFamily="34" charset="0"/>
                <a:ea typeface="Courier New" pitchFamily="34" charset="-122"/>
                <a:cs typeface="Courier New" pitchFamily="34" charset="-120"/>
              </a:rPr>
              <a:t>docker compose up -d</a:t>
            </a:r>
            <a:endParaRPr lang="en-US" sz="1700" dirty="0"/>
          </a:p>
          <a:p>
            <a:pPr indent="0" marL="0">
              <a:buNone/>
            </a:pPr>
            <a:r>
              <a:rPr lang="en-US" sz="1400" dirty="0">
                <a:solidFill>
                  <a:schemeClr val="tx1"/>
                </a:solidFill>
              </a:rPr>
              <a:t>then open http://localhost:8080</a:t>
            </a:r>
            <a:endParaRPr lang="en-US" sz="1700" dirty="0"/>
          </a:p>
        </p:txBody>
      </p:sp>
      <p:sp>
        <p:nvSpPr>
          <p:cNvPr id="16" name="pipeline card"/>
          <p:cNvSpPr/>
          <p:nvPr/>
        </p:nvSpPr>
        <p:spPr>
          <a:xfrm>
            <a:off x="6217920" y="3886200"/>
            <a:ext cx="5394960" cy="1600200"/>
          </a:xfrm>
          <a:prstGeom prst="roundRect">
            <a:avLst>
              <a:gd name="adj" fmla="val 5714"/>
            </a:avLst>
          </a:prstGeom>
          <a:solidFill>
            <a:schemeClr val="bg2"/>
          </a:solidFill>
          <a:ln w="12700">
            <a:solidFill>
              <a:schemeClr val="bg2"/>
            </a:solidFill>
            <a:prstDash val="solid"/>
          </a:ln>
        </p:spPr>
      </p:sp>
      <p:sp>
        <p:nvSpPr>
          <p:cNvPr id="17" name="Text 15"/>
          <p:cNvSpPr txBox="1"/>
          <p:nvPr/>
        </p:nvSpPr>
        <p:spPr>
          <a:xfrm>
            <a:off x="649224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Rebuild inside Linux</a:t>
            </a:r>
            <a:endParaRPr lang="en-US" sz="1700" dirty="0"/>
          </a:p>
          <a:p>
            <a:pPr indent="0" marL="0">
              <a:buNone/>
            </a:pPr>
            <a:r>
              <a:rPr lang="en-US" sz="1400" dirty="0">
                <a:solidFill>
                  <a:schemeClr val="tx1"/>
                </a:solidFill>
              </a:rPr>
              <a:t>An on-demand pipeline service rebuilds every output from the raw file. The app starts only after its health check passes.</a:t>
            </a:r>
            <a:endParaRPr lang="en-US" sz="17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Limits, and what more data would allow</a:t>
            </a:r>
            <a:endParaRPr lang="en-US" sz="3000" dirty="0"/>
          </a:p>
        </p:txBody>
      </p:sp>
      <p:sp>
        <p:nvSpPr>
          <p:cNvPr id="3" name="limits card"/>
          <p:cNvSpPr/>
          <p:nvPr/>
        </p:nvSpPr>
        <p:spPr>
          <a:xfrm>
            <a:off x="548640" y="1463040"/>
            <a:ext cx="5394960" cy="3383280"/>
          </a:xfrm>
          <a:prstGeom prst="roundRect">
            <a:avLst>
              <a:gd name="adj" fmla="val 2703"/>
            </a:avLst>
          </a:prstGeom>
          <a:solidFill>
            <a:schemeClr val="bg2"/>
          </a:solidFill>
          <a:ln w="12700">
            <a:solidFill>
              <a:schemeClr val="bg2"/>
            </a:solidFill>
            <a:prstDash val="solid"/>
          </a:ln>
        </p:spPr>
      </p:sp>
      <p:sp>
        <p:nvSpPr>
          <p:cNvPr id="4" name="Text 2"/>
          <p:cNvSpPr txBox="1"/>
          <p:nvPr/>
        </p:nvSpPr>
        <p:spPr>
          <a:xfrm>
            <a:off x="822960" y="1737360"/>
            <a:ext cx="4937760" cy="4023360"/>
          </a:xfrm>
          <a:prstGeom prst="rect">
            <a:avLst/>
          </a:prstGeom>
          <a:noFill/>
          <a:ln/>
        </p:spPr>
        <p:txBody>
          <a:bodyPr wrap="square" lIns="0" tIns="0" rIns="0" bIns="0" rtlCol="0" anchor="t"/>
          <a:lstStyle/>
          <a:p>
            <a:pPr indent="0" marL="0">
              <a:spcAft>
                <a:spcPts val="1600"/>
              </a:spcAft>
              <a:buNone/>
            </a:pPr>
            <a:r>
              <a:rPr lang="en-US" sz="1800" b="1" dirty="0">
                <a:solidFill>
                  <a:schemeClr val="accent1"/>
                </a:solidFill>
              </a:rPr>
              <a:t>Limits today</a:t>
            </a:r>
            <a:endParaRPr lang="en-US" sz="1800" dirty="0"/>
          </a:p>
          <a:p>
            <a:pPr marL="342900" indent="-342900">
              <a:spcAft>
                <a:spcPts val="1600"/>
              </a:spcAft>
              <a:buSzPct val="100000"/>
              <a:buChar char="•"/>
            </a:pPr>
            <a:r>
              <a:rPr lang="en-US" sz="1800" dirty="0">
                <a:solidFill>
                  <a:schemeClr val="tx1"/>
                </a:solidFill>
              </a:rPr>
              <a:t>Titles only, no job descriptions</a:t>
            </a:r>
            <a:endParaRPr lang="en-US" sz="1800" dirty="0"/>
          </a:p>
          <a:p>
            <a:pPr marL="342900" indent="-342900">
              <a:spcAft>
                <a:spcPts val="1600"/>
              </a:spcAft>
              <a:buSzPct val="100000"/>
              <a:buChar char="•"/>
            </a:pPr>
            <a:r>
              <a:rPr lang="en-US" sz="1800" dirty="0">
                <a:solidFill>
                  <a:schemeClr val="tx1"/>
                </a:solidFill>
              </a:rPr>
              <a:t>Five weeks of reliable history</a:t>
            </a:r>
            <a:endParaRPr lang="en-US" sz="1800" dirty="0"/>
          </a:p>
          <a:p>
            <a:pPr marL="342900" indent="-342900">
              <a:spcAft>
                <a:spcPts val="1600"/>
              </a:spcAft>
              <a:buSzPct val="100000"/>
              <a:buChar char="•"/>
            </a:pPr>
            <a:r>
              <a:rPr lang="en-US" sz="1800" dirty="0">
                <a:solidFill>
                  <a:schemeClr val="tx1"/>
                </a:solidFill>
              </a:rPr>
              <a:t>One annotator for all labels</a:t>
            </a:r>
            <a:endParaRPr lang="en-US" sz="1800" dirty="0"/>
          </a:p>
          <a:p>
            <a:pPr marL="342900" indent="-342900">
              <a:spcAft>
                <a:spcPts val="1600"/>
              </a:spcAft>
              <a:buSzPct val="100000"/>
              <a:buChar char="•"/>
            </a:pPr>
            <a:r>
              <a:rPr lang="en-US" sz="1800" dirty="0">
                <a:solidFill>
                  <a:schemeClr val="tx1"/>
                </a:solidFill>
              </a:rPr>
              <a:t>Offers, not what freelancers earn</a:t>
            </a:r>
            <a:endParaRPr lang="en-US" sz="1800" dirty="0"/>
          </a:p>
          <a:p>
            <a:pPr marL="342900" indent="-342900">
              <a:spcAft>
                <a:spcPts val="1600"/>
              </a:spcAft>
              <a:buSzPct val="100000"/>
              <a:buChar char="•"/>
            </a:pPr>
            <a:r>
              <a:rPr lang="en-US" sz="1800" dirty="0">
                <a:solidFill>
                  <a:schemeClr val="tx1"/>
                </a:solidFill>
              </a:rPr>
              <a:t>Associations, not causes</a:t>
            </a:r>
            <a:endParaRPr lang="en-US" sz="1800" dirty="0"/>
          </a:p>
        </p:txBody>
      </p:sp>
      <p:sp>
        <p:nvSpPr>
          <p:cNvPr id="5" name="more data card"/>
          <p:cNvSpPr/>
          <p:nvPr/>
        </p:nvSpPr>
        <p:spPr>
          <a:xfrm>
            <a:off x="6217920" y="1463040"/>
            <a:ext cx="5394960" cy="3383280"/>
          </a:xfrm>
          <a:prstGeom prst="roundRect">
            <a:avLst>
              <a:gd name="adj" fmla="val 2703"/>
            </a:avLst>
          </a:prstGeom>
          <a:solidFill>
            <a:schemeClr val="tx2"/>
          </a:solidFill>
          <a:ln w="12700">
            <a:solidFill>
              <a:schemeClr val="tx2"/>
            </a:solidFill>
            <a:prstDash val="solid"/>
          </a:ln>
        </p:spPr>
      </p:sp>
      <p:sp>
        <p:nvSpPr>
          <p:cNvPr id="6" name="Text 4"/>
          <p:cNvSpPr txBox="1"/>
          <p:nvPr/>
        </p:nvSpPr>
        <p:spPr>
          <a:xfrm>
            <a:off x="6492240" y="1737360"/>
            <a:ext cx="4937760" cy="4023360"/>
          </a:xfrm>
          <a:prstGeom prst="rect">
            <a:avLst/>
          </a:prstGeom>
          <a:noFill/>
          <a:ln/>
        </p:spPr>
        <p:txBody>
          <a:bodyPr wrap="square" lIns="0" tIns="0" rIns="0" bIns="0" rtlCol="0" anchor="t"/>
          <a:lstStyle/>
          <a:p>
            <a:pPr indent="0" marL="0">
              <a:spcAft>
                <a:spcPts val="1600"/>
              </a:spcAft>
              <a:buNone/>
            </a:pPr>
            <a:r>
              <a:rPr lang="en-US" sz="1800" b="1" dirty="0">
                <a:solidFill>
                  <a:schemeClr val="accent6"/>
                </a:solidFill>
              </a:rPr>
              <a:t>With more data</a:t>
            </a:r>
            <a:endParaRPr lang="en-US" sz="1800" dirty="0"/>
          </a:p>
          <a:p>
            <a:pPr marL="342900" indent="-342900">
              <a:spcAft>
                <a:spcPts val="1600"/>
              </a:spcAft>
              <a:buSzPct val="100000"/>
              <a:buChar char="•"/>
            </a:pPr>
            <a:r>
              <a:rPr lang="en-US" sz="1800" dirty="0">
                <a:solidFill>
                  <a:schemeClr val="bg1"/>
                </a:solidFill>
              </a:rPr>
              <a:t>Job descriptions: better categories and skill-level pay</a:t>
            </a:r>
            <a:endParaRPr lang="en-US" sz="1800" dirty="0"/>
          </a:p>
          <a:p>
            <a:pPr marL="342900" indent="-342900">
              <a:spcAft>
                <a:spcPts val="1600"/>
              </a:spcAft>
              <a:buSzPct val="100000"/>
              <a:buChar char="•"/>
            </a:pPr>
            <a:r>
              <a:rPr lang="en-US" sz="1800" dirty="0">
                <a:solidFill>
                  <a:schemeClr val="bg1"/>
                </a:solidFill>
              </a:rPr>
              <a:t>A year of history: real seasons, longer forecasts</a:t>
            </a:r>
            <a:endParaRPr lang="en-US" sz="1800" dirty="0"/>
          </a:p>
          <a:p>
            <a:pPr marL="342900" indent="-342900">
              <a:spcAft>
                <a:spcPts val="1600"/>
              </a:spcAft>
              <a:buSzPct val="100000"/>
              <a:buChar char="•"/>
            </a:pPr>
            <a:r>
              <a:rPr lang="en-US" sz="1800" dirty="0">
                <a:solidFill>
                  <a:schemeClr val="bg1"/>
                </a:solidFill>
              </a:rPr>
              <a:t>A remote / on-site field: a direct remote answer</a:t>
            </a:r>
            <a:endParaRPr lang="en-US" sz="1800" dirty="0"/>
          </a:p>
          <a:p>
            <a:pPr marL="342900" indent="-342900">
              <a:spcAft>
                <a:spcPts val="1600"/>
              </a:spcAft>
              <a:buSzPct val="100000"/>
              <a:buChar char="•"/>
            </a:pPr>
            <a:r>
              <a:rPr lang="en-US" sz="1800" dirty="0">
                <a:solidFill>
                  <a:schemeClr val="bg1"/>
                </a:solidFill>
              </a:rPr>
              <a:t>Click data: a recommender that learns</a:t>
            </a:r>
            <a:endParaRPr lang="en-US" sz="18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hank you"/>
          <p:cNvSpPr txBox="1"/>
          <p:nvPr/>
        </p:nvSpPr>
        <p:spPr>
          <a:xfrm>
            <a:off x="822960" y="2377440"/>
            <a:ext cx="10515600" cy="1097280"/>
          </a:xfrm>
          <a:prstGeom prst="rect">
            <a:avLst/>
          </a:prstGeom>
          <a:noFill/>
          <a:ln/>
        </p:spPr>
        <p:txBody>
          <a:bodyPr wrap="square" lIns="0" tIns="0" rIns="0" bIns="0" rtlCol="0" anchor="ctr"/>
          <a:lstStyle/>
          <a:p>
            <a:pPr indent="0" marL="0">
              <a:buNone/>
            </a:pPr>
            <a:r>
              <a:rPr lang="en-US" sz="5400" b="1" dirty="0">
                <a:solidFill>
                  <a:schemeClr val="bg1"/>
                </a:solidFill>
              </a:rPr>
              <a:t>Thank you</a:t>
            </a:r>
            <a:endParaRPr lang="en-US" sz="5400" dirty="0"/>
          </a:p>
        </p:txBody>
      </p:sp>
      <p:sp>
        <p:nvSpPr>
          <p:cNvPr id="3" name="Text 1"/>
          <p:cNvSpPr txBox="1"/>
          <p:nvPr/>
        </p:nvSpPr>
        <p:spPr>
          <a:xfrm>
            <a:off x="822960" y="393192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Tree>
  </p:cSld>
  <p:clrMapOvr>
    <a:masterClrMapping/>
  </p:clrMapOvr>
</p:sld>
</file>

<file path=ppt/theme/theme1.xml><?xml version="1.0" encoding="utf-8"?>
<a:theme xmlns:a="http://schemas.openxmlformats.org/drawingml/2006/main" name="Job Market Story">
  <a:themeElements>
    <a:clrScheme name="Job Market Story">
      <a:dk1>
        <a:srgbClr val="17181A"/>
      </a:dk1>
      <a:lt1>
        <a:srgbClr val="FFFFFF"/>
      </a:lt1>
      <a:dk2>
        <a:srgbClr val="1C2733"/>
      </a:dk2>
      <a:lt2>
        <a:srgbClr val="F2F3F5"/>
      </a:lt2>
      <a:accent1>
        <a:srgbClr val="C4501D"/>
      </a:accent1>
      <a:accent2>
        <a:srgbClr val="2A78D6"/>
      </a:accent2>
      <a:accent3>
        <a:srgbClr val="EB6834"/>
      </a:accent3>
      <a:accent4>
        <a:srgbClr val="1F7A55"/>
      </a:accent4>
      <a:accent5>
        <a:srgbClr val="5D6066"/>
      </a:accent5>
      <a:accent6>
        <a:srgbClr val="D9DCE1"/>
      </a:accent6>
      <a:hlink>
        <a:srgbClr val="2A78D6"/>
      </a:hlink>
      <a:folHlink>
        <a:srgbClr val="5D6066"/>
      </a:folHlink>
    </a:clrScheme>
    <a:fontScheme name="Job Market Stor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NextHikes IT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Job Market Analysis and Recommendation System</dc:title>
  <dc:subject>PptxGenJS Presentation</dc:subject>
  <dc:creator>Manisha Nagda</dc:creator>
  <cp:lastModifiedBy>Manisha Nagda</cp:lastModifiedBy>
  <cp:revision>1</cp:revision>
  <dcterms:created xsi:type="dcterms:W3CDTF">2026-10-05T23:11:09Z</dcterms:created>
  <dcterms:modified xsi:type="dcterms:W3CDTF">2026-10-05T23:11:09Z</dcterms:modified>
</cp:coreProperties>
</file>