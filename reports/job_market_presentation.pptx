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1dee1cb-c2f3-d29d-7220-e0347e094089}">
          <p14:sldIdLst>
            <p14:sldId id="256"/>
            <p14:sldId id="257"/>
          </p14:sldIdLst>
        </p14:section>
        <p14:section name="Data and method" id="{1f86d873-a5e9-6d5c-e672-619c685a13e6}">
          <p14:sldIdLst>
            <p14:sldId id="258"/>
            <p14:sldId id="259"/>
            <p14:sldId id="260"/>
          </p14:sldIdLst>
        </p14:section>
        <p14:section name="Findings" id="{4c4fc6c6-2dc7-be64-3bac-4753cf3a3b89}">
          <p14:sldIdLst>
            <p14:sldId id="261"/>
            <p14:sldId id="262"/>
            <p14:sldId id="263"/>
            <p14:sldId id="264"/>
            <p14:sldId id="265"/>
          </p14:sldIdLst>
        </p14:section>
        <p14:section name="Products" id="{85b7ad03-8de7-aeae-0ff9-e041fd463b26}">
          <p14:sldIdLst>
            <p14:sldId id="266"/>
            <p14:sldId id="267"/>
          </p14:sldIdLst>
        </p14:section>
        <p14:section name="Trust" id="{9f03e8af-b49b-60b6-b91e-24463f5fea60}">
          <p14:sldIdLst>
            <p14:sldId id="268"/>
            <p14:sldId id="269"/>
          </p14:sldIdLst>
        </p14:section>
        <p14:section name="Close" id="{93b607ca-3b7b-e5e6-5079-c37739c3994c}">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Manisha Nagda. This is my project for NextHikes IT Solutions: a job market analysis and a job recommendation system. I use about 245,000 Upwork job posts to answer eight questions about pay, demand and remote work, and I build working tools on top of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assignment asks eight questions. Some are about the past: pay, emerging work, country rates and remote work. Some are about the future: demand and the next weeks. Two ask me to build tools: a job recommender and a monthly dashboard. I answer all eight from the same 244,828 job posts.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analysis, I check what the data can and cannot answer. It has job titles, contract types, offered rates or budgets, client countries and posting times. It has no job descriptions and no remote or on-site field, so the categories, title-word results and recommendations depend on short titles. The reliable window covers 37 days, from 16 February to 23 March 2024. Three days still have small collection gaps, so I check whether these gaps affect the results. All time-based analysis uses this window. The chart shows a strong weekly rhythm, so I compare periods using averages per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 one pipeline to clean the data, assign job categories, run the analysis and prepare the results for the app, the dashboard and SQL. I develop the rules using development data, then fix them before the final evaluation. I test the categories and the recommender with blind human labels, and code checks selected figures against the saved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has no category field, so I build one: 22 job functions plus Other / Unclear. Keyword rules assign 86.6% of jobs, and a guarded classifier adds another 1.2%. I compare the system's predictions with my own labels for 350 titles. I label these titles without seeing the system's predictions, and I keep the category rules fixed before the final evaluation. The system agrees with my label for 68.9% of titles, with a 95% interval from 63.8% to 73.5%. Some categories, such as Software &amp; IT and AI &amp; Machine Learning, are likely undercounted, because many of their titles fall into Other /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1, I compare each title word with similar jobs: the same client country and the same category. Titles with consultant offer about 77 percent more; virtual assistant about 38 percent less. Title words raise the explained variation from 11 to 26 percent, so titles matter, but most of pay depends on things the title does not show. These are associations, not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2, I measure each job function's share of daily posts across the five weeks. Nine of 22 functions change significantly. Digital Marketing, Video &amp; Animation, Design &amp; Creative, Sales &amp; Lead Generation, E-commerce Operations and AI &amp; Machine Learning gain share; Writing &amp; Content, Admin &amp; Virtual Assistance and Translation &amp; Transcription lose it. All nine directions hold without possible reposts, without days with collection gaps and in a complete-week comparison, although the sizes vary. Part of the change is one step around 26 February. After that step, four categories keep changing clearly: Writing &amp; Content falls, while AI &amp; Machine Learning, Sales &amp; Lead Generation and E-commerce Operations rise. These are short-term shifts, not long-run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4, I compare 91 client countries. I show the median offer, the mean offer and an index for the same kinds of jobs. Among countries with at least 2,000 rated jobs, US clients have the highest median, USD 25 per hour, and their mean is USD 32.6. The mean is above the median in 89 of the 91 countries, because a small number of high offers pulls the averages up. After adjusting for job categories, the US index is about 9% above the reference level. The job mix changes the picture: Australia's median is near average, but its adjusted index is about 12% below. These are offers in postings, not what freelancers 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Tasks 3 and 8, I forecast 14 days ahead. I compare four simple models and select the weekday mean because it has the lowest average seasonal MASE in the development backtests. Seasonal MASE compares a model's error with the usual week-to-week change. The weekday mean is not better on every measure: for total jobs, the simple seasonal baseline forecasts better in both the development backtests and the final week. Web Development, Design &amp; Creative and Digital Marketing lead the next week with about 900, 720 and 660 jobs a day, and the last two have overlapping ranges. The ranges come from past forecast errors. When I build ranges the same way from the development period and test them on the reserved final week, they contain 75.0% of the demand values, below the intended 80%. This tests the method, not the future ranges themselves. A separate damped-trend model suggests small rises for four categories, but the trend after 26 February does not clearly support three of them, so these are possible directions, not established trends.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7, I first state what the data cannot measure: there is no remote or on-site field, so I do not estimate a remote-work percentage. Instead, I measure what is there. About 46% of jobs with a known client country come from North America, and this stays stable. The hourly share falls from 58.3% to 56.1%, so fixed-price work gains slightly. Explicit wording is rare: 1,260 of 229,520 postings have remote or home wording in the title, 199 mention a time-zone requirement and 171 mention on-site or in-person work. I also check how well the wording rules work. I use a separate sample and exclude titles identified as seen during rule development, although earlier records do not prove complete separation. About 91% of remote or home matches are correct, with a 95% interval from 85% to 95%. This measures the wording rule, not the percentage of jobs that allow remote work. The forecasts place the hourly share and the North American share close to their recent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5, I build a working recommender with a web page and an API. A freelancer types skills, the engine matches them to recent job titles and applies strict pay and contract filters. I compare three matching methods. I label the pooled results myself, without knowing which method returns each job. Under a scoring rule fixed before labelling, the hybrid word-and-character TF-IDF method is selected, with nDCG@5 of 0.985 and strict Precision@5 of 0.967. nDCG@5 gives more credit when relevant jobs appear near the top of the list. The hybrid method has only one more relevant result than word TF-IDF in 60 evaluated slots, so I do not claim that it is better in general. The app serves this method only while its recorded approval remains valid. If the recommender code or settings change, the app stops until the result is reviewed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Task 6, I build a dashboard in the same app. It shows each month's headline numbers, weekly trends, pay, the country map and the forecasts. It computes nothing itself: it draws the verified tables. When a new monthly extract arrives, one rebuild updates the tables and the dashboard. An automated test checks that a new month appears without any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every push, GitHub runs more than 500 automated tests, checks the committed notebooks and builds the Docker images. The official build is recorded with six input fingerprints, and two rebuilds from the same inputs give identical copies of all 54 analytical output files. All nine notebooks run in strict mode, and the project check reports 0 errors and 0 warnings. SQL recomputes selected results from the row-level data, and all 1,358 compared values match. The app serves only the approved recommender method. Git tags record the frozen category, recommender and work-arrangement evaluations. I also rebuild the official outputs in Linux and compare them with Windows. All six input fingerprints match. Two files contain identical data with different compression, while three have small numerical differences. The categories, rankings, forecasts and reported findings remain unchanged. The forecast model and selection rule are fixed before the reserved final week is scored.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runs in Docker with two images. Nginx is the web server and the only public port. Behind it, Gunicorn runs the Flask app with one worker and four threads, because each worker would load its own copy of the search index. The verified data is mounted read-only, so the website cannot change it. One command starts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result has limits, and I state them. The data has no job descriptions and only five reliable weeks. I am the only annotator for all labels. Pay means offers, not earnings, and the results are associations, not causes. The forecast ranges contain fewer final-week values than intended, and the recommender is selected by a margin of one result. More complete job information, a longer history and user activity data could help improve the categories, forecasts and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C273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Job Market Analysis and Recommendation System  ·  Manisha Nagda</a:t>
            </a:r>
            <a:endParaRPr lang="en-US" sz="1000" dirty="0"/>
          </a:p>
        </p:txBody>
      </p:sp>
      <p:sp>
        <p:nvSpPr>
          <p:cNvPr id="3" name="Text 1"/>
          <p:cNvSpPr/>
          <p:nvPr>
            <p:ph idx="101" type="title" hasCustomPrompt="1"/>
          </p:nvPr>
        </p:nvSpPr>
        <p:spPr>
          <a:xfrm>
            <a:off x="548640" y="566928"/>
            <a:ext cx="1106424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mpany"/>
          <p:cNvSpPr txBox="1"/>
          <p:nvPr/>
        </p:nvSpPr>
        <p:spPr>
          <a:xfrm>
            <a:off x="822960" y="1554480"/>
            <a:ext cx="10515600" cy="1097280"/>
          </a:xfrm>
          <a:prstGeom prst="rect">
            <a:avLst/>
          </a:prstGeom>
          <a:noFill/>
          <a:ln/>
        </p:spPr>
        <p:txBody>
          <a:bodyPr wrap="square" lIns="0" tIns="0" rIns="0" bIns="0" rtlCol="0" anchor="ctr"/>
          <a:lstStyle/>
          <a:p>
            <a:pPr indent="0" marL="0">
              <a:buNone/>
            </a:pPr>
            <a:r>
              <a:rPr lang="en-US" sz="5400" b="1" dirty="0">
                <a:solidFill>
                  <a:schemeClr val="bg1"/>
                </a:solidFill>
              </a:rPr>
              <a:t>NextHikes IT Solutions</a:t>
            </a:r>
            <a:endParaRPr lang="en-US" sz="5400" dirty="0"/>
          </a:p>
        </p:txBody>
      </p:sp>
      <p:sp>
        <p:nvSpPr>
          <p:cNvPr id="3" name="project title"/>
          <p:cNvSpPr txBox="1"/>
          <p:nvPr/>
        </p:nvSpPr>
        <p:spPr>
          <a:xfrm>
            <a:off x="822960" y="2834640"/>
            <a:ext cx="10515600" cy="1097280"/>
          </a:xfrm>
          <a:prstGeom prst="rect">
            <a:avLst/>
          </a:prstGeom>
          <a:noFill/>
          <a:ln/>
        </p:spPr>
        <p:txBody>
          <a:bodyPr wrap="square" lIns="0" tIns="0" rIns="0" bIns="0" rtlCol="0" anchor="t"/>
          <a:lstStyle/>
          <a:p>
            <a:pPr indent="0" marL="0">
              <a:buNone/>
            </a:pPr>
            <a:r>
              <a:rPr lang="en-US" sz="3000" dirty="0">
                <a:solidFill>
                  <a:schemeClr val="accent6"/>
                </a:solidFill>
              </a:rPr>
              <a:t>Job Market Analysis and Recommendation System</a:t>
            </a:r>
            <a:endParaRPr lang="en-US" sz="3000" dirty="0"/>
          </a:p>
        </p:txBody>
      </p:sp>
      <p:sp>
        <p:nvSpPr>
          <p:cNvPr id="4" name="author"/>
          <p:cNvSpPr txBox="1"/>
          <p:nvPr/>
        </p:nvSpPr>
        <p:spPr>
          <a:xfrm>
            <a:off x="822960" y="4389120"/>
            <a:ext cx="10515600" cy="457200"/>
          </a:xfrm>
          <a:prstGeom prst="rect">
            <a:avLst/>
          </a:prstGeom>
          <a:noFill/>
          <a:ln/>
        </p:spPr>
        <p:txBody>
          <a:bodyPr wrap="square" lIns="0" tIns="0" rIns="0" bIns="0" rtlCol="0" anchor="ctr"/>
          <a:lstStyle/>
          <a:p>
            <a:pPr indent="0" marL="0">
              <a:buNone/>
            </a:pPr>
            <a:r>
              <a:rPr lang="en-US" sz="2200" dirty="0">
                <a:solidFill>
                  <a:schemeClr val="bg1"/>
                </a:solidFill>
              </a:rPr>
              <a:t>Manisha Nagda</a:t>
            </a:r>
            <a:endParaRPr lang="en-US" sz="2200" dirty="0"/>
          </a:p>
        </p:txBody>
      </p:sp>
      <p:sp>
        <p:nvSpPr>
          <p:cNvPr id="5" name="date"/>
          <p:cNvSpPr txBox="1"/>
          <p:nvPr/>
        </p:nvSpPr>
        <p:spPr>
          <a:xfrm>
            <a:off x="822960" y="4937760"/>
            <a:ext cx="10515600" cy="411480"/>
          </a:xfrm>
          <a:prstGeom prst="rect">
            <a:avLst/>
          </a:prstGeom>
          <a:noFill/>
          <a:ln/>
        </p:spPr>
        <p:txBody>
          <a:bodyPr wrap="square" lIns="0" tIns="0" rIns="0" bIns="0" rtlCol="0" anchor="ctr"/>
          <a:lstStyle/>
          <a:p>
            <a:pPr indent="0" marL="0">
              <a:buNone/>
            </a:pPr>
            <a:r>
              <a:rPr lang="en-US" sz="1800" dirty="0">
                <a:solidFill>
                  <a:schemeClr val="bg1"/>
                </a:solidFill>
              </a:rPr>
              <a:t>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244,828 job posts. What do they tell us?</a:t>
            </a:r>
            <a:endParaRPr lang="en-US" sz="3000" dirty="0"/>
          </a:p>
        </p:txBody>
      </p:sp>
      <p:sp>
        <p:nvSpPr>
          <p:cNvPr id="3" name="subtitle"/>
          <p:cNvSpPr txBox="1"/>
          <p:nvPr/>
        </p:nvSpPr>
        <p:spPr>
          <a:xfrm>
            <a:off x="548640" y="1325880"/>
            <a:ext cx="10972800" cy="365760"/>
          </a:xfrm>
          <a:prstGeom prst="rect">
            <a:avLst/>
          </a:prstGeom>
          <a:noFill/>
          <a:ln/>
        </p:spPr>
        <p:txBody>
          <a:bodyPr wrap="square" lIns="0" tIns="0" rIns="0" bIns="0" rtlCol="0" anchor="ctr"/>
          <a:lstStyle/>
          <a:p>
            <a:pPr indent="0" marL="0">
              <a:buNone/>
            </a:pPr>
            <a:r>
              <a:rPr lang="en-US" sz="1600" dirty="0">
                <a:solidFill>
                  <a:schemeClr val="accent5"/>
                </a:solidFill>
              </a:rPr>
              <a:t>Eight questions, answered from one dataset</a:t>
            </a:r>
            <a:endParaRPr lang="en-US" sz="1600" dirty="0"/>
          </a:p>
        </p:txBody>
      </p:sp>
      <p:sp>
        <p:nvSpPr>
          <p:cNvPr id="4" name="card Task 1"/>
          <p:cNvSpPr/>
          <p:nvPr/>
        </p:nvSpPr>
        <p:spPr>
          <a:xfrm>
            <a:off x="548640" y="2011680"/>
            <a:ext cx="2606040" cy="1828800"/>
          </a:xfrm>
          <a:prstGeom prst="roundRect">
            <a:avLst>
              <a:gd name="adj" fmla="val 5000"/>
            </a:avLst>
          </a:prstGeom>
          <a:solidFill>
            <a:schemeClr val="bg2"/>
          </a:solidFill>
          <a:ln w="12700">
            <a:solidFill>
              <a:schemeClr val="bg2"/>
            </a:solidFill>
            <a:prstDash val="solid"/>
          </a:ln>
        </p:spPr>
      </p:sp>
      <p:sp>
        <p:nvSpPr>
          <p:cNvPr id="5" name="icon circle Task 1"/>
          <p:cNvSpPr/>
          <p:nvPr/>
        </p:nvSpPr>
        <p:spPr>
          <a:xfrm>
            <a:off x="777240" y="2240280"/>
            <a:ext cx="566928" cy="566928"/>
          </a:xfrm>
          <a:prstGeom prst="ellipse">
            <a:avLst/>
          </a:prstGeom>
          <a:solidFill>
            <a:schemeClr val="accent1"/>
          </a:solidFill>
          <a:ln w="12700">
            <a:solidFill>
              <a:srgbClr val="F2F3F5"/>
            </a:solidFill>
            <a:prstDash val="solid"/>
          </a:ln>
        </p:spPr>
      </p:sp>
      <p:pic>
        <p:nvPicPr>
          <p:cNvPr id="6" name="icon Task 1" descr="preencoded.png">    </p:cNvPr>
          <p:cNvPicPr>
            <a:picLocks noChangeAspect="1"/>
          </p:cNvPicPr>
          <p:nvPr/>
        </p:nvPicPr>
        <p:blipFill>
          <a:blip r:embed="rId1"/>
          <a:stretch>
            <a:fillRect/>
          </a:stretch>
        </p:blipFill>
        <p:spPr>
          <a:xfrm>
            <a:off x="905256" y="2368296"/>
            <a:ext cx="310896" cy="310896"/>
          </a:xfrm>
          <a:prstGeom prst="rect">
            <a:avLst/>
          </a:prstGeom>
        </p:spPr>
      </p:pic>
      <p:sp>
        <p:nvSpPr>
          <p:cNvPr id="7" name="Text 4"/>
          <p:cNvSpPr txBox="1"/>
          <p:nvPr/>
        </p:nvSpPr>
        <p:spPr>
          <a:xfrm>
            <a:off x="1463040" y="2304288"/>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Task 1</a:t>
            </a:r>
            <a:endParaRPr lang="en-US" sz="1500" dirty="0"/>
          </a:p>
        </p:txBody>
      </p:sp>
      <p:sp>
        <p:nvSpPr>
          <p:cNvPr id="8" name="Text 5"/>
          <p:cNvSpPr txBox="1"/>
          <p:nvPr/>
        </p:nvSpPr>
        <p:spPr>
          <a:xfrm>
            <a:off x="777240" y="2926080"/>
            <a:ext cx="2194560" cy="777240"/>
          </a:xfrm>
          <a:prstGeom prst="rect">
            <a:avLst/>
          </a:prstGeom>
          <a:noFill/>
          <a:ln/>
        </p:spPr>
        <p:txBody>
          <a:bodyPr wrap="square" lIns="0" tIns="0" rIns="0" bIns="0" rtlCol="0" anchor="t"/>
          <a:lstStyle/>
          <a:p>
            <a:pPr indent="0" marL="0">
              <a:buNone/>
            </a:pPr>
            <a:r>
              <a:rPr lang="en-US" sz="1400" dirty="0">
                <a:solidFill>
                  <a:schemeClr val="tx1"/>
                </a:solidFill>
              </a:rPr>
              <a:t>Which title words go with higher pay?</a:t>
            </a:r>
            <a:endParaRPr lang="en-US" sz="1400" dirty="0"/>
          </a:p>
        </p:txBody>
      </p:sp>
      <p:sp>
        <p:nvSpPr>
          <p:cNvPr id="9" name="card Task 2"/>
          <p:cNvSpPr/>
          <p:nvPr/>
        </p:nvSpPr>
        <p:spPr>
          <a:xfrm>
            <a:off x="3355848" y="2011680"/>
            <a:ext cx="2606040" cy="1828800"/>
          </a:xfrm>
          <a:prstGeom prst="roundRect">
            <a:avLst>
              <a:gd name="adj" fmla="val 5000"/>
            </a:avLst>
          </a:prstGeom>
          <a:solidFill>
            <a:schemeClr val="bg2"/>
          </a:solidFill>
          <a:ln w="12700">
            <a:solidFill>
              <a:schemeClr val="bg2"/>
            </a:solidFill>
            <a:prstDash val="solid"/>
          </a:ln>
        </p:spPr>
      </p:sp>
      <p:sp>
        <p:nvSpPr>
          <p:cNvPr id="10" name="icon circle Task 2"/>
          <p:cNvSpPr/>
          <p:nvPr/>
        </p:nvSpPr>
        <p:spPr>
          <a:xfrm>
            <a:off x="3584448" y="2240280"/>
            <a:ext cx="566928" cy="566928"/>
          </a:xfrm>
          <a:prstGeom prst="ellipse">
            <a:avLst/>
          </a:prstGeom>
          <a:solidFill>
            <a:schemeClr val="accent2"/>
          </a:solidFill>
          <a:ln w="12700">
            <a:solidFill>
              <a:srgbClr val="F2F3F5"/>
            </a:solidFill>
            <a:prstDash val="solid"/>
          </a:ln>
        </p:spPr>
      </p:sp>
      <p:pic>
        <p:nvPicPr>
          <p:cNvPr id="11" name="icon Task 2" descr="preencoded.png">    </p:cNvPr>
          <p:cNvPicPr>
            <a:picLocks noChangeAspect="1"/>
          </p:cNvPicPr>
          <p:nvPr/>
        </p:nvPicPr>
        <p:blipFill>
          <a:blip r:embed="rId2"/>
          <a:stretch>
            <a:fillRect/>
          </a:stretch>
        </p:blipFill>
        <p:spPr>
          <a:xfrm>
            <a:off x="3712464" y="2368296"/>
            <a:ext cx="310896" cy="310896"/>
          </a:xfrm>
          <a:prstGeom prst="rect">
            <a:avLst/>
          </a:prstGeom>
        </p:spPr>
      </p:pic>
      <p:sp>
        <p:nvSpPr>
          <p:cNvPr id="12" name="Text 8"/>
          <p:cNvSpPr txBox="1"/>
          <p:nvPr/>
        </p:nvSpPr>
        <p:spPr>
          <a:xfrm>
            <a:off x="4270248" y="2304288"/>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Task 2</a:t>
            </a:r>
            <a:endParaRPr lang="en-US" sz="1500" dirty="0"/>
          </a:p>
        </p:txBody>
      </p:sp>
      <p:sp>
        <p:nvSpPr>
          <p:cNvPr id="13" name="Text 9"/>
          <p:cNvSpPr txBox="1"/>
          <p:nvPr/>
        </p:nvSpPr>
        <p:spPr>
          <a:xfrm>
            <a:off x="3584448" y="2926080"/>
            <a:ext cx="2194560" cy="777240"/>
          </a:xfrm>
          <a:prstGeom prst="rect">
            <a:avLst/>
          </a:prstGeom>
          <a:noFill/>
          <a:ln/>
        </p:spPr>
        <p:txBody>
          <a:bodyPr wrap="square" lIns="0" tIns="0" rIns="0" bIns="0" rtlCol="0" anchor="t"/>
          <a:lstStyle/>
          <a:p>
            <a:pPr indent="0" marL="0">
              <a:buNone/>
            </a:pPr>
            <a:r>
              <a:rPr lang="en-US" sz="1400" dirty="0">
                <a:solidFill>
                  <a:schemeClr val="tx1"/>
                </a:solidFill>
              </a:rPr>
              <a:t>Which kinds of work are emerging?</a:t>
            </a:r>
            <a:endParaRPr lang="en-US" sz="1400" dirty="0"/>
          </a:p>
        </p:txBody>
      </p:sp>
      <p:sp>
        <p:nvSpPr>
          <p:cNvPr id="14" name="card Task 3"/>
          <p:cNvSpPr/>
          <p:nvPr/>
        </p:nvSpPr>
        <p:spPr>
          <a:xfrm>
            <a:off x="6163056" y="2011680"/>
            <a:ext cx="2606040" cy="1828800"/>
          </a:xfrm>
          <a:prstGeom prst="roundRect">
            <a:avLst>
              <a:gd name="adj" fmla="val 5000"/>
            </a:avLst>
          </a:prstGeom>
          <a:solidFill>
            <a:schemeClr val="bg2"/>
          </a:solidFill>
          <a:ln w="12700">
            <a:solidFill>
              <a:schemeClr val="bg2"/>
            </a:solidFill>
            <a:prstDash val="solid"/>
          </a:ln>
        </p:spPr>
      </p:sp>
      <p:sp>
        <p:nvSpPr>
          <p:cNvPr id="15" name="icon circle Task 3"/>
          <p:cNvSpPr/>
          <p:nvPr/>
        </p:nvSpPr>
        <p:spPr>
          <a:xfrm>
            <a:off x="6391656" y="2240280"/>
            <a:ext cx="566928" cy="566928"/>
          </a:xfrm>
          <a:prstGeom prst="ellipse">
            <a:avLst/>
          </a:prstGeom>
          <a:solidFill>
            <a:schemeClr val="accent1"/>
          </a:solidFill>
          <a:ln w="12700">
            <a:solidFill>
              <a:srgbClr val="F2F3F5"/>
            </a:solidFill>
            <a:prstDash val="solid"/>
          </a:ln>
        </p:spPr>
      </p:sp>
      <p:pic>
        <p:nvPicPr>
          <p:cNvPr id="16" name="icon Task 3" descr="preencoded.png">    </p:cNvPr>
          <p:cNvPicPr>
            <a:picLocks noChangeAspect="1"/>
          </p:cNvPicPr>
          <p:nvPr/>
        </p:nvPicPr>
        <p:blipFill>
          <a:blip r:embed="rId3"/>
          <a:stretch>
            <a:fillRect/>
          </a:stretch>
        </p:blipFill>
        <p:spPr>
          <a:xfrm>
            <a:off x="6519672" y="2368296"/>
            <a:ext cx="310896" cy="310896"/>
          </a:xfrm>
          <a:prstGeom prst="rect">
            <a:avLst/>
          </a:prstGeom>
        </p:spPr>
      </p:pic>
      <p:sp>
        <p:nvSpPr>
          <p:cNvPr id="17" name="Text 12"/>
          <p:cNvSpPr txBox="1"/>
          <p:nvPr/>
        </p:nvSpPr>
        <p:spPr>
          <a:xfrm>
            <a:off x="7077456" y="2304288"/>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Task 3</a:t>
            </a:r>
            <a:endParaRPr lang="en-US" sz="1500" dirty="0"/>
          </a:p>
        </p:txBody>
      </p:sp>
      <p:sp>
        <p:nvSpPr>
          <p:cNvPr id="18" name="Text 13"/>
          <p:cNvSpPr txBox="1"/>
          <p:nvPr/>
        </p:nvSpPr>
        <p:spPr>
          <a:xfrm>
            <a:off x="6391656" y="2926080"/>
            <a:ext cx="2194560" cy="777240"/>
          </a:xfrm>
          <a:prstGeom prst="rect">
            <a:avLst/>
          </a:prstGeom>
          <a:noFill/>
          <a:ln/>
        </p:spPr>
        <p:txBody>
          <a:bodyPr wrap="square" lIns="0" tIns="0" rIns="0" bIns="0" rtlCol="0" anchor="t"/>
          <a:lstStyle/>
          <a:p>
            <a:pPr indent="0" marL="0">
              <a:buNone/>
            </a:pPr>
            <a:r>
              <a:rPr lang="en-US" sz="1400" dirty="0">
                <a:solidFill>
                  <a:schemeClr val="tx1"/>
                </a:solidFill>
              </a:rPr>
              <a:t>Which roles will be in high demand?</a:t>
            </a:r>
            <a:endParaRPr lang="en-US" sz="1400" dirty="0"/>
          </a:p>
        </p:txBody>
      </p:sp>
      <p:sp>
        <p:nvSpPr>
          <p:cNvPr id="19" name="card Task 4"/>
          <p:cNvSpPr/>
          <p:nvPr/>
        </p:nvSpPr>
        <p:spPr>
          <a:xfrm>
            <a:off x="8970264" y="2011680"/>
            <a:ext cx="2606040" cy="1828800"/>
          </a:xfrm>
          <a:prstGeom prst="roundRect">
            <a:avLst>
              <a:gd name="adj" fmla="val 5000"/>
            </a:avLst>
          </a:prstGeom>
          <a:solidFill>
            <a:schemeClr val="bg2"/>
          </a:solidFill>
          <a:ln w="12700">
            <a:solidFill>
              <a:schemeClr val="bg2"/>
            </a:solidFill>
            <a:prstDash val="solid"/>
          </a:ln>
        </p:spPr>
      </p:sp>
      <p:sp>
        <p:nvSpPr>
          <p:cNvPr id="20" name="icon circle Task 4"/>
          <p:cNvSpPr/>
          <p:nvPr/>
        </p:nvSpPr>
        <p:spPr>
          <a:xfrm>
            <a:off x="9198864" y="2240280"/>
            <a:ext cx="566928" cy="566928"/>
          </a:xfrm>
          <a:prstGeom prst="ellipse">
            <a:avLst/>
          </a:prstGeom>
          <a:solidFill>
            <a:schemeClr val="accent2"/>
          </a:solidFill>
          <a:ln w="12700">
            <a:solidFill>
              <a:srgbClr val="F2F3F5"/>
            </a:solidFill>
            <a:prstDash val="solid"/>
          </a:ln>
        </p:spPr>
      </p:sp>
      <p:pic>
        <p:nvPicPr>
          <p:cNvPr id="21" name="icon Task 4" descr="preencoded.png">    </p:cNvPr>
          <p:cNvPicPr>
            <a:picLocks noChangeAspect="1"/>
          </p:cNvPicPr>
          <p:nvPr/>
        </p:nvPicPr>
        <p:blipFill>
          <a:blip r:embed="rId4"/>
          <a:stretch>
            <a:fillRect/>
          </a:stretch>
        </p:blipFill>
        <p:spPr>
          <a:xfrm>
            <a:off x="9326880" y="2368296"/>
            <a:ext cx="310896" cy="310896"/>
          </a:xfrm>
          <a:prstGeom prst="rect">
            <a:avLst/>
          </a:prstGeom>
        </p:spPr>
      </p:pic>
      <p:sp>
        <p:nvSpPr>
          <p:cNvPr id="22" name="Text 16"/>
          <p:cNvSpPr txBox="1"/>
          <p:nvPr/>
        </p:nvSpPr>
        <p:spPr>
          <a:xfrm>
            <a:off x="9884664" y="2304288"/>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Task 4</a:t>
            </a:r>
            <a:endParaRPr lang="en-US" sz="1500" dirty="0"/>
          </a:p>
        </p:txBody>
      </p:sp>
      <p:sp>
        <p:nvSpPr>
          <p:cNvPr id="23" name="Text 17"/>
          <p:cNvSpPr txBox="1"/>
          <p:nvPr/>
        </p:nvSpPr>
        <p:spPr>
          <a:xfrm>
            <a:off x="9198864" y="2926080"/>
            <a:ext cx="2194560" cy="777240"/>
          </a:xfrm>
          <a:prstGeom prst="rect">
            <a:avLst/>
          </a:prstGeom>
          <a:noFill/>
          <a:ln/>
        </p:spPr>
        <p:txBody>
          <a:bodyPr wrap="square" lIns="0" tIns="0" rIns="0" bIns="0" rtlCol="0" anchor="t"/>
          <a:lstStyle/>
          <a:p>
            <a:pPr indent="0" marL="0">
              <a:buNone/>
            </a:pPr>
            <a:r>
              <a:rPr lang="en-US" sz="1400" dirty="0">
                <a:solidFill>
                  <a:schemeClr val="tx1"/>
                </a:solidFill>
              </a:rPr>
              <a:t>How do hourly rates differ by country?</a:t>
            </a:r>
            <a:endParaRPr lang="en-US" sz="1400" dirty="0"/>
          </a:p>
        </p:txBody>
      </p:sp>
      <p:sp>
        <p:nvSpPr>
          <p:cNvPr id="24" name="card Task 5"/>
          <p:cNvSpPr/>
          <p:nvPr/>
        </p:nvSpPr>
        <p:spPr>
          <a:xfrm>
            <a:off x="548640" y="4114800"/>
            <a:ext cx="2606040" cy="1828800"/>
          </a:xfrm>
          <a:prstGeom prst="roundRect">
            <a:avLst>
              <a:gd name="adj" fmla="val 5000"/>
            </a:avLst>
          </a:prstGeom>
          <a:solidFill>
            <a:schemeClr val="bg2"/>
          </a:solidFill>
          <a:ln w="12700">
            <a:solidFill>
              <a:schemeClr val="bg2"/>
            </a:solidFill>
            <a:prstDash val="solid"/>
          </a:ln>
        </p:spPr>
      </p:sp>
      <p:sp>
        <p:nvSpPr>
          <p:cNvPr id="25" name="icon circle Task 5"/>
          <p:cNvSpPr/>
          <p:nvPr/>
        </p:nvSpPr>
        <p:spPr>
          <a:xfrm>
            <a:off x="777240" y="4343400"/>
            <a:ext cx="566928" cy="566928"/>
          </a:xfrm>
          <a:prstGeom prst="ellipse">
            <a:avLst/>
          </a:prstGeom>
          <a:solidFill>
            <a:schemeClr val="accent1"/>
          </a:solidFill>
          <a:ln w="12700">
            <a:solidFill>
              <a:srgbClr val="F2F3F5"/>
            </a:solidFill>
            <a:prstDash val="solid"/>
          </a:ln>
        </p:spPr>
      </p:sp>
      <p:pic>
        <p:nvPicPr>
          <p:cNvPr id="26" name="icon Task 5" descr="preencoded.png">    </p:cNvPr>
          <p:cNvPicPr>
            <a:picLocks noChangeAspect="1"/>
          </p:cNvPicPr>
          <p:nvPr/>
        </p:nvPicPr>
        <p:blipFill>
          <a:blip r:embed="rId5"/>
          <a:stretch>
            <a:fillRect/>
          </a:stretch>
        </p:blipFill>
        <p:spPr>
          <a:xfrm>
            <a:off x="905256" y="4471416"/>
            <a:ext cx="310896" cy="310896"/>
          </a:xfrm>
          <a:prstGeom prst="rect">
            <a:avLst/>
          </a:prstGeom>
        </p:spPr>
      </p:pic>
      <p:sp>
        <p:nvSpPr>
          <p:cNvPr id="27" name="Text 20"/>
          <p:cNvSpPr txBox="1"/>
          <p:nvPr/>
        </p:nvSpPr>
        <p:spPr>
          <a:xfrm>
            <a:off x="1463040" y="4407408"/>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Task 5</a:t>
            </a:r>
            <a:endParaRPr lang="en-US" sz="1500" dirty="0"/>
          </a:p>
        </p:txBody>
      </p:sp>
      <p:sp>
        <p:nvSpPr>
          <p:cNvPr id="28" name="Text 21"/>
          <p:cNvSpPr txBox="1"/>
          <p:nvPr/>
        </p:nvSpPr>
        <p:spPr>
          <a:xfrm>
            <a:off x="777240" y="5029200"/>
            <a:ext cx="2194560" cy="777240"/>
          </a:xfrm>
          <a:prstGeom prst="rect">
            <a:avLst/>
          </a:prstGeom>
          <a:noFill/>
          <a:ln/>
        </p:spPr>
        <p:txBody>
          <a:bodyPr wrap="square" lIns="0" tIns="0" rIns="0" bIns="0" rtlCol="0" anchor="t"/>
          <a:lstStyle/>
          <a:p>
            <a:pPr indent="0" marL="0">
              <a:buNone/>
            </a:pPr>
            <a:r>
              <a:rPr lang="en-US" sz="1400" dirty="0">
                <a:solidFill>
                  <a:schemeClr val="tx1"/>
                </a:solidFill>
              </a:rPr>
              <a:t>Can I recommend jobs from skills?</a:t>
            </a:r>
            <a:endParaRPr lang="en-US" sz="1400" dirty="0"/>
          </a:p>
        </p:txBody>
      </p:sp>
      <p:sp>
        <p:nvSpPr>
          <p:cNvPr id="29" name="card Task 6"/>
          <p:cNvSpPr/>
          <p:nvPr/>
        </p:nvSpPr>
        <p:spPr>
          <a:xfrm>
            <a:off x="3355848" y="4114800"/>
            <a:ext cx="2606040" cy="1828800"/>
          </a:xfrm>
          <a:prstGeom prst="roundRect">
            <a:avLst>
              <a:gd name="adj" fmla="val 5000"/>
            </a:avLst>
          </a:prstGeom>
          <a:solidFill>
            <a:schemeClr val="bg2"/>
          </a:solidFill>
          <a:ln w="12700">
            <a:solidFill>
              <a:schemeClr val="bg2"/>
            </a:solidFill>
            <a:prstDash val="solid"/>
          </a:ln>
        </p:spPr>
      </p:sp>
      <p:sp>
        <p:nvSpPr>
          <p:cNvPr id="30" name="icon circle Task 6"/>
          <p:cNvSpPr/>
          <p:nvPr/>
        </p:nvSpPr>
        <p:spPr>
          <a:xfrm>
            <a:off x="3584448" y="4343400"/>
            <a:ext cx="566928" cy="566928"/>
          </a:xfrm>
          <a:prstGeom prst="ellipse">
            <a:avLst/>
          </a:prstGeom>
          <a:solidFill>
            <a:schemeClr val="accent2"/>
          </a:solidFill>
          <a:ln w="12700">
            <a:solidFill>
              <a:srgbClr val="F2F3F5"/>
            </a:solidFill>
            <a:prstDash val="solid"/>
          </a:ln>
        </p:spPr>
      </p:sp>
      <p:pic>
        <p:nvPicPr>
          <p:cNvPr id="31" name="icon Task 6" descr="preencoded.png">    </p:cNvPr>
          <p:cNvPicPr>
            <a:picLocks noChangeAspect="1"/>
          </p:cNvPicPr>
          <p:nvPr/>
        </p:nvPicPr>
        <p:blipFill>
          <a:blip r:embed="rId6"/>
          <a:stretch>
            <a:fillRect/>
          </a:stretch>
        </p:blipFill>
        <p:spPr>
          <a:xfrm>
            <a:off x="3712464" y="4471416"/>
            <a:ext cx="310896" cy="310896"/>
          </a:xfrm>
          <a:prstGeom prst="rect">
            <a:avLst/>
          </a:prstGeom>
        </p:spPr>
      </p:pic>
      <p:sp>
        <p:nvSpPr>
          <p:cNvPr id="32" name="Text 24"/>
          <p:cNvSpPr txBox="1"/>
          <p:nvPr/>
        </p:nvSpPr>
        <p:spPr>
          <a:xfrm>
            <a:off x="4270248" y="4407408"/>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Task 6</a:t>
            </a:r>
            <a:endParaRPr lang="en-US" sz="1500" dirty="0"/>
          </a:p>
        </p:txBody>
      </p:sp>
      <p:sp>
        <p:nvSpPr>
          <p:cNvPr id="33" name="Text 25"/>
          <p:cNvSpPr txBox="1"/>
          <p:nvPr/>
        </p:nvSpPr>
        <p:spPr>
          <a:xfrm>
            <a:off x="3584448" y="5029200"/>
            <a:ext cx="2194560" cy="777240"/>
          </a:xfrm>
          <a:prstGeom prst="rect">
            <a:avLst/>
          </a:prstGeom>
          <a:noFill/>
          <a:ln/>
        </p:spPr>
        <p:txBody>
          <a:bodyPr wrap="square" lIns="0" tIns="0" rIns="0" bIns="0" rtlCol="0" anchor="t"/>
          <a:lstStyle/>
          <a:p>
            <a:pPr indent="0" marL="0">
              <a:buNone/>
            </a:pPr>
            <a:r>
              <a:rPr lang="en-US" sz="1400" dirty="0">
                <a:solidFill>
                  <a:schemeClr val="tx1"/>
                </a:solidFill>
              </a:rPr>
              <a:t>How can the market be tracked monthly?</a:t>
            </a:r>
            <a:endParaRPr lang="en-US" sz="1400" dirty="0"/>
          </a:p>
        </p:txBody>
      </p:sp>
      <p:sp>
        <p:nvSpPr>
          <p:cNvPr id="34" name="card Task 7"/>
          <p:cNvSpPr/>
          <p:nvPr/>
        </p:nvSpPr>
        <p:spPr>
          <a:xfrm>
            <a:off x="6163056" y="4114800"/>
            <a:ext cx="2606040" cy="1828800"/>
          </a:xfrm>
          <a:prstGeom prst="roundRect">
            <a:avLst>
              <a:gd name="adj" fmla="val 5000"/>
            </a:avLst>
          </a:prstGeom>
          <a:solidFill>
            <a:schemeClr val="bg2"/>
          </a:solidFill>
          <a:ln w="12700">
            <a:solidFill>
              <a:schemeClr val="bg2"/>
            </a:solidFill>
            <a:prstDash val="solid"/>
          </a:ln>
        </p:spPr>
      </p:sp>
      <p:sp>
        <p:nvSpPr>
          <p:cNvPr id="35" name="icon circle Task 7"/>
          <p:cNvSpPr/>
          <p:nvPr/>
        </p:nvSpPr>
        <p:spPr>
          <a:xfrm>
            <a:off x="6391656" y="4343400"/>
            <a:ext cx="566928" cy="566928"/>
          </a:xfrm>
          <a:prstGeom prst="ellipse">
            <a:avLst/>
          </a:prstGeom>
          <a:solidFill>
            <a:schemeClr val="accent1"/>
          </a:solidFill>
          <a:ln w="12700">
            <a:solidFill>
              <a:srgbClr val="F2F3F5"/>
            </a:solidFill>
            <a:prstDash val="solid"/>
          </a:ln>
        </p:spPr>
      </p:sp>
      <p:pic>
        <p:nvPicPr>
          <p:cNvPr id="36" name="icon Task 7" descr="preencoded.png">    </p:cNvPr>
          <p:cNvPicPr>
            <a:picLocks noChangeAspect="1"/>
          </p:cNvPicPr>
          <p:nvPr/>
        </p:nvPicPr>
        <p:blipFill>
          <a:blip r:embed="rId7"/>
          <a:stretch>
            <a:fillRect/>
          </a:stretch>
        </p:blipFill>
        <p:spPr>
          <a:xfrm>
            <a:off x="6519672" y="4471416"/>
            <a:ext cx="310896" cy="310896"/>
          </a:xfrm>
          <a:prstGeom prst="rect">
            <a:avLst/>
          </a:prstGeom>
        </p:spPr>
      </p:pic>
      <p:sp>
        <p:nvSpPr>
          <p:cNvPr id="37" name="Text 28"/>
          <p:cNvSpPr txBox="1"/>
          <p:nvPr/>
        </p:nvSpPr>
        <p:spPr>
          <a:xfrm>
            <a:off x="7077456" y="4407408"/>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Task 7</a:t>
            </a:r>
            <a:endParaRPr lang="en-US" sz="1500" dirty="0"/>
          </a:p>
        </p:txBody>
      </p:sp>
      <p:sp>
        <p:nvSpPr>
          <p:cNvPr id="38" name="Text 29"/>
          <p:cNvSpPr txBox="1"/>
          <p:nvPr/>
        </p:nvSpPr>
        <p:spPr>
          <a:xfrm>
            <a:off x="6391656" y="5029200"/>
            <a:ext cx="2194560" cy="777240"/>
          </a:xfrm>
          <a:prstGeom prst="rect">
            <a:avLst/>
          </a:prstGeom>
          <a:noFill/>
          <a:ln/>
        </p:spPr>
        <p:txBody>
          <a:bodyPr wrap="square" lIns="0" tIns="0" rIns="0" bIns="0" rtlCol="0" anchor="t"/>
          <a:lstStyle/>
          <a:p>
            <a:pPr indent="0" marL="0">
              <a:buNone/>
            </a:pPr>
            <a:r>
              <a:rPr lang="en-US" sz="1400" dirty="0">
                <a:solidFill>
                  <a:schemeClr val="tx1"/>
                </a:solidFill>
              </a:rPr>
              <a:t>What is changing in remote hiring?</a:t>
            </a:r>
            <a:endParaRPr lang="en-US" sz="1400" dirty="0"/>
          </a:p>
        </p:txBody>
      </p:sp>
      <p:sp>
        <p:nvSpPr>
          <p:cNvPr id="39" name="card Task 8"/>
          <p:cNvSpPr/>
          <p:nvPr/>
        </p:nvSpPr>
        <p:spPr>
          <a:xfrm>
            <a:off x="8970264" y="4114800"/>
            <a:ext cx="2606040" cy="1828800"/>
          </a:xfrm>
          <a:prstGeom prst="roundRect">
            <a:avLst>
              <a:gd name="adj" fmla="val 5000"/>
            </a:avLst>
          </a:prstGeom>
          <a:solidFill>
            <a:schemeClr val="bg2"/>
          </a:solidFill>
          <a:ln w="12700">
            <a:solidFill>
              <a:schemeClr val="bg2"/>
            </a:solidFill>
            <a:prstDash val="solid"/>
          </a:ln>
        </p:spPr>
      </p:sp>
      <p:sp>
        <p:nvSpPr>
          <p:cNvPr id="40" name="icon circle Task 8"/>
          <p:cNvSpPr/>
          <p:nvPr/>
        </p:nvSpPr>
        <p:spPr>
          <a:xfrm>
            <a:off x="9198864" y="4343400"/>
            <a:ext cx="566928" cy="566928"/>
          </a:xfrm>
          <a:prstGeom prst="ellipse">
            <a:avLst/>
          </a:prstGeom>
          <a:solidFill>
            <a:schemeClr val="accent2"/>
          </a:solidFill>
          <a:ln w="12700">
            <a:solidFill>
              <a:srgbClr val="F2F3F5"/>
            </a:solidFill>
            <a:prstDash val="solid"/>
          </a:ln>
        </p:spPr>
      </p:sp>
      <p:pic>
        <p:nvPicPr>
          <p:cNvPr id="41" name="icon Task 8" descr="preencoded.png">    </p:cNvPr>
          <p:cNvPicPr>
            <a:picLocks noChangeAspect="1"/>
          </p:cNvPicPr>
          <p:nvPr/>
        </p:nvPicPr>
        <p:blipFill>
          <a:blip r:embed="rId8"/>
          <a:stretch>
            <a:fillRect/>
          </a:stretch>
        </p:blipFill>
        <p:spPr>
          <a:xfrm>
            <a:off x="9326880" y="4471416"/>
            <a:ext cx="310896" cy="310896"/>
          </a:xfrm>
          <a:prstGeom prst="rect">
            <a:avLst/>
          </a:prstGeom>
        </p:spPr>
      </p:pic>
      <p:sp>
        <p:nvSpPr>
          <p:cNvPr id="42" name="Text 32"/>
          <p:cNvSpPr txBox="1"/>
          <p:nvPr/>
        </p:nvSpPr>
        <p:spPr>
          <a:xfrm>
            <a:off x="9884664" y="4407408"/>
            <a:ext cx="1554480" cy="411480"/>
          </a:xfrm>
          <a:prstGeom prst="rect">
            <a:avLst/>
          </a:prstGeom>
          <a:noFill/>
          <a:ln/>
        </p:spPr>
        <p:txBody>
          <a:bodyPr wrap="square" lIns="0" tIns="0" rIns="0" bIns="0" rtlCol="0" anchor="ctr"/>
          <a:lstStyle/>
          <a:p>
            <a:pPr indent="0" marL="0">
              <a:buNone/>
            </a:pPr>
            <a:r>
              <a:rPr lang="en-US" sz="1500" b="1" dirty="0">
                <a:solidFill>
                  <a:schemeClr val="tx1"/>
                </a:solidFill>
              </a:rPr>
              <a:t>Task 8</a:t>
            </a:r>
            <a:endParaRPr lang="en-US" sz="1500" dirty="0"/>
          </a:p>
        </p:txBody>
      </p:sp>
      <p:sp>
        <p:nvSpPr>
          <p:cNvPr id="43" name="Text 33"/>
          <p:cNvSpPr txBox="1"/>
          <p:nvPr/>
        </p:nvSpPr>
        <p:spPr>
          <a:xfrm>
            <a:off x="9198864" y="5029200"/>
            <a:ext cx="2194560" cy="777240"/>
          </a:xfrm>
          <a:prstGeom prst="rect">
            <a:avLst/>
          </a:prstGeom>
          <a:noFill/>
          <a:ln/>
        </p:spPr>
        <p:txBody>
          <a:bodyPr wrap="square" lIns="0" tIns="0" rIns="0" bIns="0" rtlCol="0" anchor="t"/>
          <a:lstStyle/>
          <a:p>
            <a:pPr indent="0" marL="0">
              <a:buNone/>
            </a:pPr>
            <a:r>
              <a:rPr lang="en-US" sz="1400" dirty="0">
                <a:solidFill>
                  <a:schemeClr val="tx1"/>
                </a:solidFill>
              </a:rPr>
              <a:t>What do the next weeks look like?</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First: what the data can and cannot answer</a:t>
            </a:r>
            <a:endParaRPr lang="en-US" sz="3000" dirty="0"/>
          </a:p>
        </p:txBody>
      </p:sp>
      <p:sp>
        <p:nvSpPr>
          <p:cNvPr id="3" name="in the data"/>
          <p:cNvSpPr/>
          <p:nvPr/>
        </p:nvSpPr>
        <p:spPr>
          <a:xfrm>
            <a:off x="548640" y="1463040"/>
            <a:ext cx="3291840" cy="2240280"/>
          </a:xfrm>
          <a:prstGeom prst="roundRect">
            <a:avLst>
              <a:gd name="adj" fmla="val 4082"/>
            </a:avLst>
          </a:prstGeom>
          <a:solidFill>
            <a:schemeClr val="bg2"/>
          </a:solidFill>
          <a:ln w="12700">
            <a:solidFill>
              <a:schemeClr val="bg2"/>
            </a:solidFill>
            <a:prstDash val="solid"/>
          </a:ln>
        </p:spPr>
      </p:sp>
      <p:sp>
        <p:nvSpPr>
          <p:cNvPr id="4" name="Text 2"/>
          <p:cNvSpPr txBox="1"/>
          <p:nvPr/>
        </p:nvSpPr>
        <p:spPr>
          <a:xfrm>
            <a:off x="777240" y="1600200"/>
            <a:ext cx="2926080" cy="2011680"/>
          </a:xfrm>
          <a:prstGeom prst="rect">
            <a:avLst/>
          </a:prstGeom>
          <a:noFill/>
          <a:ln/>
        </p:spPr>
        <p:txBody>
          <a:bodyPr wrap="square" lIns="0" tIns="0" rIns="0" bIns="0" rtlCol="0" anchor="t"/>
          <a:lstStyle/>
          <a:p>
            <a:pPr indent="0" marL="0">
              <a:spcAft>
                <a:spcPts val="400"/>
              </a:spcAft>
              <a:buNone/>
            </a:pPr>
            <a:r>
              <a:rPr lang="en-US" sz="1600" b="1" dirty="0">
                <a:solidFill>
                  <a:schemeClr val="accent4"/>
                </a:solidFill>
              </a:rPr>
              <a:t>In the data</a:t>
            </a:r>
            <a:endParaRPr lang="en-US" sz="1400" dirty="0"/>
          </a:p>
          <a:p>
            <a:pPr marL="342900" indent="-342900">
              <a:spcAft>
                <a:spcPts val="400"/>
              </a:spcAft>
              <a:buSzPct val="100000"/>
              <a:buChar char="•"/>
            </a:pPr>
            <a:r>
              <a:rPr lang="en-US" sz="1400" dirty="0">
                <a:solidFill>
                  <a:schemeClr val="tx1"/>
                </a:solidFill>
              </a:rPr>
              <a:t>Job title</a:t>
            </a:r>
            <a:endParaRPr lang="en-US" sz="1400" dirty="0"/>
          </a:p>
          <a:p>
            <a:pPr marL="342900" indent="-342900">
              <a:spcAft>
                <a:spcPts val="400"/>
              </a:spcAft>
              <a:buSzPct val="100000"/>
              <a:buChar char="•"/>
            </a:pPr>
            <a:r>
              <a:rPr lang="en-US" sz="1400" dirty="0">
                <a:solidFill>
                  <a:schemeClr val="tx1"/>
                </a:solidFill>
              </a:rPr>
              <a:t>Hourly range or fixed budget</a:t>
            </a:r>
            <a:endParaRPr lang="en-US" sz="1400" dirty="0"/>
          </a:p>
          <a:p>
            <a:pPr marL="342900" indent="-342900">
              <a:spcAft>
                <a:spcPts val="400"/>
              </a:spcAft>
              <a:buSzPct val="100000"/>
              <a:buChar char="•"/>
            </a:pPr>
            <a:r>
              <a:rPr lang="en-US" sz="1400" dirty="0">
                <a:solidFill>
                  <a:schemeClr val="tx1"/>
                </a:solidFill>
              </a:rPr>
              <a:t>Client country</a:t>
            </a:r>
            <a:endParaRPr lang="en-US" sz="1400" dirty="0"/>
          </a:p>
          <a:p>
            <a:pPr marL="342900" indent="-342900">
              <a:spcAft>
                <a:spcPts val="400"/>
              </a:spcAft>
              <a:buSzPct val="100000"/>
              <a:buChar char="•"/>
            </a:pPr>
            <a:r>
              <a:rPr lang="en-US" sz="1400" dirty="0">
                <a:solidFill>
                  <a:schemeClr val="tx1"/>
                </a:solidFill>
              </a:rPr>
              <a:t>Posting time</a:t>
            </a:r>
            <a:endParaRPr lang="en-US" sz="1400" dirty="0"/>
          </a:p>
        </p:txBody>
      </p:sp>
      <p:sp>
        <p:nvSpPr>
          <p:cNvPr id="5" name="not in the data"/>
          <p:cNvSpPr/>
          <p:nvPr/>
        </p:nvSpPr>
        <p:spPr>
          <a:xfrm>
            <a:off x="548640" y="3886200"/>
            <a:ext cx="3291840" cy="2148840"/>
          </a:xfrm>
          <a:prstGeom prst="roundRect">
            <a:avLst>
              <a:gd name="adj" fmla="val 4255"/>
            </a:avLst>
          </a:prstGeom>
          <a:solidFill>
            <a:schemeClr val="bg2"/>
          </a:solidFill>
          <a:ln w="12700">
            <a:solidFill>
              <a:schemeClr val="bg2"/>
            </a:solidFill>
            <a:prstDash val="solid"/>
          </a:ln>
        </p:spPr>
      </p:sp>
      <p:sp>
        <p:nvSpPr>
          <p:cNvPr id="6" name="Text 4"/>
          <p:cNvSpPr txBox="1"/>
          <p:nvPr/>
        </p:nvSpPr>
        <p:spPr>
          <a:xfrm>
            <a:off x="777240" y="4023360"/>
            <a:ext cx="2926080" cy="1920240"/>
          </a:xfrm>
          <a:prstGeom prst="rect">
            <a:avLst/>
          </a:prstGeom>
          <a:noFill/>
          <a:ln/>
        </p:spPr>
        <p:txBody>
          <a:bodyPr wrap="square" lIns="0" tIns="0" rIns="0" bIns="0" rtlCol="0" anchor="t"/>
          <a:lstStyle/>
          <a:p>
            <a:pPr indent="0" marL="0">
              <a:spcAft>
                <a:spcPts val="400"/>
              </a:spcAft>
              <a:buNone/>
            </a:pPr>
            <a:r>
              <a:rPr lang="en-US" sz="1600" b="1" dirty="0">
                <a:solidFill>
                  <a:schemeClr val="accent1"/>
                </a:solidFill>
              </a:rPr>
              <a:t>Not in the data</a:t>
            </a:r>
            <a:endParaRPr lang="en-US" sz="1400" dirty="0"/>
          </a:p>
          <a:p>
            <a:pPr marL="342900" indent="-342900">
              <a:spcAft>
                <a:spcPts val="400"/>
              </a:spcAft>
              <a:buSzPct val="100000"/>
              <a:buChar char="•"/>
            </a:pPr>
            <a:r>
              <a:rPr lang="en-US" sz="1400" dirty="0">
                <a:solidFill>
                  <a:schemeClr val="tx1"/>
                </a:solidFill>
              </a:rPr>
              <a:t>Job descriptions</a:t>
            </a:r>
            <a:endParaRPr lang="en-US" sz="1400" dirty="0"/>
          </a:p>
          <a:p>
            <a:pPr marL="342900" indent="-342900">
              <a:spcAft>
                <a:spcPts val="400"/>
              </a:spcAft>
              <a:buSzPct val="100000"/>
              <a:buChar char="•"/>
            </a:pPr>
            <a:r>
              <a:rPr lang="en-US" sz="1400" dirty="0">
                <a:solidFill>
                  <a:schemeClr val="tx1"/>
                </a:solidFill>
              </a:rPr>
              <a:t>A remote / on-site field</a:t>
            </a:r>
            <a:endParaRPr lang="en-US" sz="1400" dirty="0"/>
          </a:p>
          <a:p>
            <a:pPr marL="342900" indent="-342900">
              <a:spcAft>
                <a:spcPts val="400"/>
              </a:spcAft>
              <a:buSzPct val="100000"/>
              <a:buChar char="•"/>
            </a:pPr>
            <a:r>
              <a:rPr lang="en-US" sz="1400" dirty="0">
                <a:solidFill>
                  <a:schemeClr val="tx1"/>
                </a:solidFill>
              </a:rPr>
              <a:t>What freelancers finally earn</a:t>
            </a:r>
            <a:endParaRPr lang="en-US" sz="1400" dirty="0"/>
          </a:p>
        </p:txBody>
      </p:sp>
      <p:pic>
        <p:nvPicPr>
          <p:cNvPr id="7" name="figure 1 daily volume" descr="/home/claude/deck/assets/f1_daily_volume.png">    </p:cNvPr>
          <p:cNvPicPr>
            <a:picLocks noChangeAspect="1"/>
          </p:cNvPicPr>
          <p:nvPr/>
        </p:nvPicPr>
        <p:blipFill>
          <a:blip r:embed="rId1"/>
          <a:stretch>
            <a:fillRect/>
          </a:stretch>
        </p:blipFill>
        <p:spPr>
          <a:xfrm>
            <a:off x="4206240" y="1600200"/>
            <a:ext cx="7406640" cy="3326456"/>
          </a:xfrm>
          <a:prstGeom prst="rect">
            <a:avLst/>
          </a:prstGeom>
        </p:spPr>
      </p:pic>
      <p:sp>
        <p:nvSpPr>
          <p:cNvPr id="8" name="stat days"/>
          <p:cNvSpPr txBox="1"/>
          <p:nvPr/>
        </p:nvSpPr>
        <p:spPr>
          <a:xfrm>
            <a:off x="4206240" y="5200976"/>
            <a:ext cx="3474720" cy="1005840"/>
          </a:xfrm>
          <a:prstGeom prst="rect">
            <a:avLst/>
          </a:prstGeom>
          <a:noFill/>
          <a:ln/>
        </p:spPr>
        <p:txBody>
          <a:bodyPr wrap="square" lIns="0" tIns="0" rIns="0" bIns="0" rtlCol="0" anchor="t"/>
          <a:lstStyle/>
          <a:p>
            <a:pPr indent="0" marL="0">
              <a:buNone/>
            </a:pPr>
            <a:r>
              <a:rPr lang="en-US" sz="3000" b="1" dirty="0">
                <a:solidFill>
                  <a:schemeClr val="accent1"/>
                </a:solidFill>
              </a:rPr>
              <a:t>37 days</a:t>
            </a:r>
            <a:endParaRPr lang="en-US" sz="3000" dirty="0"/>
          </a:p>
          <a:p>
            <a:pPr indent="0" marL="0">
              <a:buNone/>
            </a:pPr>
            <a:r>
              <a:rPr lang="en-US" sz="1400" dirty="0">
                <a:solidFill>
                  <a:schemeClr val="tx1"/>
                </a:solidFill>
              </a:rPr>
              <a:t>reliable window, 16 Feb to 23 Mar 2024</a:t>
            </a:r>
            <a:endParaRPr lang="en-US" sz="3000" dirty="0"/>
          </a:p>
        </p:txBody>
      </p:sp>
      <p:sp>
        <p:nvSpPr>
          <p:cNvPr id="9" name="stat jobs"/>
          <p:cNvSpPr txBox="1"/>
          <p:nvPr/>
        </p:nvSpPr>
        <p:spPr>
          <a:xfrm>
            <a:off x="7863840" y="5200976"/>
            <a:ext cx="3749040" cy="1005840"/>
          </a:xfrm>
          <a:prstGeom prst="rect">
            <a:avLst/>
          </a:prstGeom>
          <a:noFill/>
          <a:ln/>
        </p:spPr>
        <p:txBody>
          <a:bodyPr wrap="square" lIns="0" tIns="0" rIns="0" bIns="0" rtlCol="0" anchor="t"/>
          <a:lstStyle/>
          <a:p>
            <a:pPr indent="0" marL="0">
              <a:buNone/>
            </a:pPr>
            <a:r>
              <a:rPr lang="en-US" sz="3000" b="1" dirty="0">
                <a:solidFill>
                  <a:schemeClr val="accent1"/>
                </a:solidFill>
              </a:rPr>
              <a:t>229,520 jobs</a:t>
            </a:r>
            <a:endParaRPr lang="en-US" sz="3000" dirty="0"/>
          </a:p>
          <a:p>
            <a:pPr indent="0" marL="0">
              <a:buNone/>
            </a:pPr>
            <a:r>
              <a:rPr lang="en-US" sz="1400" dirty="0">
                <a:solidFill>
                  <a:schemeClr val="tx1"/>
                </a:solidFill>
              </a:rPr>
              <a:t>inside that window</a:t>
            </a:r>
            <a:endParaRPr lang="en-US" sz="30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How I work: one pipeline, rules fixed before evaluation</a:t>
            </a:r>
            <a:endParaRPr lang="en-US" sz="3000" dirty="0"/>
          </a:p>
        </p:txBody>
      </p:sp>
      <p:sp>
        <p:nvSpPr>
          <p:cNvPr id="3" name="step Raw CSV"/>
          <p:cNvSpPr/>
          <p:nvPr/>
        </p:nvSpPr>
        <p:spPr>
          <a:xfrm>
            <a:off x="548640" y="1600200"/>
            <a:ext cx="1600200" cy="1143000"/>
          </a:xfrm>
          <a:prstGeom prst="roundRect">
            <a:avLst>
              <a:gd name="adj" fmla="val 8000"/>
            </a:avLst>
          </a:prstGeom>
          <a:solidFill>
            <a:schemeClr val="tx2"/>
          </a:solidFill>
          <a:ln w="12700">
            <a:solidFill>
              <a:srgbClr val="2A78D6"/>
            </a:solidFill>
            <a:prstDash val="solid"/>
          </a:ln>
        </p:spPr>
      </p:sp>
      <p:sp>
        <p:nvSpPr>
          <p:cNvPr id="4" name="Text 2"/>
          <p:cNvSpPr txBox="1"/>
          <p:nvPr/>
        </p:nvSpPr>
        <p:spPr>
          <a:xfrm>
            <a:off x="548640" y="1600200"/>
            <a:ext cx="1600200" cy="1143000"/>
          </a:xfrm>
          <a:prstGeom prst="rect">
            <a:avLst/>
          </a:prstGeom>
          <a:noFill/>
          <a:ln/>
        </p:spPr>
        <p:txBody>
          <a:bodyPr wrap="square" lIns="635" tIns="635" rIns="635" bIns="635" rtlCol="0" anchor="ctr"/>
          <a:lstStyle/>
          <a:p>
            <a:pPr algn="ctr" indent="0" marL="0">
              <a:buNone/>
            </a:pPr>
            <a:r>
              <a:rPr lang="en-US" sz="1600" b="1" dirty="0">
                <a:solidFill>
                  <a:schemeClr val="bg1"/>
                </a:solidFill>
              </a:rPr>
              <a:t>Raw CSV</a:t>
            </a:r>
            <a:endParaRPr lang="en-US" sz="1600" dirty="0"/>
          </a:p>
          <a:p>
            <a:pPr algn="ctr" indent="0" marL="0">
              <a:buNone/>
            </a:pPr>
            <a:r>
              <a:rPr lang="en-US" sz="1200" dirty="0">
                <a:solidFill>
                  <a:schemeClr val="bg1"/>
                </a:solidFill>
              </a:rPr>
              <a:t>244,828 rows</a:t>
            </a:r>
            <a:endParaRPr lang="en-US" sz="1600" dirty="0"/>
          </a:p>
        </p:txBody>
      </p:sp>
      <p:sp>
        <p:nvSpPr>
          <p:cNvPr id="5" name="arrow"/>
          <p:cNvSpPr/>
          <p:nvPr/>
        </p:nvSpPr>
        <p:spPr>
          <a:xfrm>
            <a:off x="2194560" y="2029968"/>
            <a:ext cx="246888" cy="292608"/>
          </a:xfrm>
          <a:prstGeom prst="rightArrow">
            <a:avLst/>
          </a:prstGeom>
          <a:solidFill>
            <a:schemeClr val="accent5"/>
          </a:solidFill>
          <a:ln w="12700">
            <a:solidFill>
              <a:srgbClr val="5D6066"/>
            </a:solidFill>
            <a:prstDash val="solid"/>
          </a:ln>
        </p:spPr>
      </p:sp>
      <p:sp>
        <p:nvSpPr>
          <p:cNvPr id="6" name="step Clean"/>
          <p:cNvSpPr/>
          <p:nvPr/>
        </p:nvSpPr>
        <p:spPr>
          <a:xfrm>
            <a:off x="2468880" y="1600200"/>
            <a:ext cx="1600200" cy="1143000"/>
          </a:xfrm>
          <a:prstGeom prst="roundRect">
            <a:avLst>
              <a:gd name="adj" fmla="val 8000"/>
            </a:avLst>
          </a:prstGeom>
          <a:solidFill>
            <a:schemeClr val="accent2"/>
          </a:solidFill>
          <a:ln w="12700">
            <a:solidFill>
              <a:srgbClr val="2A78D6"/>
            </a:solidFill>
            <a:prstDash val="solid"/>
          </a:ln>
        </p:spPr>
      </p:sp>
      <p:sp>
        <p:nvSpPr>
          <p:cNvPr id="7" name="Text 5"/>
          <p:cNvSpPr txBox="1"/>
          <p:nvPr/>
        </p:nvSpPr>
        <p:spPr>
          <a:xfrm>
            <a:off x="2468880" y="1600200"/>
            <a:ext cx="1600200" cy="1143000"/>
          </a:xfrm>
          <a:prstGeom prst="rect">
            <a:avLst/>
          </a:prstGeom>
          <a:noFill/>
          <a:ln/>
        </p:spPr>
        <p:txBody>
          <a:bodyPr wrap="square" lIns="635" tIns="635" rIns="635" bIns="635" rtlCol="0" anchor="ctr"/>
          <a:lstStyle/>
          <a:p>
            <a:pPr algn="ctr" indent="0" marL="0">
              <a:buNone/>
            </a:pPr>
            <a:r>
              <a:rPr lang="en-US" sz="1600" b="1" dirty="0">
                <a:solidFill>
                  <a:schemeClr val="bg1"/>
                </a:solidFill>
              </a:rPr>
              <a:t>Clean</a:t>
            </a:r>
            <a:endParaRPr lang="en-US" sz="1600" dirty="0"/>
          </a:p>
          <a:p>
            <a:pPr algn="ctr" indent="0" marL="0">
              <a:buNone/>
            </a:pPr>
            <a:r>
              <a:rPr lang="en-US" sz="1200" dirty="0">
                <a:solidFill>
                  <a:schemeClr val="bg1"/>
                </a:solidFill>
              </a:rPr>
              <a:t>flags, never deletes</a:t>
            </a:r>
            <a:endParaRPr lang="en-US" sz="1600" dirty="0"/>
          </a:p>
        </p:txBody>
      </p:sp>
      <p:sp>
        <p:nvSpPr>
          <p:cNvPr id="8" name="arrow"/>
          <p:cNvSpPr/>
          <p:nvPr/>
        </p:nvSpPr>
        <p:spPr>
          <a:xfrm>
            <a:off x="4114800" y="2029968"/>
            <a:ext cx="246888" cy="292608"/>
          </a:xfrm>
          <a:prstGeom prst="rightArrow">
            <a:avLst/>
          </a:prstGeom>
          <a:solidFill>
            <a:schemeClr val="accent5"/>
          </a:solidFill>
          <a:ln w="12700">
            <a:solidFill>
              <a:srgbClr val="5D6066"/>
            </a:solidFill>
            <a:prstDash val="solid"/>
          </a:ln>
        </p:spPr>
      </p:sp>
      <p:sp>
        <p:nvSpPr>
          <p:cNvPr id="9" name="step Categorize"/>
          <p:cNvSpPr/>
          <p:nvPr/>
        </p:nvSpPr>
        <p:spPr>
          <a:xfrm>
            <a:off x="4389120" y="1600200"/>
            <a:ext cx="1600200" cy="1143000"/>
          </a:xfrm>
          <a:prstGeom prst="roundRect">
            <a:avLst>
              <a:gd name="adj" fmla="val 8000"/>
            </a:avLst>
          </a:prstGeom>
          <a:solidFill>
            <a:schemeClr val="accent2"/>
          </a:solidFill>
          <a:ln w="12700">
            <a:solidFill>
              <a:srgbClr val="2A78D6"/>
            </a:solidFill>
            <a:prstDash val="solid"/>
          </a:ln>
        </p:spPr>
      </p:sp>
      <p:sp>
        <p:nvSpPr>
          <p:cNvPr id="10" name="Text 8"/>
          <p:cNvSpPr txBox="1"/>
          <p:nvPr/>
        </p:nvSpPr>
        <p:spPr>
          <a:xfrm>
            <a:off x="4389120" y="1600200"/>
            <a:ext cx="1600200" cy="1143000"/>
          </a:xfrm>
          <a:prstGeom prst="rect">
            <a:avLst/>
          </a:prstGeom>
          <a:noFill/>
          <a:ln/>
        </p:spPr>
        <p:txBody>
          <a:bodyPr wrap="square" lIns="635" tIns="635" rIns="635" bIns="635" rtlCol="0" anchor="ctr"/>
          <a:lstStyle/>
          <a:p>
            <a:pPr algn="ctr" indent="0" marL="0">
              <a:buNone/>
            </a:pPr>
            <a:r>
              <a:rPr lang="en-US" sz="1600" b="1" dirty="0">
                <a:solidFill>
                  <a:schemeClr val="bg1"/>
                </a:solidFill>
              </a:rPr>
              <a:t>Categorise</a:t>
            </a:r>
            <a:endParaRPr lang="en-US" sz="1600" dirty="0"/>
          </a:p>
          <a:p>
            <a:pPr algn="ctr" indent="0" marL="0">
              <a:buNone/>
            </a:pPr>
            <a:r>
              <a:rPr lang="en-US" sz="1200" dirty="0">
                <a:solidFill>
                  <a:schemeClr val="bg1"/>
                </a:solidFill>
              </a:rPr>
              <a:t>22 job functions</a:t>
            </a:r>
            <a:endParaRPr lang="en-US" sz="1600" dirty="0"/>
          </a:p>
        </p:txBody>
      </p:sp>
      <p:sp>
        <p:nvSpPr>
          <p:cNvPr id="11" name="arrow"/>
          <p:cNvSpPr/>
          <p:nvPr/>
        </p:nvSpPr>
        <p:spPr>
          <a:xfrm>
            <a:off x="6035040" y="2029968"/>
            <a:ext cx="246888" cy="292608"/>
          </a:xfrm>
          <a:prstGeom prst="rightArrow">
            <a:avLst/>
          </a:prstGeom>
          <a:solidFill>
            <a:schemeClr val="accent5"/>
          </a:solidFill>
          <a:ln w="12700">
            <a:solidFill>
              <a:srgbClr val="5D6066"/>
            </a:solidFill>
            <a:prstDash val="solid"/>
          </a:ln>
        </p:spPr>
      </p:sp>
      <p:sp>
        <p:nvSpPr>
          <p:cNvPr id="12" name="step Analyse"/>
          <p:cNvSpPr/>
          <p:nvPr/>
        </p:nvSpPr>
        <p:spPr>
          <a:xfrm>
            <a:off x="6309360" y="1600200"/>
            <a:ext cx="1600200" cy="1143000"/>
          </a:xfrm>
          <a:prstGeom prst="roundRect">
            <a:avLst>
              <a:gd name="adj" fmla="val 8000"/>
            </a:avLst>
          </a:prstGeom>
          <a:solidFill>
            <a:schemeClr val="accent2"/>
          </a:solidFill>
          <a:ln w="12700">
            <a:solidFill>
              <a:srgbClr val="2A78D6"/>
            </a:solidFill>
            <a:prstDash val="solid"/>
          </a:ln>
        </p:spPr>
      </p:sp>
      <p:sp>
        <p:nvSpPr>
          <p:cNvPr id="13" name="Text 11"/>
          <p:cNvSpPr txBox="1"/>
          <p:nvPr/>
        </p:nvSpPr>
        <p:spPr>
          <a:xfrm>
            <a:off x="6309360" y="1600200"/>
            <a:ext cx="1600200" cy="1143000"/>
          </a:xfrm>
          <a:prstGeom prst="rect">
            <a:avLst/>
          </a:prstGeom>
          <a:noFill/>
          <a:ln/>
        </p:spPr>
        <p:txBody>
          <a:bodyPr wrap="square" lIns="635" tIns="635" rIns="635" bIns="635" rtlCol="0" anchor="ctr"/>
          <a:lstStyle/>
          <a:p>
            <a:pPr algn="ctr" indent="0" marL="0">
              <a:buNone/>
            </a:pPr>
            <a:r>
              <a:rPr lang="en-US" sz="1600" b="1" dirty="0">
                <a:solidFill>
                  <a:schemeClr val="bg1"/>
                </a:solidFill>
              </a:rPr>
              <a:t>Analyse</a:t>
            </a:r>
            <a:endParaRPr lang="en-US" sz="1600" dirty="0"/>
          </a:p>
          <a:p>
            <a:pPr algn="ctr" indent="0" marL="0">
              <a:buNone/>
            </a:pPr>
            <a:r>
              <a:rPr lang="en-US" sz="1200" dirty="0">
                <a:solidFill>
                  <a:schemeClr val="bg1"/>
                </a:solidFill>
              </a:rPr>
              <a:t>pay, trends, forecasts</a:t>
            </a:r>
            <a:endParaRPr lang="en-US" sz="1600" dirty="0"/>
          </a:p>
        </p:txBody>
      </p:sp>
      <p:sp>
        <p:nvSpPr>
          <p:cNvPr id="14" name="arrow"/>
          <p:cNvSpPr/>
          <p:nvPr/>
        </p:nvSpPr>
        <p:spPr>
          <a:xfrm>
            <a:off x="7955280" y="2029968"/>
            <a:ext cx="246888" cy="292608"/>
          </a:xfrm>
          <a:prstGeom prst="rightArrow">
            <a:avLst/>
          </a:prstGeom>
          <a:solidFill>
            <a:schemeClr val="accent5"/>
          </a:solidFill>
          <a:ln w="12700">
            <a:solidFill>
              <a:srgbClr val="5D6066"/>
            </a:solidFill>
            <a:prstDash val="solid"/>
          </a:ln>
        </p:spPr>
      </p:sp>
      <p:sp>
        <p:nvSpPr>
          <p:cNvPr id="15" name="step Deliver"/>
          <p:cNvSpPr/>
          <p:nvPr/>
        </p:nvSpPr>
        <p:spPr>
          <a:xfrm>
            <a:off x="8229600" y="1600200"/>
            <a:ext cx="1600200" cy="1143000"/>
          </a:xfrm>
          <a:prstGeom prst="roundRect">
            <a:avLst>
              <a:gd name="adj" fmla="val 8000"/>
            </a:avLst>
          </a:prstGeom>
          <a:solidFill>
            <a:schemeClr val="accent2"/>
          </a:solidFill>
          <a:ln w="12700">
            <a:solidFill>
              <a:srgbClr val="2A78D6"/>
            </a:solidFill>
            <a:prstDash val="solid"/>
          </a:ln>
        </p:spPr>
      </p:sp>
      <p:sp>
        <p:nvSpPr>
          <p:cNvPr id="16" name="Text 14"/>
          <p:cNvSpPr txBox="1"/>
          <p:nvPr/>
        </p:nvSpPr>
        <p:spPr>
          <a:xfrm>
            <a:off x="8229600" y="1600200"/>
            <a:ext cx="1600200" cy="1143000"/>
          </a:xfrm>
          <a:prstGeom prst="rect">
            <a:avLst/>
          </a:prstGeom>
          <a:noFill/>
          <a:ln/>
        </p:spPr>
        <p:txBody>
          <a:bodyPr wrap="square" lIns="635" tIns="635" rIns="635" bIns="635" rtlCol="0" anchor="ctr"/>
          <a:lstStyle/>
          <a:p>
            <a:pPr algn="ctr" indent="0" marL="0">
              <a:buNone/>
            </a:pPr>
            <a:r>
              <a:rPr lang="en-US" sz="1600" b="1" dirty="0">
                <a:solidFill>
                  <a:schemeClr val="bg1"/>
                </a:solidFill>
              </a:rPr>
              <a:t>Deliver</a:t>
            </a:r>
            <a:endParaRPr lang="en-US" sz="1600" dirty="0"/>
          </a:p>
          <a:p>
            <a:pPr algn="ctr" indent="0" marL="0">
              <a:buNone/>
            </a:pPr>
            <a:r>
              <a:rPr lang="en-US" sz="1200" dirty="0">
                <a:solidFill>
                  <a:schemeClr val="bg1"/>
                </a:solidFill>
              </a:rPr>
              <a:t>app, dashboard, SQL</a:t>
            </a:r>
            <a:endParaRPr lang="en-US" sz="1600" dirty="0"/>
          </a:p>
        </p:txBody>
      </p:sp>
      <p:sp>
        <p:nvSpPr>
          <p:cNvPr id="17" name="arrow"/>
          <p:cNvSpPr/>
          <p:nvPr/>
        </p:nvSpPr>
        <p:spPr>
          <a:xfrm>
            <a:off x="9875520" y="2029968"/>
            <a:ext cx="246888" cy="292608"/>
          </a:xfrm>
          <a:prstGeom prst="rightArrow">
            <a:avLst/>
          </a:prstGeom>
          <a:solidFill>
            <a:schemeClr val="accent5"/>
          </a:solidFill>
          <a:ln w="12700">
            <a:solidFill>
              <a:srgbClr val="5D6066"/>
            </a:solidFill>
            <a:prstDash val="solid"/>
          </a:ln>
        </p:spPr>
      </p:sp>
      <p:sp>
        <p:nvSpPr>
          <p:cNvPr id="18" name="step Docker"/>
          <p:cNvSpPr/>
          <p:nvPr/>
        </p:nvSpPr>
        <p:spPr>
          <a:xfrm>
            <a:off x="10149840" y="1600200"/>
            <a:ext cx="1600200" cy="1143000"/>
          </a:xfrm>
          <a:prstGeom prst="roundRect">
            <a:avLst>
              <a:gd name="adj" fmla="val 8000"/>
            </a:avLst>
          </a:prstGeom>
          <a:solidFill>
            <a:schemeClr val="tx2"/>
          </a:solidFill>
          <a:ln w="12700">
            <a:solidFill>
              <a:srgbClr val="2A78D6"/>
            </a:solidFill>
            <a:prstDash val="solid"/>
          </a:ln>
        </p:spPr>
      </p:sp>
      <p:sp>
        <p:nvSpPr>
          <p:cNvPr id="19" name="Text 17"/>
          <p:cNvSpPr txBox="1"/>
          <p:nvPr/>
        </p:nvSpPr>
        <p:spPr>
          <a:xfrm>
            <a:off x="10149840" y="1600200"/>
            <a:ext cx="1600200" cy="1143000"/>
          </a:xfrm>
          <a:prstGeom prst="rect">
            <a:avLst/>
          </a:prstGeom>
          <a:noFill/>
          <a:ln/>
        </p:spPr>
        <p:txBody>
          <a:bodyPr wrap="square" lIns="635" tIns="635" rIns="635" bIns="635" rtlCol="0" anchor="ctr"/>
          <a:lstStyle/>
          <a:p>
            <a:pPr algn="ctr" indent="0" marL="0">
              <a:buNone/>
            </a:pPr>
            <a:r>
              <a:rPr lang="en-US" sz="1600" b="1" dirty="0">
                <a:solidFill>
                  <a:schemeClr val="bg1"/>
                </a:solidFill>
              </a:rPr>
              <a:t>Docker</a:t>
            </a:r>
            <a:endParaRPr lang="en-US" sz="1600" dirty="0"/>
          </a:p>
          <a:p>
            <a:pPr algn="ctr" indent="0" marL="0">
              <a:buNone/>
            </a:pPr>
            <a:r>
              <a:rPr lang="en-US" sz="1200" dirty="0">
                <a:solidFill>
                  <a:schemeClr val="bg1"/>
                </a:solidFill>
              </a:rPr>
              <a:t>Nginx + Flask</a:t>
            </a:r>
            <a:endParaRPr lang="en-US" sz="1600" dirty="0"/>
          </a:p>
        </p:txBody>
      </p:sp>
      <p:sp>
        <p:nvSpPr>
          <p:cNvPr id="20" name="trust 0"/>
          <p:cNvSpPr/>
          <p:nvPr/>
        </p:nvSpPr>
        <p:spPr>
          <a:xfrm>
            <a:off x="548640" y="3291840"/>
            <a:ext cx="3474720" cy="2606040"/>
          </a:xfrm>
          <a:prstGeom prst="roundRect">
            <a:avLst>
              <a:gd name="adj" fmla="val 3509"/>
            </a:avLst>
          </a:prstGeom>
          <a:solidFill>
            <a:schemeClr val="bg2"/>
          </a:solidFill>
          <a:ln w="12700">
            <a:solidFill>
              <a:schemeClr val="bg2"/>
            </a:solidFill>
            <a:prstDash val="solid"/>
          </a:ln>
        </p:spPr>
      </p:sp>
      <p:sp>
        <p:nvSpPr>
          <p:cNvPr id="21" name="trust icon circle 0"/>
          <p:cNvSpPr/>
          <p:nvPr/>
        </p:nvSpPr>
        <p:spPr>
          <a:xfrm>
            <a:off x="822960" y="3520440"/>
            <a:ext cx="566928" cy="566928"/>
          </a:xfrm>
          <a:prstGeom prst="ellipse">
            <a:avLst/>
          </a:prstGeom>
          <a:solidFill>
            <a:schemeClr val="accent1"/>
          </a:solidFill>
          <a:ln w="12700">
            <a:solidFill>
              <a:srgbClr val="F2F3F5"/>
            </a:solidFill>
            <a:prstDash val="solid"/>
          </a:ln>
        </p:spPr>
      </p:sp>
      <p:pic>
        <p:nvPicPr>
          <p:cNvPr id="22" name="trust icon 0" descr="preencoded.png">    </p:cNvPr>
          <p:cNvPicPr>
            <a:picLocks noChangeAspect="1"/>
          </p:cNvPicPr>
          <p:nvPr/>
        </p:nvPicPr>
        <p:blipFill>
          <a:blip r:embed="rId1"/>
          <a:stretch>
            <a:fillRect/>
          </a:stretch>
        </p:blipFill>
        <p:spPr>
          <a:xfrm>
            <a:off x="950976" y="3648456"/>
            <a:ext cx="310896" cy="310896"/>
          </a:xfrm>
          <a:prstGeom prst="rect">
            <a:avLst/>
          </a:prstGeom>
        </p:spPr>
      </p:pic>
      <p:sp>
        <p:nvSpPr>
          <p:cNvPr id="23" name="Text 20"/>
          <p:cNvSpPr txBox="1"/>
          <p:nvPr/>
        </p:nvSpPr>
        <p:spPr>
          <a:xfrm>
            <a:off x="822960" y="4251960"/>
            <a:ext cx="3017520" cy="411480"/>
          </a:xfrm>
          <a:prstGeom prst="rect">
            <a:avLst/>
          </a:prstGeom>
          <a:noFill/>
          <a:ln/>
        </p:spPr>
        <p:txBody>
          <a:bodyPr wrap="square" lIns="0" tIns="0" rIns="0" bIns="0" rtlCol="0" anchor="ctr"/>
          <a:lstStyle/>
          <a:p>
            <a:pPr indent="0" marL="0">
              <a:buNone/>
            </a:pPr>
            <a:r>
              <a:rPr lang="en-US" sz="1700" b="1" dirty="0">
                <a:solidFill>
                  <a:schemeClr val="tx1"/>
                </a:solidFill>
              </a:rPr>
              <a:t>Rules fixed before final evaluation</a:t>
            </a:r>
            <a:endParaRPr lang="en-US" sz="1700" dirty="0"/>
          </a:p>
        </p:txBody>
      </p:sp>
      <p:sp>
        <p:nvSpPr>
          <p:cNvPr id="24" name="Text 21"/>
          <p:cNvSpPr txBox="1"/>
          <p:nvPr/>
        </p:nvSpPr>
        <p:spPr>
          <a:xfrm>
            <a:off x="822960" y="4709160"/>
            <a:ext cx="2971800" cy="1005840"/>
          </a:xfrm>
          <a:prstGeom prst="rect">
            <a:avLst/>
          </a:prstGeom>
          <a:noFill/>
          <a:ln/>
        </p:spPr>
        <p:txBody>
          <a:bodyPr wrap="square" lIns="0" tIns="0" rIns="0" bIns="0" rtlCol="0" anchor="t"/>
          <a:lstStyle/>
          <a:p>
            <a:pPr indent="0" marL="0">
              <a:buNone/>
            </a:pPr>
            <a:r>
              <a:rPr lang="en-US" sz="1400" dirty="0">
                <a:solidFill>
                  <a:schemeClr val="tx1"/>
                </a:solidFill>
              </a:rPr>
              <a:t>I use development data to choose the rules and settings, then keep them fixed for the final evaluation.</a:t>
            </a:r>
            <a:endParaRPr lang="en-US" sz="1400" dirty="0"/>
          </a:p>
        </p:txBody>
      </p:sp>
      <p:sp>
        <p:nvSpPr>
          <p:cNvPr id="25" name="trust 1"/>
          <p:cNvSpPr/>
          <p:nvPr/>
        </p:nvSpPr>
        <p:spPr>
          <a:xfrm>
            <a:off x="4297680" y="3291840"/>
            <a:ext cx="3474720" cy="2606040"/>
          </a:xfrm>
          <a:prstGeom prst="roundRect">
            <a:avLst>
              <a:gd name="adj" fmla="val 3509"/>
            </a:avLst>
          </a:prstGeom>
          <a:solidFill>
            <a:schemeClr val="bg2"/>
          </a:solidFill>
          <a:ln w="12700">
            <a:solidFill>
              <a:schemeClr val="bg2"/>
            </a:solidFill>
            <a:prstDash val="solid"/>
          </a:ln>
        </p:spPr>
      </p:sp>
      <p:sp>
        <p:nvSpPr>
          <p:cNvPr id="26" name="trust icon circle 1"/>
          <p:cNvSpPr/>
          <p:nvPr/>
        </p:nvSpPr>
        <p:spPr>
          <a:xfrm>
            <a:off x="4572000" y="3520440"/>
            <a:ext cx="566928" cy="566928"/>
          </a:xfrm>
          <a:prstGeom prst="ellipse">
            <a:avLst/>
          </a:prstGeom>
          <a:solidFill>
            <a:schemeClr val="accent1"/>
          </a:solidFill>
          <a:ln w="12700">
            <a:solidFill>
              <a:srgbClr val="F2F3F5"/>
            </a:solidFill>
            <a:prstDash val="solid"/>
          </a:ln>
        </p:spPr>
      </p:sp>
      <p:pic>
        <p:nvPicPr>
          <p:cNvPr id="27" name="trust icon 1" descr="preencoded.png">    </p:cNvPr>
          <p:cNvPicPr>
            <a:picLocks noChangeAspect="1"/>
          </p:cNvPicPr>
          <p:nvPr/>
        </p:nvPicPr>
        <p:blipFill>
          <a:blip r:embed="rId2"/>
          <a:stretch>
            <a:fillRect/>
          </a:stretch>
        </p:blipFill>
        <p:spPr>
          <a:xfrm>
            <a:off x="4700016" y="3648456"/>
            <a:ext cx="310896" cy="310896"/>
          </a:xfrm>
          <a:prstGeom prst="rect">
            <a:avLst/>
          </a:prstGeom>
        </p:spPr>
      </p:pic>
      <p:sp>
        <p:nvSpPr>
          <p:cNvPr id="28" name="Text 24"/>
          <p:cNvSpPr txBox="1"/>
          <p:nvPr/>
        </p:nvSpPr>
        <p:spPr>
          <a:xfrm>
            <a:off x="4572000" y="4251960"/>
            <a:ext cx="3017520" cy="411480"/>
          </a:xfrm>
          <a:prstGeom prst="rect">
            <a:avLst/>
          </a:prstGeom>
          <a:noFill/>
          <a:ln/>
        </p:spPr>
        <p:txBody>
          <a:bodyPr wrap="square" lIns="0" tIns="0" rIns="0" bIns="0" rtlCol="0" anchor="ctr"/>
          <a:lstStyle/>
          <a:p>
            <a:pPr indent="0" marL="0">
              <a:buNone/>
            </a:pPr>
            <a:r>
              <a:rPr lang="en-US" sz="1700" b="1" dirty="0">
                <a:solidFill>
                  <a:schemeClr val="tx1"/>
                </a:solidFill>
              </a:rPr>
              <a:t>Blind human tests</a:t>
            </a:r>
            <a:endParaRPr lang="en-US" sz="1700" dirty="0"/>
          </a:p>
        </p:txBody>
      </p:sp>
      <p:sp>
        <p:nvSpPr>
          <p:cNvPr id="29" name="Text 25"/>
          <p:cNvSpPr txBox="1"/>
          <p:nvPr/>
        </p:nvSpPr>
        <p:spPr>
          <a:xfrm>
            <a:off x="4572000" y="4709160"/>
            <a:ext cx="2971800" cy="1005840"/>
          </a:xfrm>
          <a:prstGeom prst="rect">
            <a:avLst/>
          </a:prstGeom>
          <a:noFill/>
          <a:ln/>
        </p:spPr>
        <p:txBody>
          <a:bodyPr wrap="square" lIns="0" tIns="0" rIns="0" bIns="0" rtlCol="0" anchor="t"/>
          <a:lstStyle/>
          <a:p>
            <a:pPr indent="0" marL="0">
              <a:buNone/>
            </a:pPr>
            <a:r>
              <a:rPr lang="en-US" sz="1400" dirty="0">
                <a:solidFill>
                  <a:schemeClr val="tx1"/>
                </a:solidFill>
              </a:rPr>
              <a:t>I label job categories and recommendations without seeing what the system predicts.</a:t>
            </a:r>
            <a:endParaRPr lang="en-US" sz="1400" dirty="0"/>
          </a:p>
        </p:txBody>
      </p:sp>
      <p:sp>
        <p:nvSpPr>
          <p:cNvPr id="30" name="trust 2"/>
          <p:cNvSpPr/>
          <p:nvPr/>
        </p:nvSpPr>
        <p:spPr>
          <a:xfrm>
            <a:off x="8046720" y="3291840"/>
            <a:ext cx="3474720" cy="2606040"/>
          </a:xfrm>
          <a:prstGeom prst="roundRect">
            <a:avLst>
              <a:gd name="adj" fmla="val 3509"/>
            </a:avLst>
          </a:prstGeom>
          <a:solidFill>
            <a:schemeClr val="bg2"/>
          </a:solidFill>
          <a:ln w="12700">
            <a:solidFill>
              <a:schemeClr val="bg2"/>
            </a:solidFill>
            <a:prstDash val="solid"/>
          </a:ln>
        </p:spPr>
      </p:sp>
      <p:sp>
        <p:nvSpPr>
          <p:cNvPr id="31" name="trust icon circle 2"/>
          <p:cNvSpPr/>
          <p:nvPr/>
        </p:nvSpPr>
        <p:spPr>
          <a:xfrm>
            <a:off x="8321040" y="3520440"/>
            <a:ext cx="566928" cy="566928"/>
          </a:xfrm>
          <a:prstGeom prst="ellipse">
            <a:avLst/>
          </a:prstGeom>
          <a:solidFill>
            <a:schemeClr val="accent1"/>
          </a:solidFill>
          <a:ln w="12700">
            <a:solidFill>
              <a:srgbClr val="F2F3F5"/>
            </a:solidFill>
            <a:prstDash val="solid"/>
          </a:ln>
        </p:spPr>
      </p:sp>
      <p:pic>
        <p:nvPicPr>
          <p:cNvPr id="32" name="trust icon 2" descr="preencoded.png">    </p:cNvPr>
          <p:cNvPicPr>
            <a:picLocks noChangeAspect="1"/>
          </p:cNvPicPr>
          <p:nvPr/>
        </p:nvPicPr>
        <p:blipFill>
          <a:blip r:embed="rId3"/>
          <a:stretch>
            <a:fillRect/>
          </a:stretch>
        </p:blipFill>
        <p:spPr>
          <a:xfrm>
            <a:off x="8449056" y="3648456"/>
            <a:ext cx="310896" cy="310896"/>
          </a:xfrm>
          <a:prstGeom prst="rect">
            <a:avLst/>
          </a:prstGeom>
        </p:spPr>
      </p:pic>
      <p:sp>
        <p:nvSpPr>
          <p:cNvPr id="33" name="Text 28"/>
          <p:cNvSpPr txBox="1"/>
          <p:nvPr/>
        </p:nvSpPr>
        <p:spPr>
          <a:xfrm>
            <a:off x="8321040" y="4251960"/>
            <a:ext cx="3017520" cy="411480"/>
          </a:xfrm>
          <a:prstGeom prst="rect">
            <a:avLst/>
          </a:prstGeom>
          <a:noFill/>
          <a:ln/>
        </p:spPr>
        <p:txBody>
          <a:bodyPr wrap="square" lIns="0" tIns="0" rIns="0" bIns="0" rtlCol="0" anchor="ctr"/>
          <a:lstStyle/>
          <a:p>
            <a:pPr indent="0" marL="0">
              <a:buNone/>
            </a:pPr>
            <a:r>
              <a:rPr lang="en-US" sz="1700" b="1" dirty="0">
                <a:solidFill>
                  <a:schemeClr val="tx1"/>
                </a:solidFill>
              </a:rPr>
              <a:t>Selected figures checked by code</a:t>
            </a:r>
            <a:endParaRPr lang="en-US" sz="1700" dirty="0"/>
          </a:p>
        </p:txBody>
      </p:sp>
      <p:sp>
        <p:nvSpPr>
          <p:cNvPr id="34" name="Text 29"/>
          <p:cNvSpPr txBox="1"/>
          <p:nvPr/>
        </p:nvSpPr>
        <p:spPr>
          <a:xfrm>
            <a:off x="8321040" y="4709160"/>
            <a:ext cx="2971800" cy="1005840"/>
          </a:xfrm>
          <a:prstGeom prst="rect">
            <a:avLst/>
          </a:prstGeom>
          <a:noFill/>
          <a:ln/>
        </p:spPr>
        <p:txBody>
          <a:bodyPr wrap="square" lIns="0" tIns="0" rIns="0" bIns="0" rtlCol="0" anchor="t"/>
          <a:lstStyle/>
          <a:p>
            <a:pPr indent="0" marL="0">
              <a:buNone/>
            </a:pPr>
            <a:r>
              <a:rPr lang="en-US" sz="1400" dirty="0">
                <a:solidFill>
                  <a:schemeClr val="tx1"/>
                </a:solidFill>
              </a:rPr>
              <a:t>Each notebook ends with a claims check; tests check the README and report too.</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Giving every job a category</a:t>
            </a:r>
            <a:endParaRPr lang="en-US" sz="3000" dirty="0"/>
          </a:p>
        </p:txBody>
      </p:sp>
      <p:sp>
        <p:nvSpPr>
          <p:cNvPr id="3" name="headline card"/>
          <p:cNvSpPr/>
          <p:nvPr/>
        </p:nvSpPr>
        <p:spPr>
          <a:xfrm>
            <a:off x="548640" y="1463040"/>
            <a:ext cx="4937760" cy="4526280"/>
          </a:xfrm>
          <a:prstGeom prst="roundRect">
            <a:avLst>
              <a:gd name="adj" fmla="val 2020"/>
            </a:avLst>
          </a:prstGeom>
          <a:solidFill>
            <a:schemeClr val="tx2"/>
          </a:solidFill>
          <a:ln w="12700">
            <a:solidFill>
              <a:schemeClr val="tx2"/>
            </a:solidFill>
            <a:prstDash val="solid"/>
          </a:ln>
        </p:spPr>
      </p:sp>
      <p:sp>
        <p:nvSpPr>
          <p:cNvPr id="4" name="blind result"/>
          <p:cNvSpPr txBox="1"/>
          <p:nvPr/>
        </p:nvSpPr>
        <p:spPr>
          <a:xfrm>
            <a:off x="914400" y="1828800"/>
            <a:ext cx="4297680" cy="2377440"/>
          </a:xfrm>
          <a:prstGeom prst="rect">
            <a:avLst/>
          </a:prstGeom>
          <a:noFill/>
          <a:ln/>
        </p:spPr>
        <p:txBody>
          <a:bodyPr wrap="square" lIns="0" tIns="0" rIns="0" bIns="0" rtlCol="0" anchor="t"/>
          <a:lstStyle/>
          <a:p>
            <a:pPr indent="0" marL="0">
              <a:buNone/>
            </a:pPr>
            <a:r>
              <a:rPr lang="en-US" sz="6600" b="1" dirty="0">
                <a:solidFill>
                  <a:schemeClr val="bg1"/>
                </a:solidFill>
              </a:rPr>
              <a:t>68.9%</a:t>
            </a:r>
            <a:endParaRPr lang="en-US" sz="6600" dirty="0"/>
          </a:p>
          <a:p>
            <a:pPr indent="0" marL="0">
              <a:buNone/>
            </a:pPr>
            <a:r>
              <a:rPr lang="en-US" sz="1800" dirty="0">
                <a:solidFill>
                  <a:schemeClr val="bg1"/>
                </a:solidFill>
              </a:rPr>
              <a:t>agreement with my blind labels</a:t>
            </a:r>
            <a:endParaRPr lang="en-US" sz="6600" dirty="0"/>
          </a:p>
          <a:p>
            <a:pPr indent="0" marL="0">
              <a:buNone/>
            </a:pPr>
            <a:r>
              <a:rPr lang="en-US" sz="1400" dirty="0">
                <a:solidFill>
                  <a:schemeClr val="accent6"/>
                </a:solidFill>
              </a:rPr>
              <a:t>241 of 350 titles  ·  95% interval 63.8% to 73.5%</a:t>
            </a:r>
            <a:endParaRPr lang="en-US" sz="6600" dirty="0"/>
          </a:p>
        </p:txBody>
      </p:sp>
      <p:sp>
        <p:nvSpPr>
          <p:cNvPr id="5" name="scale 50-90"/>
          <p:cNvSpPr/>
          <p:nvPr/>
        </p:nvSpPr>
        <p:spPr>
          <a:xfrm>
            <a:off x="914400" y="4800600"/>
            <a:ext cx="4206240" cy="73152"/>
          </a:xfrm>
          <a:prstGeom prst="rect">
            <a:avLst/>
          </a:prstGeom>
          <a:solidFill>
            <a:schemeClr val="accent5"/>
          </a:solidFill>
          <a:ln w="12700">
            <a:solidFill>
              <a:srgbClr val="5D6066"/>
            </a:solidFill>
            <a:prstDash val="solid"/>
          </a:ln>
        </p:spPr>
      </p:sp>
      <p:sp>
        <p:nvSpPr>
          <p:cNvPr id="6" name="interval"/>
          <p:cNvSpPr/>
          <p:nvPr/>
        </p:nvSpPr>
        <p:spPr>
          <a:xfrm>
            <a:off x="2365553" y="4727448"/>
            <a:ext cx="1020013" cy="219456"/>
          </a:xfrm>
          <a:prstGeom prst="rect">
            <a:avLst/>
          </a:prstGeom>
          <a:solidFill>
            <a:schemeClr val="accent1"/>
          </a:solidFill>
          <a:ln w="12700">
            <a:solidFill>
              <a:srgbClr val="C4501D"/>
            </a:solidFill>
            <a:prstDash val="solid"/>
          </a:ln>
        </p:spPr>
      </p:sp>
      <p:sp>
        <p:nvSpPr>
          <p:cNvPr id="7" name="Text 5"/>
          <p:cNvSpPr txBox="1"/>
          <p:nvPr/>
        </p:nvSpPr>
        <p:spPr>
          <a:xfrm>
            <a:off x="777240" y="5029200"/>
            <a:ext cx="548640" cy="274320"/>
          </a:xfrm>
          <a:prstGeom prst="rect">
            <a:avLst/>
          </a:prstGeom>
          <a:noFill/>
          <a:ln/>
        </p:spPr>
        <p:txBody>
          <a:bodyPr wrap="square" lIns="0" tIns="0" rIns="0" bIns="0" rtlCol="0" anchor="ctr"/>
          <a:lstStyle/>
          <a:p>
            <a:pPr indent="0" marL="0">
              <a:buNone/>
            </a:pPr>
            <a:r>
              <a:rPr lang="en-US" sz="1100" dirty="0">
                <a:solidFill>
                  <a:schemeClr val="accent6"/>
                </a:solidFill>
              </a:rPr>
              <a:t>50%</a:t>
            </a:r>
            <a:endParaRPr lang="en-US" sz="1100" dirty="0"/>
          </a:p>
        </p:txBody>
      </p:sp>
      <p:sp>
        <p:nvSpPr>
          <p:cNvPr id="8" name="Text 6"/>
          <p:cNvSpPr txBox="1"/>
          <p:nvPr/>
        </p:nvSpPr>
        <p:spPr>
          <a:xfrm>
            <a:off x="4846320" y="5029200"/>
            <a:ext cx="548640" cy="274320"/>
          </a:xfrm>
          <a:prstGeom prst="rect">
            <a:avLst/>
          </a:prstGeom>
          <a:noFill/>
          <a:ln/>
        </p:spPr>
        <p:txBody>
          <a:bodyPr wrap="square" lIns="0" tIns="0" rIns="0" bIns="0" rtlCol="0" anchor="ctr"/>
          <a:lstStyle/>
          <a:p>
            <a:pPr indent="0" marL="0">
              <a:buNone/>
            </a:pPr>
            <a:r>
              <a:rPr lang="en-US" sz="1100" dirty="0">
                <a:solidFill>
                  <a:schemeClr val="accent6"/>
                </a:solidFill>
              </a:rPr>
              <a:t>90%</a:t>
            </a:r>
            <a:endParaRPr lang="en-US" sz="1100" dirty="0"/>
          </a:p>
        </p:txBody>
      </p:sp>
      <p:sp>
        <p:nvSpPr>
          <p:cNvPr id="9" name="stat functions"/>
          <p:cNvSpPr txBox="1"/>
          <p:nvPr/>
        </p:nvSpPr>
        <p:spPr>
          <a:xfrm>
            <a:off x="6035040" y="1554480"/>
            <a:ext cx="5486400" cy="1005840"/>
          </a:xfrm>
          <a:prstGeom prst="rect">
            <a:avLst/>
          </a:prstGeom>
          <a:noFill/>
          <a:ln/>
        </p:spPr>
        <p:txBody>
          <a:bodyPr wrap="square" lIns="0" tIns="0" rIns="0" bIns="0" rtlCol="0" anchor="t"/>
          <a:lstStyle/>
          <a:p>
            <a:pPr indent="0" marL="0">
              <a:buNone/>
            </a:pPr>
            <a:r>
              <a:rPr lang="en-US" sz="3000" b="1" dirty="0">
                <a:solidFill>
                  <a:schemeClr val="accent1"/>
                </a:solidFill>
              </a:rPr>
              <a:t>22 job functions</a:t>
            </a:r>
            <a:endParaRPr lang="en-US" sz="3000" dirty="0"/>
          </a:p>
          <a:p>
            <a:pPr indent="0" marL="0">
              <a:buNone/>
            </a:pPr>
            <a:r>
              <a:rPr lang="en-US" sz="1400" dirty="0">
                <a:solidFill>
                  <a:schemeClr val="tx1"/>
                </a:solidFill>
              </a:rPr>
              <a:t>plus Other / Unclear, one category per job</a:t>
            </a:r>
            <a:endParaRPr lang="en-US" sz="3000" dirty="0"/>
          </a:p>
        </p:txBody>
      </p:sp>
      <p:sp>
        <p:nvSpPr>
          <p:cNvPr id="10" name="stat rules"/>
          <p:cNvSpPr txBox="1"/>
          <p:nvPr/>
        </p:nvSpPr>
        <p:spPr>
          <a:xfrm>
            <a:off x="6035040" y="2697480"/>
            <a:ext cx="5486400" cy="1005840"/>
          </a:xfrm>
          <a:prstGeom prst="rect">
            <a:avLst/>
          </a:prstGeom>
          <a:noFill/>
          <a:ln/>
        </p:spPr>
        <p:txBody>
          <a:bodyPr wrap="square" lIns="0" tIns="0" rIns="0" bIns="0" rtlCol="0" anchor="t"/>
          <a:lstStyle/>
          <a:p>
            <a:pPr indent="0" marL="0">
              <a:buNone/>
            </a:pPr>
            <a:r>
              <a:rPr lang="en-US" sz="3000" b="1" dirty="0">
                <a:solidFill>
                  <a:schemeClr val="accent1"/>
                </a:solidFill>
              </a:rPr>
              <a:t>86.6% decided by rules</a:t>
            </a:r>
            <a:endParaRPr lang="en-US" sz="3000" dirty="0"/>
          </a:p>
          <a:p>
            <a:pPr indent="0" marL="0">
              <a:buNone/>
            </a:pPr>
            <a:r>
              <a:rPr lang="en-US" sz="1400" dirty="0">
                <a:solidFill>
                  <a:schemeClr val="tx1"/>
                </a:solidFill>
              </a:rPr>
              <a:t>transparent keyword rules; a guarded classifier adds 1.2%</a:t>
            </a:r>
            <a:endParaRPr lang="en-US" sz="3000" dirty="0"/>
          </a:p>
        </p:txBody>
      </p:sp>
      <p:sp>
        <p:nvSpPr>
          <p:cNvPr id="11" name="stat named"/>
          <p:cNvSpPr txBox="1"/>
          <p:nvPr/>
        </p:nvSpPr>
        <p:spPr>
          <a:xfrm>
            <a:off x="6035040" y="3840480"/>
            <a:ext cx="5486400" cy="1005840"/>
          </a:xfrm>
          <a:prstGeom prst="rect">
            <a:avLst/>
          </a:prstGeom>
          <a:noFill/>
          <a:ln/>
        </p:spPr>
        <p:txBody>
          <a:bodyPr wrap="square" lIns="0" tIns="0" rIns="0" bIns="0" rtlCol="0" anchor="t"/>
          <a:lstStyle/>
          <a:p>
            <a:pPr indent="0" marL="0">
              <a:buNone/>
            </a:pPr>
            <a:r>
              <a:rPr lang="en-US" sz="3000" b="1" dirty="0">
                <a:solidFill>
                  <a:schemeClr val="accent1"/>
                </a:solidFill>
              </a:rPr>
              <a:t>77.2% when named</a:t>
            </a:r>
            <a:endParaRPr lang="en-US" sz="3000" dirty="0"/>
          </a:p>
          <a:p>
            <a:pPr indent="0" marL="0">
              <a:buNone/>
            </a:pPr>
            <a:r>
              <a:rPr lang="en-US" sz="1400" dirty="0">
                <a:solidFill>
                  <a:schemeClr val="tx1"/>
                </a:solidFill>
              </a:rPr>
              <a:t>agreement when the system names a category instead of Other</a:t>
            </a:r>
            <a:endParaRPr lang="en-US" sz="3000" dirty="0"/>
          </a:p>
        </p:txBody>
      </p:sp>
      <p:sp>
        <p:nvSpPr>
          <p:cNvPr id="12" name="Text 10"/>
          <p:cNvSpPr txBox="1"/>
          <p:nvPr/>
        </p:nvSpPr>
        <p:spPr>
          <a:xfrm>
            <a:off x="6035040" y="5029200"/>
            <a:ext cx="5577840" cy="822960"/>
          </a:xfrm>
          <a:prstGeom prst="rect">
            <a:avLst/>
          </a:prstGeom>
          <a:noFill/>
          <a:ln/>
        </p:spPr>
        <p:txBody>
          <a:bodyPr wrap="square" lIns="0" tIns="0" rIns="0" bIns="0" rtlCol="0" anchor="t"/>
          <a:lstStyle/>
          <a:p>
            <a:pPr indent="0" marL="0">
              <a:buNone/>
            </a:pPr>
            <a:r>
              <a:rPr lang="en-US" sz="1400" i="1" dirty="0">
                <a:solidFill>
                  <a:schemeClr val="accent5"/>
                </a:solidFill>
              </a:rPr>
              <a:t>Software &amp; IT, AI &amp; Machine Learning, Engineering &amp; Architecture and Admin &amp; Virtual Assistance are likely undercounted, so I show the Other share next to category results.</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Title words that go with higher or lower pay</a:t>
            </a:r>
            <a:endParaRPr lang="en-US" sz="3000" dirty="0"/>
          </a:p>
        </p:txBody>
      </p:sp>
      <p:sp>
        <p:nvSpPr>
          <p:cNvPr id="3" name="task chip"/>
          <p:cNvSpPr txBox="1"/>
          <p:nvPr/>
        </p:nvSpPr>
        <p:spPr>
          <a:xfrm>
            <a:off x="548640" y="201168"/>
            <a:ext cx="1417320" cy="310896"/>
          </a:xfrm>
          <a:prstGeom prst="roundRect">
            <a:avLst>
              <a:gd name="adj" fmla="val 23529"/>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TASK 1</a:t>
            </a:r>
            <a:endParaRPr lang="en-US" sz="1200" dirty="0"/>
          </a:p>
        </p:txBody>
      </p:sp>
      <p:pic>
        <p:nvPicPr>
          <p:cNvPr id="4" name="figure 2 pay keywords" descr="/home/claude/deck/assets/f2_pay_keywords.png">    </p:cNvPr>
          <p:cNvPicPr>
            <a:picLocks noChangeAspect="1"/>
          </p:cNvPicPr>
          <p:nvPr/>
        </p:nvPicPr>
        <p:blipFill>
          <a:blip r:embed="rId1"/>
          <a:stretch>
            <a:fillRect/>
          </a:stretch>
        </p:blipFill>
        <p:spPr>
          <a:xfrm>
            <a:off x="548640" y="1463040"/>
            <a:ext cx="6400800" cy="4521666"/>
          </a:xfrm>
          <a:prstGeom prst="rect">
            <a:avLst/>
          </a:prstGeom>
        </p:spPr>
      </p:pic>
      <p:sp>
        <p:nvSpPr>
          <p:cNvPr id="5" name="stat consultant"/>
          <p:cNvSpPr txBox="1"/>
          <p:nvPr/>
        </p:nvSpPr>
        <p:spPr>
          <a:xfrm>
            <a:off x="7406640" y="1463040"/>
            <a:ext cx="4206240" cy="1005840"/>
          </a:xfrm>
          <a:prstGeom prst="rect">
            <a:avLst/>
          </a:prstGeom>
          <a:noFill/>
          <a:ln/>
        </p:spPr>
        <p:txBody>
          <a:bodyPr wrap="square" lIns="0" tIns="0" rIns="0" bIns="0" rtlCol="0" anchor="t"/>
          <a:lstStyle/>
          <a:p>
            <a:pPr indent="0" marL="0">
              <a:buNone/>
            </a:pPr>
            <a:r>
              <a:rPr lang="en-US" sz="3000" b="1" dirty="0">
                <a:solidFill>
                  <a:schemeClr val="accent1"/>
                </a:solidFill>
              </a:rPr>
              <a:t>+77%  consultant</a:t>
            </a:r>
            <a:endParaRPr lang="en-US" sz="3000" dirty="0"/>
          </a:p>
          <a:p>
            <a:pPr indent="0" marL="0">
              <a:buNone/>
            </a:pPr>
            <a:r>
              <a:rPr lang="en-US" sz="1400" dirty="0">
                <a:solidFill>
                  <a:schemeClr val="tx1"/>
                </a:solidFill>
              </a:rPr>
              <a:t>higher hourly offers than similar jobs in the same country and category</a:t>
            </a:r>
            <a:endParaRPr lang="en-US" sz="3000" dirty="0"/>
          </a:p>
        </p:txBody>
      </p:sp>
      <p:sp>
        <p:nvSpPr>
          <p:cNvPr id="6" name="stat va"/>
          <p:cNvSpPr txBox="1"/>
          <p:nvPr/>
        </p:nvSpPr>
        <p:spPr>
          <a:xfrm>
            <a:off x="7406640" y="2606040"/>
            <a:ext cx="4206240" cy="1005840"/>
          </a:xfrm>
          <a:prstGeom prst="rect">
            <a:avLst/>
          </a:prstGeom>
          <a:noFill/>
          <a:ln/>
        </p:spPr>
        <p:txBody>
          <a:bodyPr wrap="square" lIns="0" tIns="0" rIns="0" bIns="0" rtlCol="0" anchor="t"/>
          <a:lstStyle/>
          <a:p>
            <a:pPr indent="0" marL="0">
              <a:buNone/>
            </a:pPr>
            <a:r>
              <a:rPr lang="en-US" sz="3000" b="1" dirty="0">
                <a:solidFill>
                  <a:schemeClr val="accent3"/>
                </a:solidFill>
              </a:rPr>
              <a:t>−38%  virtual assistant</a:t>
            </a:r>
            <a:endParaRPr lang="en-US" sz="3000" dirty="0"/>
          </a:p>
          <a:p>
            <a:pPr indent="0" marL="0">
              <a:buNone/>
            </a:pPr>
            <a:r>
              <a:rPr lang="en-US" sz="1400" dirty="0">
                <a:solidFill>
                  <a:schemeClr val="tx1"/>
                </a:solidFill>
              </a:rPr>
              <a:t>lower than similar jobs</a:t>
            </a:r>
            <a:endParaRPr lang="en-US" sz="3000" dirty="0"/>
          </a:p>
        </p:txBody>
      </p:sp>
      <p:sp>
        <p:nvSpPr>
          <p:cNvPr id="7" name="stat r2"/>
          <p:cNvSpPr txBox="1"/>
          <p:nvPr/>
        </p:nvSpPr>
        <p:spPr>
          <a:xfrm>
            <a:off x="7406640" y="3611880"/>
            <a:ext cx="4206240" cy="1005840"/>
          </a:xfrm>
          <a:prstGeom prst="rect">
            <a:avLst/>
          </a:prstGeom>
          <a:noFill/>
          <a:ln/>
        </p:spPr>
        <p:txBody>
          <a:bodyPr wrap="square" lIns="0" tIns="0" rIns="0" bIns="0" rtlCol="0" anchor="t"/>
          <a:lstStyle/>
          <a:p>
            <a:pPr indent="0" marL="0">
              <a:buNone/>
            </a:pPr>
            <a:r>
              <a:rPr lang="en-US" sz="3000" b="1" dirty="0">
                <a:solidFill>
                  <a:schemeClr val="accent2"/>
                </a:solidFill>
              </a:rPr>
              <a:t>11% → 26%</a:t>
            </a:r>
            <a:endParaRPr lang="en-US" sz="3000" dirty="0"/>
          </a:p>
          <a:p>
            <a:pPr indent="0" marL="0">
              <a:buNone/>
            </a:pPr>
            <a:r>
              <a:rPr lang="en-US" sz="1400" dirty="0">
                <a:solidFill>
                  <a:schemeClr val="tx1"/>
                </a:solidFill>
              </a:rPr>
              <a:t>explained variation when title words are added</a:t>
            </a:r>
            <a:endParaRPr lang="en-US" sz="3000" dirty="0"/>
          </a:p>
        </p:txBody>
      </p:sp>
      <p:sp>
        <p:nvSpPr>
          <p:cNvPr id="8" name="Text 5"/>
          <p:cNvSpPr txBox="1"/>
          <p:nvPr/>
        </p:nvSpPr>
        <p:spPr>
          <a:xfrm>
            <a:off x="7406640" y="4846320"/>
            <a:ext cx="4206240" cy="822960"/>
          </a:xfrm>
          <a:prstGeom prst="rect">
            <a:avLst/>
          </a:prstGeom>
          <a:noFill/>
          <a:ln/>
        </p:spPr>
        <p:txBody>
          <a:bodyPr wrap="square" lIns="0" tIns="0" rIns="0" bIns="0" rtlCol="0" anchor="t"/>
          <a:lstStyle/>
          <a:p>
            <a:pPr indent="0" marL="0">
              <a:buNone/>
            </a:pPr>
            <a:r>
              <a:rPr lang="en-US" sz="1400" i="1" dirty="0">
                <a:solidFill>
                  <a:schemeClr val="accent5"/>
                </a:solidFill>
              </a:rPr>
              <a:t>“Python” is +10% in the raw comparison but −7.5% after adjustment: the job mix matters.</a:t>
            </a:r>
            <a:endParaRPr lang="en-US" sz="1400" dirty="0"/>
          </a:p>
        </p:txBody>
      </p:sp>
      <p:sp>
        <p:nvSpPr>
          <p:cNvPr id="9" name="caption"/>
          <p:cNvSpPr txBox="1"/>
          <p:nvPr/>
        </p:nvSpPr>
        <p:spPr>
          <a:xfrm>
            <a:off x="548640" y="6035040"/>
            <a:ext cx="6400800" cy="320040"/>
          </a:xfrm>
          <a:prstGeom prst="rect">
            <a:avLst/>
          </a:prstGeom>
          <a:noFill/>
          <a:ln/>
        </p:spPr>
        <p:txBody>
          <a:bodyPr wrap="square" lIns="0" tIns="0" rIns="0" bIns="0" rtlCol="0" anchor="ctr"/>
          <a:lstStyle/>
          <a:p>
            <a:pPr indent="0" marL="0">
              <a:buNone/>
            </a:pPr>
            <a:r>
              <a:rPr lang="en-US" sz="1100" i="1" dirty="0">
                <a:solidFill>
                  <a:schemeClr val="accent5"/>
                </a:solidFill>
              </a:rPr>
              <a:t>Difference in hourly offer compared with jobs in the same client country and category; black lines are 95% intervals.</a:t>
            </a:r>
            <a:endParaRPr lang="en-US" sz="11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Which kinds of work are rising and falling</a:t>
            </a:r>
            <a:endParaRPr lang="en-US" sz="3000" dirty="0"/>
          </a:p>
        </p:txBody>
      </p:sp>
      <p:sp>
        <p:nvSpPr>
          <p:cNvPr id="3" name="task chip"/>
          <p:cNvSpPr txBox="1"/>
          <p:nvPr/>
        </p:nvSpPr>
        <p:spPr>
          <a:xfrm>
            <a:off x="548640" y="201168"/>
            <a:ext cx="1417320" cy="310896"/>
          </a:xfrm>
          <a:prstGeom prst="roundRect">
            <a:avLst>
              <a:gd name="adj" fmla="val 23529"/>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TASK 2</a:t>
            </a:r>
            <a:endParaRPr lang="en-US" sz="1200" dirty="0"/>
          </a:p>
        </p:txBody>
      </p:sp>
      <p:pic>
        <p:nvPicPr>
          <p:cNvPr id="4" name="figure 3 category trends" descr="/home/claude/deck/assets/f3_category_trends.png">    </p:cNvPr>
          <p:cNvPicPr>
            <a:picLocks noChangeAspect="1"/>
          </p:cNvPicPr>
          <p:nvPr/>
        </p:nvPicPr>
        <p:blipFill>
          <a:blip r:embed="rId1"/>
          <a:stretch>
            <a:fillRect/>
          </a:stretch>
        </p:blipFill>
        <p:spPr>
          <a:xfrm>
            <a:off x="548640" y="1417320"/>
            <a:ext cx="6949440" cy="3866134"/>
          </a:xfrm>
          <a:prstGeom prst="rect">
            <a:avLst/>
          </a:prstGeom>
        </p:spPr>
      </p:pic>
      <p:sp>
        <p:nvSpPr>
          <p:cNvPr id="5" name="Text 2"/>
          <p:cNvSpPr txBox="1"/>
          <p:nvPr/>
        </p:nvSpPr>
        <p:spPr>
          <a:xfrm>
            <a:off x="7863840" y="1508760"/>
            <a:ext cx="3840480" cy="1737360"/>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Rising</a:t>
            </a:r>
            <a:endParaRPr lang="en-US" sz="1400" dirty="0"/>
          </a:p>
          <a:p>
            <a:pPr marL="342900" indent="-342900">
              <a:spcAft>
                <a:spcPts val="400"/>
              </a:spcAft>
              <a:buSzPct val="100000"/>
              <a:buChar char="•"/>
            </a:pPr>
            <a:r>
              <a:rPr lang="en-US" sz="1400" dirty="0">
                <a:solidFill>
                  <a:schemeClr val="tx1"/>
                </a:solidFill>
              </a:rPr>
              <a:t>Digital Marketing  +1.0 point (+10%)</a:t>
            </a:r>
            <a:endParaRPr lang="en-US" sz="1400" dirty="0"/>
          </a:p>
          <a:p>
            <a:pPr marL="342900" indent="-342900">
              <a:spcAft>
                <a:spcPts val="400"/>
              </a:spcAft>
              <a:buSzPct val="100000"/>
              <a:buChar char="•"/>
            </a:pPr>
            <a:r>
              <a:rPr lang="en-US" sz="1400" dirty="0">
                <a:solidFill>
                  <a:schemeClr val="tx1"/>
                </a:solidFill>
              </a:rPr>
              <a:t>Video &amp; Animation, Design &amp; Creative, Sales &amp; Lead Generation, E-commerce Operations</a:t>
            </a:r>
            <a:endParaRPr lang="en-US" sz="1400" dirty="0"/>
          </a:p>
          <a:p>
            <a:pPr marL="342900" indent="-342900">
              <a:spcAft>
                <a:spcPts val="400"/>
              </a:spcAft>
              <a:buSzPct val="100000"/>
              <a:buChar char="•"/>
            </a:pPr>
            <a:r>
              <a:rPr lang="en-US" sz="1400" dirty="0">
                <a:solidFill>
                  <a:schemeClr val="tx1"/>
                </a:solidFill>
              </a:rPr>
              <a:t>AI &amp; Machine Learning  +19%</a:t>
            </a:r>
            <a:endParaRPr lang="en-US" sz="1400" dirty="0"/>
          </a:p>
        </p:txBody>
      </p:sp>
      <p:sp>
        <p:nvSpPr>
          <p:cNvPr id="6" name="Text 3"/>
          <p:cNvSpPr txBox="1"/>
          <p:nvPr/>
        </p:nvSpPr>
        <p:spPr>
          <a:xfrm>
            <a:off x="7863840" y="3337560"/>
            <a:ext cx="3840480" cy="1463040"/>
          </a:xfrm>
          <a:prstGeom prst="rect">
            <a:avLst/>
          </a:prstGeom>
          <a:noFill/>
          <a:ln/>
        </p:spPr>
        <p:txBody>
          <a:bodyPr wrap="square" lIns="0" tIns="0" rIns="0" bIns="0" rtlCol="0" anchor="t"/>
          <a:lstStyle/>
          <a:p>
            <a:pPr indent="0" marL="0">
              <a:spcAft>
                <a:spcPts val="400"/>
              </a:spcAft>
              <a:buNone/>
            </a:pPr>
            <a:r>
              <a:rPr lang="en-US" sz="1700" b="1" dirty="0">
                <a:solidFill>
                  <a:schemeClr val="accent3"/>
                </a:solidFill>
              </a:rPr>
              <a:t>Falling</a:t>
            </a:r>
            <a:endParaRPr lang="en-US" sz="1400" dirty="0"/>
          </a:p>
          <a:p>
            <a:pPr marL="342900" indent="-342900">
              <a:spcAft>
                <a:spcPts val="400"/>
              </a:spcAft>
              <a:buSzPct val="100000"/>
              <a:buChar char="•"/>
            </a:pPr>
            <a:r>
              <a:rPr lang="en-US" sz="1400" dirty="0">
                <a:solidFill>
                  <a:schemeClr val="tx1"/>
                </a:solidFill>
              </a:rPr>
              <a:t>Writing &amp; Content  5.8% → 3.7% of posts</a:t>
            </a:r>
            <a:endParaRPr lang="en-US" sz="1400" dirty="0"/>
          </a:p>
          <a:p>
            <a:pPr marL="342900" indent="-342900">
              <a:spcAft>
                <a:spcPts val="400"/>
              </a:spcAft>
              <a:buSzPct val="100000"/>
              <a:buChar char="•"/>
            </a:pPr>
            <a:r>
              <a:rPr lang="en-US" sz="1400" dirty="0">
                <a:solidFill>
                  <a:schemeClr val="tx1"/>
                </a:solidFill>
              </a:rPr>
              <a:t>Admin &amp; Virtual Assistance  −1.4 points</a:t>
            </a:r>
            <a:endParaRPr lang="en-US" sz="1400" dirty="0"/>
          </a:p>
          <a:p>
            <a:pPr marL="342900" indent="-342900">
              <a:spcAft>
                <a:spcPts val="400"/>
              </a:spcAft>
              <a:buSzPct val="100000"/>
              <a:buChar char="•"/>
            </a:pPr>
            <a:r>
              <a:rPr lang="en-US" sz="1400" dirty="0">
                <a:solidFill>
                  <a:schemeClr val="tx1"/>
                </a:solidFill>
              </a:rPr>
              <a:t>Translation &amp; Transcription  −0.9 points</a:t>
            </a:r>
            <a:endParaRPr lang="en-US" sz="1400" dirty="0"/>
          </a:p>
        </p:txBody>
      </p:sp>
      <p:sp>
        <p:nvSpPr>
          <p:cNvPr id="7" name="Text 4"/>
          <p:cNvSpPr txBox="1"/>
          <p:nvPr/>
        </p:nvSpPr>
        <p:spPr>
          <a:xfrm>
            <a:off x="7863840" y="4983480"/>
            <a:ext cx="3840480" cy="731520"/>
          </a:xfrm>
          <a:prstGeom prst="rect">
            <a:avLst/>
          </a:prstGeom>
          <a:noFill/>
          <a:ln/>
        </p:spPr>
        <p:txBody>
          <a:bodyPr wrap="square" lIns="0" tIns="0" rIns="0" bIns="0" rtlCol="0" anchor="t"/>
          <a:lstStyle/>
          <a:p>
            <a:pPr indent="0" marL="0">
              <a:buNone/>
            </a:pPr>
            <a:r>
              <a:rPr lang="en-US" sz="1400" i="1" dirty="0">
                <a:solidFill>
                  <a:schemeClr val="accent5"/>
                </a:solidFill>
              </a:rPr>
              <a:t>Part of the change is one step around 26 February, not a smooth trend.</a:t>
            </a:r>
            <a:endParaRPr lang="en-US" sz="1400" dirty="0"/>
          </a:p>
        </p:txBody>
      </p:sp>
      <p:sp>
        <p:nvSpPr>
          <p:cNvPr id="8" name="caption"/>
          <p:cNvSpPr txBox="1"/>
          <p:nvPr/>
        </p:nvSpPr>
        <p:spPr>
          <a:xfrm>
            <a:off x="548640" y="6035040"/>
            <a:ext cx="6949440" cy="320040"/>
          </a:xfrm>
          <a:prstGeom prst="rect">
            <a:avLst/>
          </a:prstGeom>
          <a:noFill/>
          <a:ln/>
        </p:spPr>
        <p:txBody>
          <a:bodyPr wrap="square" lIns="0" tIns="0" rIns="0" bIns="0" rtlCol="0" anchor="ctr"/>
          <a:lstStyle/>
          <a:p>
            <a:pPr indent="0" marL="0">
              <a:buNone/>
            </a:pPr>
            <a:r>
              <a:rPr lang="en-US" sz="1100" i="1" dirty="0">
                <a:solidFill>
                  <a:schemeClr val="accent5"/>
                </a:solidFill>
              </a:rPr>
              <a:t>9 of 22 functions change significantly (FDR 5%) within the 37-day window.</a:t>
            </a:r>
            <a:endParaRPr lang="en-US" sz="11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Pay depends on the client's country, and on the job mix</a:t>
            </a:r>
            <a:endParaRPr lang="en-US" sz="3000" dirty="0"/>
          </a:p>
        </p:txBody>
      </p:sp>
      <p:sp>
        <p:nvSpPr>
          <p:cNvPr id="3" name="task chip"/>
          <p:cNvSpPr txBox="1"/>
          <p:nvPr/>
        </p:nvSpPr>
        <p:spPr>
          <a:xfrm>
            <a:off x="548640" y="201168"/>
            <a:ext cx="1417320" cy="310896"/>
          </a:xfrm>
          <a:prstGeom prst="roundRect">
            <a:avLst>
              <a:gd name="adj" fmla="val 23529"/>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TASK 4</a:t>
            </a:r>
            <a:endParaRPr lang="en-US" sz="1200" dirty="0"/>
          </a:p>
        </p:txBody>
      </p:sp>
      <p:pic>
        <p:nvPicPr>
          <p:cNvPr id="4" name="figure 5 country rates" descr="/home/claude/deck/assets/f5_country_rates.png">    </p:cNvPr>
          <p:cNvPicPr>
            <a:picLocks noChangeAspect="1"/>
          </p:cNvPicPr>
          <p:nvPr/>
        </p:nvPicPr>
        <p:blipFill>
          <a:blip r:embed="rId1"/>
          <a:stretch>
            <a:fillRect/>
          </a:stretch>
        </p:blipFill>
        <p:spPr>
          <a:xfrm>
            <a:off x="548640" y="1417320"/>
            <a:ext cx="7223760" cy="4390913"/>
          </a:xfrm>
          <a:prstGeom prst="rect">
            <a:avLst/>
          </a:prstGeom>
        </p:spPr>
      </p:pic>
      <p:sp>
        <p:nvSpPr>
          <p:cNvPr id="5" name="stat countries"/>
          <p:cNvSpPr txBox="1"/>
          <p:nvPr/>
        </p:nvSpPr>
        <p:spPr>
          <a:xfrm>
            <a:off x="8229600" y="1508760"/>
            <a:ext cx="3474720" cy="1005840"/>
          </a:xfrm>
          <a:prstGeom prst="rect">
            <a:avLst/>
          </a:prstGeom>
          <a:noFill/>
          <a:ln/>
        </p:spPr>
        <p:txBody>
          <a:bodyPr wrap="square" lIns="0" tIns="0" rIns="0" bIns="0" rtlCol="0" anchor="t"/>
          <a:lstStyle/>
          <a:p>
            <a:pPr indent="0" marL="0">
              <a:buNone/>
            </a:pPr>
            <a:r>
              <a:rPr lang="en-US" sz="3000" b="1" dirty="0">
                <a:solidFill>
                  <a:schemeClr val="accent2"/>
                </a:solidFill>
              </a:rPr>
              <a:t>91 countries</a:t>
            </a:r>
            <a:endParaRPr lang="en-US" sz="3000" dirty="0"/>
          </a:p>
          <a:p>
            <a:pPr indent="0" marL="0">
              <a:buNone/>
            </a:pPr>
            <a:r>
              <a:rPr lang="en-US" sz="1400" dirty="0">
                <a:solidFill>
                  <a:schemeClr val="tx1"/>
                </a:solidFill>
              </a:rPr>
              <a:t>with at least 30 rated hourly jobs</a:t>
            </a:r>
            <a:endParaRPr lang="en-US" sz="3000" dirty="0"/>
          </a:p>
        </p:txBody>
      </p:sp>
      <p:sp>
        <p:nvSpPr>
          <p:cNvPr id="6" name="stat us"/>
          <p:cNvSpPr txBox="1"/>
          <p:nvPr/>
        </p:nvSpPr>
        <p:spPr>
          <a:xfrm>
            <a:off x="8229600" y="2697480"/>
            <a:ext cx="3474720" cy="1005840"/>
          </a:xfrm>
          <a:prstGeom prst="rect">
            <a:avLst/>
          </a:prstGeom>
          <a:noFill/>
          <a:ln/>
        </p:spPr>
        <p:txBody>
          <a:bodyPr wrap="square" lIns="0" tIns="0" rIns="0" bIns="0" rtlCol="0" anchor="t"/>
          <a:lstStyle/>
          <a:p>
            <a:pPr indent="0" marL="0">
              <a:buNone/>
            </a:pPr>
            <a:r>
              <a:rPr lang="en-US" sz="3000" b="1" dirty="0">
                <a:solidFill>
                  <a:schemeClr val="accent1"/>
                </a:solidFill>
              </a:rPr>
              <a:t>USD 25 per hour</a:t>
            </a:r>
            <a:endParaRPr lang="en-US" sz="3000" dirty="0"/>
          </a:p>
          <a:p>
            <a:pPr indent="0" marL="0">
              <a:buNone/>
            </a:pPr>
            <a:r>
              <a:rPr lang="en-US" sz="1400" dirty="0">
                <a:solidFill>
                  <a:schemeClr val="tx1"/>
                </a:solidFill>
              </a:rPr>
              <a:t>US median; mean USD 32.6; adjusted index +9%</a:t>
            </a:r>
            <a:endParaRPr lang="en-US" sz="3000" dirty="0"/>
          </a:p>
        </p:txBody>
      </p:sp>
      <p:sp>
        <p:nvSpPr>
          <p:cNvPr id="7" name="stat australia"/>
          <p:cNvSpPr txBox="1"/>
          <p:nvPr/>
        </p:nvSpPr>
        <p:spPr>
          <a:xfrm>
            <a:off x="8229600" y="3886200"/>
            <a:ext cx="3474720" cy="1005840"/>
          </a:xfrm>
          <a:prstGeom prst="rect">
            <a:avLst/>
          </a:prstGeom>
          <a:noFill/>
          <a:ln/>
        </p:spPr>
        <p:txBody>
          <a:bodyPr wrap="square" lIns="0" tIns="0" rIns="0" bIns="0" rtlCol="0" anchor="t"/>
          <a:lstStyle/>
          <a:p>
            <a:pPr indent="0" marL="0">
              <a:buNone/>
            </a:pPr>
            <a:r>
              <a:rPr lang="en-US" sz="3000" b="1" dirty="0">
                <a:solidFill>
                  <a:schemeClr val="accent3"/>
                </a:solidFill>
              </a:rPr>
              <a:t>−12%</a:t>
            </a:r>
            <a:endParaRPr lang="en-US" sz="3000" dirty="0"/>
          </a:p>
          <a:p>
            <a:pPr indent="0" marL="0">
              <a:buNone/>
            </a:pPr>
            <a:r>
              <a:rPr lang="en-US" sz="1400" dirty="0">
                <a:solidFill>
                  <a:schemeClr val="tx1"/>
                </a:solidFill>
              </a:rPr>
              <a:t>Australia: near-average median, but less for the same work</a:t>
            </a:r>
            <a:endParaRPr lang="en-US" sz="3000" dirty="0"/>
          </a:p>
        </p:txBody>
      </p:sp>
      <p:sp>
        <p:nvSpPr>
          <p:cNvPr id="8" name="caption"/>
          <p:cNvSpPr txBox="1"/>
          <p:nvPr/>
        </p:nvSpPr>
        <p:spPr>
          <a:xfrm>
            <a:off x="548640" y="6035040"/>
            <a:ext cx="7223760" cy="320040"/>
          </a:xfrm>
          <a:prstGeom prst="rect">
            <a:avLst/>
          </a:prstGeom>
          <a:noFill/>
          <a:ln/>
        </p:spPr>
        <p:txBody>
          <a:bodyPr wrap="square" lIns="0" tIns="0" rIns="0" bIns="0" rtlCol="0" anchor="ctr"/>
          <a:lstStyle/>
          <a:p>
            <a:pPr indent="0" marL="0">
              <a:buNone/>
            </a:pPr>
            <a:r>
              <a:rPr lang="en-US" sz="1100" i="1" dirty="0">
                <a:solidFill>
                  <a:schemeClr val="accent5"/>
                </a:solidFill>
              </a:rPr>
              <a:t>Left: median hourly offer. Right: index adjusted for job categories. Interactive map in Notebook 04 and the dashboard.</a:t>
            </a:r>
            <a:endParaRPr lang="en-US" sz="11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The next two weeks: who leads, and how sure I am</a:t>
            </a:r>
            <a:endParaRPr lang="en-US" sz="3000" dirty="0"/>
          </a:p>
        </p:txBody>
      </p:sp>
      <p:sp>
        <p:nvSpPr>
          <p:cNvPr id="3" name="task chip"/>
          <p:cNvSpPr txBox="1"/>
          <p:nvPr/>
        </p:nvSpPr>
        <p:spPr>
          <a:xfrm>
            <a:off x="548640" y="201168"/>
            <a:ext cx="1417320" cy="310896"/>
          </a:xfrm>
          <a:prstGeom prst="roundRect">
            <a:avLst>
              <a:gd name="adj" fmla="val 23529"/>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TASKS 3 &amp; 8</a:t>
            </a:r>
            <a:endParaRPr lang="en-US" sz="1200" dirty="0"/>
          </a:p>
        </p:txBody>
      </p:sp>
      <p:pic>
        <p:nvPicPr>
          <p:cNvPr id="4" name="figure 4 category outlook" descr="/home/claude/deck/assets/f4_category_outlook.png">    </p:cNvPr>
          <p:cNvPicPr>
            <a:picLocks noChangeAspect="1"/>
          </p:cNvPicPr>
          <p:nvPr/>
        </p:nvPicPr>
        <p:blipFill>
          <a:blip r:embed="rId1"/>
          <a:stretch>
            <a:fillRect/>
          </a:stretch>
        </p:blipFill>
        <p:spPr>
          <a:xfrm>
            <a:off x="548640" y="1417320"/>
            <a:ext cx="6583680" cy="3876045"/>
          </a:xfrm>
          <a:prstGeom prst="rect">
            <a:avLst/>
          </a:prstGeom>
        </p:spPr>
      </p:pic>
      <p:sp>
        <p:nvSpPr>
          <p:cNvPr id="5" name="top three"/>
          <p:cNvSpPr txBox="1"/>
          <p:nvPr/>
        </p:nvSpPr>
        <p:spPr>
          <a:xfrm>
            <a:off x="7498080" y="1463040"/>
            <a:ext cx="4206240" cy="914400"/>
          </a:xfrm>
          <a:prstGeom prst="rect">
            <a:avLst/>
          </a:prstGeom>
          <a:noFill/>
          <a:ln/>
        </p:spPr>
        <p:txBody>
          <a:bodyPr wrap="square" lIns="0" tIns="0" rIns="0" bIns="0" rtlCol="0" anchor="t"/>
          <a:lstStyle/>
          <a:p>
            <a:pPr indent="0" marL="0">
              <a:buNone/>
            </a:pPr>
            <a:r>
              <a:rPr lang="en-US" sz="2600" b="1" dirty="0">
                <a:solidFill>
                  <a:schemeClr val="accent1"/>
                </a:solidFill>
              </a:rPr>
              <a:t>about 900 · 720 · 660</a:t>
            </a:r>
            <a:endParaRPr lang="en-US" sz="2600" dirty="0"/>
          </a:p>
          <a:p>
            <a:pPr indent="0" marL="0">
              <a:buNone/>
            </a:pPr>
            <a:r>
              <a:rPr lang="en-US" sz="1400" dirty="0">
                <a:solidFill>
                  <a:schemeClr val="tx1"/>
                </a:solidFill>
              </a:rPr>
              <a:t>jobs a day: Web Development, Design &amp; Creative, Digital Marketing</a:t>
            </a:r>
            <a:endParaRPr lang="en-US" sz="2600" dirty="0"/>
          </a:p>
        </p:txBody>
      </p:sp>
      <p:sp>
        <p:nvSpPr>
          <p:cNvPr id="6" name="scenario 0"/>
          <p:cNvSpPr/>
          <p:nvPr/>
        </p:nvSpPr>
        <p:spPr>
          <a:xfrm>
            <a:off x="7498080" y="2560320"/>
            <a:ext cx="4206240" cy="731520"/>
          </a:xfrm>
          <a:prstGeom prst="roundRect">
            <a:avLst>
              <a:gd name="adj" fmla="val 12500"/>
            </a:avLst>
          </a:prstGeom>
          <a:solidFill>
            <a:schemeClr val="bg2"/>
          </a:solidFill>
          <a:ln w="12700">
            <a:solidFill>
              <a:schemeClr val="bg2"/>
            </a:solidFill>
            <a:prstDash val="solid"/>
          </a:ln>
        </p:spPr>
      </p:sp>
      <p:sp>
        <p:nvSpPr>
          <p:cNvPr id="7" name="Text 4"/>
          <p:cNvSpPr txBox="1"/>
          <p:nvPr/>
        </p:nvSpPr>
        <p:spPr>
          <a:xfrm>
            <a:off x="7680960" y="2560320"/>
            <a:ext cx="3931920" cy="731520"/>
          </a:xfrm>
          <a:prstGeom prst="rect">
            <a:avLst/>
          </a:prstGeom>
          <a:noFill/>
          <a:ln/>
        </p:spPr>
        <p:txBody>
          <a:bodyPr wrap="square" lIns="0" tIns="0" rIns="0" bIns="0" rtlCol="0" anchor="ctr"/>
          <a:lstStyle/>
          <a:p>
            <a:pPr indent="0" marL="0">
              <a:buNone/>
            </a:pPr>
            <a:r>
              <a:rPr lang="en-US" sz="1400" b="1" dirty="0">
                <a:solidFill>
                  <a:schemeClr val="tx1"/>
                </a:solidFill>
              </a:rPr>
              <a:t>Central outlook</a:t>
            </a:r>
            <a:endParaRPr lang="en-US" sz="1400" dirty="0"/>
          </a:p>
          <a:p>
            <a:pPr indent="0" marL="0">
              <a:buNone/>
            </a:pPr>
            <a:r>
              <a:rPr lang="en-US" sz="1400" dirty="0">
                <a:solidFill>
                  <a:schemeClr val="tx1"/>
                </a:solidFill>
              </a:rPr>
              <a:t>about 6,100 jobs a day in total</a:t>
            </a:r>
            <a:endParaRPr lang="en-US" sz="1400" dirty="0"/>
          </a:p>
        </p:txBody>
      </p:sp>
      <p:sp>
        <p:nvSpPr>
          <p:cNvPr id="8" name="scenario 1"/>
          <p:cNvSpPr/>
          <p:nvPr/>
        </p:nvSpPr>
        <p:spPr>
          <a:xfrm>
            <a:off x="7498080" y="3429000"/>
            <a:ext cx="4206240" cy="731520"/>
          </a:xfrm>
          <a:prstGeom prst="roundRect">
            <a:avLst>
              <a:gd name="adj" fmla="val 12500"/>
            </a:avLst>
          </a:prstGeom>
          <a:solidFill>
            <a:schemeClr val="bg2"/>
          </a:solidFill>
          <a:ln w="12700">
            <a:solidFill>
              <a:schemeClr val="bg2"/>
            </a:solidFill>
            <a:prstDash val="solid"/>
          </a:ln>
        </p:spPr>
      </p:sp>
      <p:sp>
        <p:nvSpPr>
          <p:cNvPr id="9" name="Text 6"/>
          <p:cNvSpPr txBox="1"/>
          <p:nvPr/>
        </p:nvSpPr>
        <p:spPr>
          <a:xfrm>
            <a:off x="7680960" y="3429000"/>
            <a:ext cx="3931920" cy="731520"/>
          </a:xfrm>
          <a:prstGeom prst="rect">
            <a:avLst/>
          </a:prstGeom>
          <a:noFill/>
          <a:ln/>
        </p:spPr>
        <p:txBody>
          <a:bodyPr wrap="square" lIns="0" tIns="0" rIns="0" bIns="0" rtlCol="0" anchor="ctr"/>
          <a:lstStyle/>
          <a:p>
            <a:pPr indent="0" marL="0">
              <a:buNone/>
            </a:pPr>
            <a:r>
              <a:rPr lang="en-US" sz="1400" b="1" dirty="0">
                <a:solidFill>
                  <a:schemeClr val="tx1"/>
                </a:solidFill>
              </a:rPr>
              <a:t>Intended 80% range</a:t>
            </a:r>
            <a:endParaRPr lang="en-US" sz="1400" dirty="0"/>
          </a:p>
          <a:p>
            <a:pPr indent="0" marL="0">
              <a:buNone/>
            </a:pPr>
            <a:r>
              <a:rPr lang="en-US" sz="1400" dirty="0">
                <a:solidFill>
                  <a:schemeClr val="tx1"/>
                </a:solidFill>
              </a:rPr>
              <a:t>5,930 to 6,300 a day (days 1 to 7)</a:t>
            </a:r>
            <a:endParaRPr lang="en-US" sz="1400" dirty="0"/>
          </a:p>
        </p:txBody>
      </p:sp>
      <p:sp>
        <p:nvSpPr>
          <p:cNvPr id="10" name="scenario 2"/>
          <p:cNvSpPr/>
          <p:nvPr/>
        </p:nvSpPr>
        <p:spPr>
          <a:xfrm>
            <a:off x="7498080" y="4297680"/>
            <a:ext cx="4206240" cy="731520"/>
          </a:xfrm>
          <a:prstGeom prst="roundRect">
            <a:avLst>
              <a:gd name="adj" fmla="val 12500"/>
            </a:avLst>
          </a:prstGeom>
          <a:solidFill>
            <a:schemeClr val="bg2"/>
          </a:solidFill>
          <a:ln w="12700">
            <a:solidFill>
              <a:schemeClr val="bg2"/>
            </a:solidFill>
            <a:prstDash val="solid"/>
          </a:ln>
        </p:spPr>
      </p:sp>
      <p:sp>
        <p:nvSpPr>
          <p:cNvPr id="11" name="Text 8"/>
          <p:cNvSpPr txBox="1"/>
          <p:nvPr/>
        </p:nvSpPr>
        <p:spPr>
          <a:xfrm>
            <a:off x="7680960" y="4297680"/>
            <a:ext cx="3931920" cy="731520"/>
          </a:xfrm>
          <a:prstGeom prst="rect">
            <a:avLst/>
          </a:prstGeom>
          <a:noFill/>
          <a:ln/>
        </p:spPr>
        <p:txBody>
          <a:bodyPr wrap="square" lIns="0" tIns="0" rIns="0" bIns="0" rtlCol="0" anchor="ctr"/>
          <a:lstStyle/>
          <a:p>
            <a:pPr indent="0" marL="0">
              <a:buNone/>
            </a:pPr>
            <a:r>
              <a:rPr lang="en-US" sz="1400" b="1" dirty="0">
                <a:solidFill>
                  <a:schemeClr val="tx1"/>
                </a:solidFill>
              </a:rPr>
              <a:t>Possible directions</a:t>
            </a:r>
            <a:endParaRPr lang="en-US" sz="1400" dirty="0"/>
          </a:p>
          <a:p>
            <a:pPr indent="0" marL="0">
              <a:buNone/>
            </a:pPr>
            <a:r>
              <a:rPr lang="en-US" sz="1400" dirty="0">
                <a:solidFill>
                  <a:schemeClr val="tx1"/>
                </a:solidFill>
              </a:rPr>
              <a:t>small rises for 4 categories, not established trends</a:t>
            </a:r>
            <a:endParaRPr lang="en-US" sz="1400" dirty="0"/>
          </a:p>
        </p:txBody>
      </p:sp>
      <p:sp>
        <p:nvSpPr>
          <p:cNvPr id="12" name="Text 9"/>
          <p:cNvSpPr txBox="1"/>
          <p:nvPr/>
        </p:nvSpPr>
        <p:spPr>
          <a:xfrm>
            <a:off x="7498080" y="5257800"/>
            <a:ext cx="4206240" cy="685800"/>
          </a:xfrm>
          <a:prstGeom prst="rect">
            <a:avLst/>
          </a:prstGeom>
          <a:noFill/>
          <a:ln/>
        </p:spPr>
        <p:txBody>
          <a:bodyPr wrap="square" lIns="0" tIns="0" rIns="0" bIns="0" rtlCol="0" anchor="t"/>
          <a:lstStyle/>
          <a:p>
            <a:pPr indent="0" marL="0">
              <a:buNone/>
            </a:pPr>
            <a:r>
              <a:rPr lang="en-US" sz="1400" i="1" dirty="0">
                <a:solidFill>
                  <a:schemeClr val="accent5"/>
                </a:solidFill>
              </a:rPr>
              <a:t>Final week: better than the baseline for 20 of 23 categories, not for total jobs; ranges built the same way contain 75.0% of values.</a:t>
            </a:r>
            <a:endParaRPr lang="en-US" sz="1400" dirty="0"/>
          </a:p>
        </p:txBody>
      </p:sp>
      <p:sp>
        <p:nvSpPr>
          <p:cNvPr id="13" name="caption"/>
          <p:cNvSpPr txBox="1"/>
          <p:nvPr/>
        </p:nvSpPr>
        <p:spPr>
          <a:xfrm>
            <a:off x="548640" y="6035040"/>
            <a:ext cx="6583680" cy="320040"/>
          </a:xfrm>
          <a:prstGeom prst="rect">
            <a:avLst/>
          </a:prstGeom>
          <a:noFill/>
          <a:ln/>
        </p:spPr>
        <p:txBody>
          <a:bodyPr wrap="square" lIns="0" tIns="0" rIns="0" bIns="0" rtlCol="0" anchor="ctr"/>
          <a:lstStyle/>
          <a:p>
            <a:pPr indent="0" marL="0">
              <a:buNone/>
            </a:pPr>
            <a:r>
              <a:rPr lang="en-US" sz="1100" i="1" dirty="0">
                <a:solidFill>
                  <a:schemeClr val="accent5"/>
                </a:solidFill>
              </a:rPr>
              <a:t>Forecast jobs per day, 24 to 30 March 2024, with intended 80% ranges; overlapping ranges mean similar demand.</a:t>
            </a:r>
            <a:endParaRPr lang="en-US" sz="11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What the data can measure about remote work</a:t>
            </a:r>
            <a:endParaRPr lang="en-US" sz="3000" dirty="0"/>
          </a:p>
        </p:txBody>
      </p:sp>
      <p:sp>
        <p:nvSpPr>
          <p:cNvPr id="3" name="task chip"/>
          <p:cNvSpPr txBox="1"/>
          <p:nvPr/>
        </p:nvSpPr>
        <p:spPr>
          <a:xfrm>
            <a:off x="548640" y="201168"/>
            <a:ext cx="1417320" cy="310896"/>
          </a:xfrm>
          <a:prstGeom prst="roundRect">
            <a:avLst>
              <a:gd name="adj" fmla="val 23529"/>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TASK 7</a:t>
            </a:r>
            <a:endParaRPr lang="en-US" sz="1200" dirty="0"/>
          </a:p>
        </p:txBody>
      </p:sp>
      <p:sp>
        <p:nvSpPr>
          <p:cNvPr id="4" name="message"/>
          <p:cNvSpPr txBox="1"/>
          <p:nvPr/>
        </p:nvSpPr>
        <p:spPr>
          <a:xfrm>
            <a:off x="548640" y="1371600"/>
            <a:ext cx="11064240" cy="457200"/>
          </a:xfrm>
          <a:prstGeom prst="rect">
            <a:avLst/>
          </a:prstGeom>
          <a:noFill/>
          <a:ln/>
        </p:spPr>
        <p:txBody>
          <a:bodyPr wrap="square" lIns="0" tIns="0" rIns="0" bIns="0" rtlCol="0" anchor="ctr"/>
          <a:lstStyle/>
          <a:p>
            <a:pPr indent="0" marL="0">
              <a:buNone/>
            </a:pPr>
            <a:r>
              <a:rPr lang="en-US" sz="1800" b="1" dirty="0">
                <a:solidFill>
                  <a:schemeClr val="accent1"/>
                </a:solidFill>
              </a:rPr>
              <a:t>The data has no remote or on-site field, so it cannot show the actual percentage of remote jobs.</a:t>
            </a:r>
            <a:endParaRPr lang="en-US" sz="1800" dirty="0"/>
          </a:p>
        </p:txBody>
      </p:sp>
      <p:sp>
        <p:nvSpPr>
          <p:cNvPr id="5" name="remote card 0"/>
          <p:cNvSpPr/>
          <p:nvPr/>
        </p:nvSpPr>
        <p:spPr>
          <a:xfrm>
            <a:off x="548640" y="2057400"/>
            <a:ext cx="4572000" cy="1143000"/>
          </a:xfrm>
          <a:prstGeom prst="roundRect">
            <a:avLst>
              <a:gd name="adj" fmla="val 8000"/>
            </a:avLst>
          </a:prstGeom>
          <a:solidFill>
            <a:schemeClr val="bg2"/>
          </a:solidFill>
          <a:ln w="12700">
            <a:solidFill>
              <a:schemeClr val="bg2"/>
            </a:solidFill>
            <a:prstDash val="solid"/>
          </a:ln>
        </p:spPr>
      </p:sp>
      <p:sp>
        <p:nvSpPr>
          <p:cNvPr id="6" name="Text 4"/>
          <p:cNvSpPr txBox="1"/>
          <p:nvPr/>
        </p:nvSpPr>
        <p:spPr>
          <a:xfrm>
            <a:off x="777240" y="2103120"/>
            <a:ext cx="4206240" cy="1051560"/>
          </a:xfrm>
          <a:prstGeom prst="rect">
            <a:avLst/>
          </a:prstGeom>
          <a:noFill/>
          <a:ln/>
        </p:spPr>
        <p:txBody>
          <a:bodyPr wrap="square" lIns="0" tIns="0" rIns="0" bIns="0" rtlCol="0" anchor="ctr"/>
          <a:lstStyle/>
          <a:p>
            <a:pPr indent="0" marL="0">
              <a:buNone/>
            </a:pPr>
            <a:r>
              <a:rPr lang="en-US" sz="2400" b="1" dirty="0">
                <a:solidFill>
                  <a:schemeClr val="accent2"/>
                </a:solidFill>
              </a:rPr>
              <a:t>about 46%</a:t>
            </a:r>
            <a:endParaRPr lang="en-US" sz="2400" dirty="0"/>
          </a:p>
          <a:p>
            <a:pPr indent="0" marL="0">
              <a:buNone/>
            </a:pPr>
            <a:r>
              <a:rPr lang="en-US" sz="1400" dirty="0">
                <a:solidFill>
                  <a:schemeClr val="tx1"/>
                </a:solidFill>
              </a:rPr>
              <a:t>of jobs with a known client country come from North America; stable</a:t>
            </a:r>
            <a:endParaRPr lang="en-US" sz="2400" dirty="0"/>
          </a:p>
        </p:txBody>
      </p:sp>
      <p:sp>
        <p:nvSpPr>
          <p:cNvPr id="7" name="remote card 1"/>
          <p:cNvSpPr/>
          <p:nvPr/>
        </p:nvSpPr>
        <p:spPr>
          <a:xfrm>
            <a:off x="548640" y="3383280"/>
            <a:ext cx="4572000" cy="1143000"/>
          </a:xfrm>
          <a:prstGeom prst="roundRect">
            <a:avLst>
              <a:gd name="adj" fmla="val 8000"/>
            </a:avLst>
          </a:prstGeom>
          <a:solidFill>
            <a:schemeClr val="bg2"/>
          </a:solidFill>
          <a:ln w="12700">
            <a:solidFill>
              <a:schemeClr val="bg2"/>
            </a:solidFill>
            <a:prstDash val="solid"/>
          </a:ln>
        </p:spPr>
      </p:sp>
      <p:sp>
        <p:nvSpPr>
          <p:cNvPr id="8" name="Text 6"/>
          <p:cNvSpPr txBox="1"/>
          <p:nvPr/>
        </p:nvSpPr>
        <p:spPr>
          <a:xfrm>
            <a:off x="777240" y="3429000"/>
            <a:ext cx="4206240" cy="1051560"/>
          </a:xfrm>
          <a:prstGeom prst="rect">
            <a:avLst/>
          </a:prstGeom>
          <a:noFill/>
          <a:ln/>
        </p:spPr>
        <p:txBody>
          <a:bodyPr wrap="square" lIns="0" tIns="0" rIns="0" bIns="0" rtlCol="0" anchor="ctr"/>
          <a:lstStyle/>
          <a:p>
            <a:pPr indent="0" marL="0">
              <a:buNone/>
            </a:pPr>
            <a:r>
              <a:rPr lang="en-US" sz="2400" b="1" dirty="0">
                <a:solidFill>
                  <a:schemeClr val="accent2"/>
                </a:solidFill>
              </a:rPr>
              <a:t>58.3% → 56.1%</a:t>
            </a:r>
            <a:endParaRPr lang="en-US" sz="2400" dirty="0"/>
          </a:p>
          <a:p>
            <a:pPr indent="0" marL="0">
              <a:buNone/>
            </a:pPr>
            <a:r>
              <a:rPr lang="en-US" sz="1400" dirty="0">
                <a:solidFill>
                  <a:schemeClr val="tx1"/>
                </a:solidFill>
              </a:rPr>
              <a:t>hourly share: fixed-price work gains slightly</a:t>
            </a:r>
            <a:endParaRPr lang="en-US" sz="2400" dirty="0"/>
          </a:p>
        </p:txBody>
      </p:sp>
      <p:sp>
        <p:nvSpPr>
          <p:cNvPr id="9" name="remote card 2"/>
          <p:cNvSpPr/>
          <p:nvPr/>
        </p:nvSpPr>
        <p:spPr>
          <a:xfrm>
            <a:off x="548640" y="4709160"/>
            <a:ext cx="4572000" cy="1143000"/>
          </a:xfrm>
          <a:prstGeom prst="roundRect">
            <a:avLst>
              <a:gd name="adj" fmla="val 8000"/>
            </a:avLst>
          </a:prstGeom>
          <a:solidFill>
            <a:schemeClr val="bg2"/>
          </a:solidFill>
          <a:ln w="12700">
            <a:solidFill>
              <a:schemeClr val="bg2"/>
            </a:solidFill>
            <a:prstDash val="solid"/>
          </a:ln>
        </p:spPr>
      </p:sp>
      <p:sp>
        <p:nvSpPr>
          <p:cNvPr id="10" name="Text 8"/>
          <p:cNvSpPr txBox="1"/>
          <p:nvPr/>
        </p:nvSpPr>
        <p:spPr>
          <a:xfrm>
            <a:off x="777240" y="4754880"/>
            <a:ext cx="4206240" cy="1051560"/>
          </a:xfrm>
          <a:prstGeom prst="rect">
            <a:avLst/>
          </a:prstGeom>
          <a:noFill/>
          <a:ln/>
        </p:spPr>
        <p:txBody>
          <a:bodyPr wrap="square" lIns="0" tIns="0" rIns="0" bIns="0" rtlCol="0" anchor="ctr"/>
          <a:lstStyle/>
          <a:p>
            <a:pPr indent="0" marL="0">
              <a:buNone/>
            </a:pPr>
            <a:r>
              <a:rPr lang="en-US" sz="2400" b="1" dirty="0">
                <a:solidFill>
                  <a:schemeClr val="accent2"/>
                </a:solidFill>
              </a:rPr>
              <a:t>0.55%</a:t>
            </a:r>
            <a:endParaRPr lang="en-US" sz="2400" dirty="0"/>
          </a:p>
          <a:p>
            <a:pPr indent="0" marL="0">
              <a:buNone/>
            </a:pPr>
            <a:r>
              <a:rPr lang="en-US" sz="1400" dirty="0">
                <a:solidFill>
                  <a:schemeClr val="tx1"/>
                </a:solidFill>
              </a:rPr>
              <a:t>of postings have remote or home wording in the title; the audit finds 91% of matches correct</a:t>
            </a:r>
            <a:endParaRPr lang="en-US" sz="2400" dirty="0"/>
          </a:p>
        </p:txBody>
      </p:sp>
      <p:pic>
        <p:nvPicPr>
          <p:cNvPr id="11" name="figure 7 online signals" descr="/home/claude/deck/assets/f7_online_signals.png">    </p:cNvPr>
          <p:cNvPicPr>
            <a:picLocks noChangeAspect="1"/>
          </p:cNvPicPr>
          <p:nvPr/>
        </p:nvPicPr>
        <p:blipFill>
          <a:blip r:embed="rId1"/>
          <a:stretch>
            <a:fillRect/>
          </a:stretch>
        </p:blipFill>
        <p:spPr>
          <a:xfrm>
            <a:off x="5682120" y="2011680"/>
            <a:ext cx="5277839" cy="3832268"/>
          </a:xfrm>
          <a:prstGeom prst="rect">
            <a:avLst/>
          </a:prstGeom>
        </p:spPr>
      </p:pic>
      <p:sp>
        <p:nvSpPr>
          <p:cNvPr id="12" name="caption"/>
          <p:cNvSpPr txBox="1"/>
          <p:nvPr/>
        </p:nvSpPr>
        <p:spPr>
          <a:xfrm>
            <a:off x="5577840" y="5989320"/>
            <a:ext cx="6035040" cy="320040"/>
          </a:xfrm>
          <a:prstGeom prst="rect">
            <a:avLst/>
          </a:prstGeom>
          <a:noFill/>
          <a:ln/>
        </p:spPr>
        <p:txBody>
          <a:bodyPr wrap="square" lIns="0" tIns="0" rIns="0" bIns="0" rtlCol="0" anchor="ctr"/>
          <a:lstStyle/>
          <a:p>
            <a:pPr indent="0" marL="0">
              <a:buNone/>
            </a:pPr>
            <a:r>
              <a:rPr lang="en-US" sz="1100" i="1" dirty="0">
                <a:solidFill>
                  <a:schemeClr val="accent5"/>
                </a:solidFill>
              </a:rPr>
              <a:t>Daily hourly share and North American client share, then the 14-day forecast with its two ranges.</a:t>
            </a:r>
            <a:endParaRPr lang="en-US" sz="11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A job recommender that matches skills to jobs</a:t>
            </a:r>
            <a:endParaRPr lang="en-US" sz="3000" dirty="0"/>
          </a:p>
        </p:txBody>
      </p:sp>
      <p:sp>
        <p:nvSpPr>
          <p:cNvPr id="3" name="task chip"/>
          <p:cNvSpPr txBox="1"/>
          <p:nvPr/>
        </p:nvSpPr>
        <p:spPr>
          <a:xfrm>
            <a:off x="548640" y="201168"/>
            <a:ext cx="1417320" cy="310896"/>
          </a:xfrm>
          <a:prstGeom prst="roundRect">
            <a:avLst>
              <a:gd name="adj" fmla="val 23529"/>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TASK 5</a:t>
            </a:r>
            <a:endParaRPr lang="en-US" sz="1200" dirty="0"/>
          </a:p>
        </p:txBody>
      </p:sp>
      <p:pic>
        <p:nvPicPr>
          <p:cNvPr id="4" name="recommender screenshot" descr="/home/claude/deck/assets/recommender.png">    </p:cNvPr>
          <p:cNvPicPr>
            <a:picLocks noChangeAspect="1"/>
          </p:cNvPicPr>
          <p:nvPr/>
        </p:nvPicPr>
        <p:blipFill>
          <a:blip r:embed="rId1"/>
          <a:stretch>
            <a:fillRect/>
          </a:stretch>
        </p:blipFill>
        <p:spPr>
          <a:xfrm>
            <a:off x="548640" y="1371600"/>
            <a:ext cx="5257800" cy="4686014"/>
          </a:xfrm>
          <a:prstGeom prst="rect">
            <a:avLst/>
          </a:prstGeom>
        </p:spPr>
      </p:pic>
      <p:sp>
        <p:nvSpPr>
          <p:cNvPr id="5" name="step circle 1"/>
          <p:cNvSpPr/>
          <p:nvPr/>
        </p:nvSpPr>
        <p:spPr>
          <a:xfrm>
            <a:off x="6309360" y="1463040"/>
            <a:ext cx="548640" cy="548640"/>
          </a:xfrm>
          <a:prstGeom prst="ellipse">
            <a:avLst/>
          </a:prstGeom>
          <a:solidFill>
            <a:schemeClr val="accent1"/>
          </a:solidFill>
          <a:ln w="12700">
            <a:solidFill>
              <a:srgbClr val="C4501D"/>
            </a:solidFill>
            <a:prstDash val="solid"/>
          </a:ln>
        </p:spPr>
      </p:sp>
      <p:sp>
        <p:nvSpPr>
          <p:cNvPr id="6" name="Text 3"/>
          <p:cNvSpPr txBox="1"/>
          <p:nvPr/>
        </p:nvSpPr>
        <p:spPr>
          <a:xfrm>
            <a:off x="6309360" y="14630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7040880" y="1417320"/>
            <a:ext cx="4572000" cy="685800"/>
          </a:xfrm>
          <a:prstGeom prst="rect">
            <a:avLst/>
          </a:prstGeom>
          <a:noFill/>
          <a:ln/>
        </p:spPr>
        <p:txBody>
          <a:bodyPr wrap="square" lIns="0" tIns="0" rIns="0" bIns="0" rtlCol="0" anchor="t"/>
          <a:lstStyle/>
          <a:p>
            <a:pPr indent="0" marL="0">
              <a:buNone/>
            </a:pPr>
            <a:r>
              <a:rPr lang="en-US" sz="1600" b="1" dirty="0">
                <a:solidFill>
                  <a:schemeClr val="tx1"/>
                </a:solidFill>
              </a:rPr>
              <a:t>Type skills</a:t>
            </a:r>
            <a:endParaRPr lang="en-US" sz="1600" dirty="0"/>
          </a:p>
          <a:p>
            <a:pPr indent="0" marL="0">
              <a:buNone/>
            </a:pPr>
            <a:r>
              <a:rPr lang="en-US" sz="1400" dirty="0">
                <a:solidFill>
                  <a:schemeClr val="accent5"/>
                </a:solidFill>
              </a:rPr>
              <a:t>for example python, sql, power bi</a:t>
            </a:r>
            <a:endParaRPr lang="en-US" sz="1600" dirty="0"/>
          </a:p>
        </p:txBody>
      </p:sp>
      <p:sp>
        <p:nvSpPr>
          <p:cNvPr id="8" name="step circle 2"/>
          <p:cNvSpPr/>
          <p:nvPr/>
        </p:nvSpPr>
        <p:spPr>
          <a:xfrm>
            <a:off x="6309360" y="2331720"/>
            <a:ext cx="548640" cy="548640"/>
          </a:xfrm>
          <a:prstGeom prst="ellipse">
            <a:avLst/>
          </a:prstGeom>
          <a:solidFill>
            <a:schemeClr val="accent1"/>
          </a:solidFill>
          <a:ln w="12700">
            <a:solidFill>
              <a:srgbClr val="C4501D"/>
            </a:solidFill>
            <a:prstDash val="solid"/>
          </a:ln>
        </p:spPr>
      </p:sp>
      <p:sp>
        <p:nvSpPr>
          <p:cNvPr id="9" name="Text 6"/>
          <p:cNvSpPr txBox="1"/>
          <p:nvPr/>
        </p:nvSpPr>
        <p:spPr>
          <a:xfrm>
            <a:off x="6309360" y="23317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7"/>
          <p:cNvSpPr txBox="1"/>
          <p:nvPr/>
        </p:nvSpPr>
        <p:spPr>
          <a:xfrm>
            <a:off x="7040880" y="2286000"/>
            <a:ext cx="4572000" cy="685800"/>
          </a:xfrm>
          <a:prstGeom prst="rect">
            <a:avLst/>
          </a:prstGeom>
          <a:noFill/>
          <a:ln/>
        </p:spPr>
        <p:txBody>
          <a:bodyPr wrap="square" lIns="0" tIns="0" rIns="0" bIns="0" rtlCol="0" anchor="t"/>
          <a:lstStyle/>
          <a:p>
            <a:pPr indent="0" marL="0">
              <a:buNone/>
            </a:pPr>
            <a:r>
              <a:rPr lang="en-US" sz="1600" b="1" dirty="0">
                <a:solidFill>
                  <a:schemeClr val="tx1"/>
                </a:solidFill>
              </a:rPr>
              <a:t>Match job titles</a:t>
            </a:r>
            <a:endParaRPr lang="en-US" sz="1600" dirty="0"/>
          </a:p>
          <a:p>
            <a:pPr indent="0" marL="0">
              <a:buNone/>
            </a:pPr>
            <a:r>
              <a:rPr lang="en-US" sz="1400" dirty="0">
                <a:solidFill>
                  <a:schemeClr val="accent5"/>
                </a:solidFill>
              </a:rPr>
              <a:t>hybrid word + character TF-IDF</a:t>
            </a:r>
            <a:endParaRPr lang="en-US" sz="1600" dirty="0"/>
          </a:p>
        </p:txBody>
      </p:sp>
      <p:sp>
        <p:nvSpPr>
          <p:cNvPr id="11" name="step circle 3"/>
          <p:cNvSpPr/>
          <p:nvPr/>
        </p:nvSpPr>
        <p:spPr>
          <a:xfrm>
            <a:off x="6309360" y="3200400"/>
            <a:ext cx="548640" cy="548640"/>
          </a:xfrm>
          <a:prstGeom prst="ellipse">
            <a:avLst/>
          </a:prstGeom>
          <a:solidFill>
            <a:schemeClr val="accent1"/>
          </a:solidFill>
          <a:ln w="12700">
            <a:solidFill>
              <a:srgbClr val="C4501D"/>
            </a:solidFill>
            <a:prstDash val="solid"/>
          </a:ln>
        </p:spPr>
      </p:sp>
      <p:sp>
        <p:nvSpPr>
          <p:cNvPr id="12" name="Text 9"/>
          <p:cNvSpPr txBox="1"/>
          <p:nvPr/>
        </p:nvSpPr>
        <p:spPr>
          <a:xfrm>
            <a:off x="6309360" y="32004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0"/>
          <p:cNvSpPr txBox="1"/>
          <p:nvPr/>
        </p:nvSpPr>
        <p:spPr>
          <a:xfrm>
            <a:off x="7040880" y="3154680"/>
            <a:ext cx="4572000" cy="685800"/>
          </a:xfrm>
          <a:prstGeom prst="rect">
            <a:avLst/>
          </a:prstGeom>
          <a:noFill/>
          <a:ln/>
        </p:spPr>
        <p:txBody>
          <a:bodyPr wrap="square" lIns="0" tIns="0" rIns="0" bIns="0" rtlCol="0" anchor="t"/>
          <a:lstStyle/>
          <a:p>
            <a:pPr indent="0" marL="0">
              <a:buNone/>
            </a:pPr>
            <a:r>
              <a:rPr lang="en-US" sz="1600" b="1" dirty="0">
                <a:solidFill>
                  <a:schemeClr val="tx1"/>
                </a:solidFill>
              </a:rPr>
              <a:t>Strict filters</a:t>
            </a:r>
            <a:endParaRPr lang="en-US" sz="1600" dirty="0"/>
          </a:p>
          <a:p>
            <a:pPr indent="0" marL="0">
              <a:buNone/>
            </a:pPr>
            <a:r>
              <a:rPr lang="en-US" sz="1400" dirty="0">
                <a:solidFill>
                  <a:schemeClr val="accent5"/>
                </a:solidFill>
              </a:rPr>
              <a:t>pay, contract type, recency</a:t>
            </a:r>
            <a:endParaRPr lang="en-US" sz="1600" dirty="0"/>
          </a:p>
        </p:txBody>
      </p:sp>
      <p:sp>
        <p:nvSpPr>
          <p:cNvPr id="14" name="eval headline"/>
          <p:cNvSpPr txBox="1"/>
          <p:nvPr/>
        </p:nvSpPr>
        <p:spPr>
          <a:xfrm>
            <a:off x="6309360" y="4114800"/>
            <a:ext cx="5394960" cy="365760"/>
          </a:xfrm>
          <a:prstGeom prst="rect">
            <a:avLst/>
          </a:prstGeom>
          <a:noFill/>
          <a:ln/>
        </p:spPr>
        <p:txBody>
          <a:bodyPr wrap="square" lIns="0" tIns="0" rIns="0" bIns="0" rtlCol="0" anchor="ctr"/>
          <a:lstStyle/>
          <a:p>
            <a:pPr indent="0" marL="0">
              <a:buNone/>
            </a:pPr>
            <a:r>
              <a:rPr lang="en-US" sz="1400" dirty="0">
                <a:solidFill>
                  <a:schemeClr val="tx1"/>
                </a:solidFill>
              </a:rPr>
              <a:t>12 profiles:  </a:t>
            </a:r>
            <a:pPr indent="0" marL="0">
              <a:buNone/>
            </a:pPr>
            <a:r>
              <a:rPr lang="en-US" sz="1400" b="1" dirty="0">
                <a:solidFill>
                  <a:schemeClr val="accent1"/>
                </a:solidFill>
              </a:rPr>
              <a:t>nDCG@5 0.985  ·  Precision@5 0.967  ·  one-result margin</a:t>
            </a:r>
            <a:endParaRPr lang="en-US" sz="1400" dirty="0"/>
          </a:p>
        </p:txBody>
      </p:sp>
      <p:pic>
        <p:nvPicPr>
          <p:cNvPr id="15" name="figure 6 recommender eval" descr="/home/claude/deck/assets/f6_recommender_eval.png">    </p:cNvPr>
          <p:cNvPicPr>
            <a:picLocks noChangeAspect="1"/>
          </p:cNvPicPr>
          <p:nvPr/>
        </p:nvPicPr>
        <p:blipFill>
          <a:blip r:embed="rId2"/>
          <a:stretch>
            <a:fillRect/>
          </a:stretch>
        </p:blipFill>
        <p:spPr>
          <a:xfrm>
            <a:off x="6271194" y="4526280"/>
            <a:ext cx="5379852" cy="1788859"/>
          </a:xfrm>
          <a:prstGeom prst="rect">
            <a:avLst/>
          </a:prstGeom>
        </p:spPr>
      </p:pic>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A dashboard that updates with every new month</a:t>
            </a:r>
            <a:endParaRPr lang="en-US" sz="3000" dirty="0"/>
          </a:p>
        </p:txBody>
      </p:sp>
      <p:sp>
        <p:nvSpPr>
          <p:cNvPr id="3" name="task chip"/>
          <p:cNvSpPr txBox="1"/>
          <p:nvPr/>
        </p:nvSpPr>
        <p:spPr>
          <a:xfrm>
            <a:off x="548640" y="201168"/>
            <a:ext cx="1417320" cy="310896"/>
          </a:xfrm>
          <a:prstGeom prst="roundRect">
            <a:avLst>
              <a:gd name="adj" fmla="val 23529"/>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TASK 6</a:t>
            </a:r>
            <a:endParaRPr lang="en-US" sz="1200" dirty="0"/>
          </a:p>
        </p:txBody>
      </p:sp>
      <p:pic>
        <p:nvPicPr>
          <p:cNvPr id="4" name="dashboard screenshot" descr="/home/claude/deck/assets/dashboard.png">    </p:cNvPr>
          <p:cNvPicPr>
            <a:picLocks noChangeAspect="1"/>
          </p:cNvPicPr>
          <p:nvPr/>
        </p:nvPicPr>
        <p:blipFill>
          <a:blip r:embed="rId1"/>
          <a:stretch>
            <a:fillRect/>
          </a:stretch>
        </p:blipFill>
        <p:spPr>
          <a:xfrm>
            <a:off x="548640" y="1371600"/>
            <a:ext cx="6035040" cy="4488561"/>
          </a:xfrm>
          <a:prstGeom prst="rect">
            <a:avLst/>
          </a:prstGeom>
        </p:spPr>
      </p:pic>
      <p:sp>
        <p:nvSpPr>
          <p:cNvPr id="5" name="chain 0"/>
          <p:cNvSpPr/>
          <p:nvPr/>
        </p:nvSpPr>
        <p:spPr>
          <a:xfrm>
            <a:off x="7132320" y="1463040"/>
            <a:ext cx="4480560" cy="685800"/>
          </a:xfrm>
          <a:prstGeom prst="roundRect">
            <a:avLst>
              <a:gd name="adj" fmla="val 13333"/>
            </a:avLst>
          </a:prstGeom>
          <a:solidFill>
            <a:schemeClr val="bg2"/>
          </a:solidFill>
          <a:ln w="12700">
            <a:solidFill>
              <a:srgbClr val="F2F3F5"/>
            </a:solidFill>
            <a:prstDash val="solid"/>
          </a:ln>
        </p:spPr>
      </p:sp>
      <p:sp>
        <p:nvSpPr>
          <p:cNvPr id="6" name="Text 3"/>
          <p:cNvSpPr txBox="1"/>
          <p:nvPr/>
        </p:nvSpPr>
        <p:spPr>
          <a:xfrm>
            <a:off x="7132320" y="1463040"/>
            <a:ext cx="4480560" cy="685800"/>
          </a:xfrm>
          <a:prstGeom prst="rect">
            <a:avLst/>
          </a:prstGeom>
          <a:noFill/>
          <a:ln/>
        </p:spPr>
        <p:txBody>
          <a:bodyPr wrap="square" lIns="0" tIns="0" rIns="0" bIns="0" rtlCol="0" anchor="ctr"/>
          <a:lstStyle/>
          <a:p>
            <a:pPr algn="ctr" indent="0" marL="0">
              <a:buNone/>
            </a:pPr>
            <a:r>
              <a:rPr lang="en-US" sz="1600" b="1" dirty="0">
                <a:solidFill>
                  <a:schemeClr val="tx1"/>
                </a:solidFill>
              </a:rPr>
              <a:t>New monthly extract</a:t>
            </a:r>
            <a:endParaRPr lang="en-US" sz="1600" dirty="0"/>
          </a:p>
        </p:txBody>
      </p:sp>
      <p:sp>
        <p:nvSpPr>
          <p:cNvPr id="7" name="chain arrow"/>
          <p:cNvSpPr/>
          <p:nvPr/>
        </p:nvSpPr>
        <p:spPr>
          <a:xfrm>
            <a:off x="9235440" y="2176272"/>
            <a:ext cx="274320" cy="274320"/>
          </a:xfrm>
          <a:prstGeom prst="downArrow">
            <a:avLst/>
          </a:prstGeom>
          <a:solidFill>
            <a:schemeClr val="accent5"/>
          </a:solidFill>
          <a:ln w="12700">
            <a:solidFill>
              <a:srgbClr val="5D6066"/>
            </a:solidFill>
            <a:prstDash val="solid"/>
          </a:ln>
        </p:spPr>
      </p:sp>
      <p:sp>
        <p:nvSpPr>
          <p:cNvPr id="8" name="chain 1"/>
          <p:cNvSpPr/>
          <p:nvPr/>
        </p:nvSpPr>
        <p:spPr>
          <a:xfrm>
            <a:off x="7132320" y="2487168"/>
            <a:ext cx="4480560" cy="685800"/>
          </a:xfrm>
          <a:prstGeom prst="roundRect">
            <a:avLst>
              <a:gd name="adj" fmla="val 13333"/>
            </a:avLst>
          </a:prstGeom>
          <a:solidFill>
            <a:schemeClr val="bg2"/>
          </a:solidFill>
          <a:ln w="12700">
            <a:solidFill>
              <a:srgbClr val="F2F3F5"/>
            </a:solidFill>
            <a:prstDash val="solid"/>
          </a:ln>
        </p:spPr>
      </p:sp>
      <p:sp>
        <p:nvSpPr>
          <p:cNvPr id="9" name="Text 6"/>
          <p:cNvSpPr txBox="1"/>
          <p:nvPr/>
        </p:nvSpPr>
        <p:spPr>
          <a:xfrm>
            <a:off x="7132320" y="2487168"/>
            <a:ext cx="4480560" cy="685800"/>
          </a:xfrm>
          <a:prstGeom prst="rect">
            <a:avLst/>
          </a:prstGeom>
          <a:noFill/>
          <a:ln/>
        </p:spPr>
        <p:txBody>
          <a:bodyPr wrap="square" lIns="0" tIns="0" rIns="0" bIns="0" rtlCol="0" anchor="ctr"/>
          <a:lstStyle/>
          <a:p>
            <a:pPr algn="ctr" indent="0" marL="0">
              <a:buNone/>
            </a:pPr>
            <a:r>
              <a:rPr lang="en-US" sz="1600" b="1" dirty="0">
                <a:solidFill>
                  <a:schemeClr val="tx1"/>
                </a:solidFill>
              </a:rPr>
              <a:t>Pipeline rebuild</a:t>
            </a:r>
            <a:endParaRPr lang="en-US" sz="1600" dirty="0"/>
          </a:p>
        </p:txBody>
      </p:sp>
      <p:sp>
        <p:nvSpPr>
          <p:cNvPr id="10" name="chain arrow"/>
          <p:cNvSpPr/>
          <p:nvPr/>
        </p:nvSpPr>
        <p:spPr>
          <a:xfrm>
            <a:off x="9235440" y="3200400"/>
            <a:ext cx="274320" cy="274320"/>
          </a:xfrm>
          <a:prstGeom prst="downArrow">
            <a:avLst/>
          </a:prstGeom>
          <a:solidFill>
            <a:schemeClr val="accent5"/>
          </a:solidFill>
          <a:ln w="12700">
            <a:solidFill>
              <a:srgbClr val="5D6066"/>
            </a:solidFill>
            <a:prstDash val="solid"/>
          </a:ln>
        </p:spPr>
      </p:sp>
      <p:sp>
        <p:nvSpPr>
          <p:cNvPr id="11" name="chain 2"/>
          <p:cNvSpPr/>
          <p:nvPr/>
        </p:nvSpPr>
        <p:spPr>
          <a:xfrm>
            <a:off x="7132320" y="3511296"/>
            <a:ext cx="4480560" cy="685800"/>
          </a:xfrm>
          <a:prstGeom prst="roundRect">
            <a:avLst>
              <a:gd name="adj" fmla="val 13333"/>
            </a:avLst>
          </a:prstGeom>
          <a:solidFill>
            <a:schemeClr val="bg2"/>
          </a:solidFill>
          <a:ln w="12700">
            <a:solidFill>
              <a:srgbClr val="F2F3F5"/>
            </a:solidFill>
            <a:prstDash val="solid"/>
          </a:ln>
        </p:spPr>
      </p:sp>
      <p:sp>
        <p:nvSpPr>
          <p:cNvPr id="12" name="Text 9"/>
          <p:cNvSpPr txBox="1"/>
          <p:nvPr/>
        </p:nvSpPr>
        <p:spPr>
          <a:xfrm>
            <a:off x="7132320" y="3511296"/>
            <a:ext cx="4480560" cy="685800"/>
          </a:xfrm>
          <a:prstGeom prst="rect">
            <a:avLst/>
          </a:prstGeom>
          <a:noFill/>
          <a:ln/>
        </p:spPr>
        <p:txBody>
          <a:bodyPr wrap="square" lIns="0" tIns="0" rIns="0" bIns="0" rtlCol="0" anchor="ctr"/>
          <a:lstStyle/>
          <a:p>
            <a:pPr algn="ctr" indent="0" marL="0">
              <a:buNone/>
            </a:pPr>
            <a:r>
              <a:rPr lang="en-US" sz="1600" b="1" dirty="0">
                <a:solidFill>
                  <a:schemeClr val="tx1"/>
                </a:solidFill>
              </a:rPr>
              <a:t>Updated monthly tables</a:t>
            </a:r>
            <a:endParaRPr lang="en-US" sz="1600" dirty="0"/>
          </a:p>
        </p:txBody>
      </p:sp>
      <p:sp>
        <p:nvSpPr>
          <p:cNvPr id="13" name="chain arrow"/>
          <p:cNvSpPr/>
          <p:nvPr/>
        </p:nvSpPr>
        <p:spPr>
          <a:xfrm>
            <a:off x="9235440" y="4224528"/>
            <a:ext cx="274320" cy="274320"/>
          </a:xfrm>
          <a:prstGeom prst="downArrow">
            <a:avLst/>
          </a:prstGeom>
          <a:solidFill>
            <a:schemeClr val="accent5"/>
          </a:solidFill>
          <a:ln w="12700">
            <a:solidFill>
              <a:srgbClr val="5D6066"/>
            </a:solidFill>
            <a:prstDash val="solid"/>
          </a:ln>
        </p:spPr>
      </p:sp>
      <p:sp>
        <p:nvSpPr>
          <p:cNvPr id="14" name="chain 3"/>
          <p:cNvSpPr/>
          <p:nvPr/>
        </p:nvSpPr>
        <p:spPr>
          <a:xfrm>
            <a:off x="7132320" y="4535424"/>
            <a:ext cx="4480560" cy="685800"/>
          </a:xfrm>
          <a:prstGeom prst="roundRect">
            <a:avLst>
              <a:gd name="adj" fmla="val 13333"/>
            </a:avLst>
          </a:prstGeom>
          <a:solidFill>
            <a:schemeClr val="accent1"/>
          </a:solidFill>
          <a:ln w="12700">
            <a:solidFill>
              <a:srgbClr val="F2F3F5"/>
            </a:solidFill>
            <a:prstDash val="solid"/>
          </a:ln>
        </p:spPr>
      </p:sp>
      <p:sp>
        <p:nvSpPr>
          <p:cNvPr id="15" name="Text 12"/>
          <p:cNvSpPr txBox="1"/>
          <p:nvPr/>
        </p:nvSpPr>
        <p:spPr>
          <a:xfrm>
            <a:off x="7132320" y="4535424"/>
            <a:ext cx="4480560" cy="685800"/>
          </a:xfrm>
          <a:prstGeom prst="rect">
            <a:avLst/>
          </a:prstGeom>
          <a:noFill/>
          <a:ln/>
        </p:spPr>
        <p:txBody>
          <a:bodyPr wrap="square" lIns="0" tIns="0" rIns="0" bIns="0" rtlCol="0" anchor="ctr"/>
          <a:lstStyle/>
          <a:p>
            <a:pPr algn="ctr" indent="0" marL="0">
              <a:buNone/>
            </a:pPr>
            <a:r>
              <a:rPr lang="en-US" sz="1600" b="1" dirty="0">
                <a:solidFill>
                  <a:schemeClr val="bg1"/>
                </a:solidFill>
              </a:rPr>
              <a:t>Updated dashboard</a:t>
            </a:r>
            <a:endParaRPr lang="en-US" sz="1600" dirty="0"/>
          </a:p>
        </p:txBody>
      </p:sp>
      <p:sp>
        <p:nvSpPr>
          <p:cNvPr id="16" name="Text 13"/>
          <p:cNvSpPr txBox="1"/>
          <p:nvPr/>
        </p:nvSpPr>
        <p:spPr>
          <a:xfrm>
            <a:off x="7132320" y="5577840"/>
            <a:ext cx="4480560" cy="548640"/>
          </a:xfrm>
          <a:prstGeom prst="rect">
            <a:avLst/>
          </a:prstGeom>
          <a:noFill/>
          <a:ln/>
        </p:spPr>
        <p:txBody>
          <a:bodyPr wrap="square" lIns="0" tIns="0" rIns="0" bIns="0" rtlCol="0" anchor="t"/>
          <a:lstStyle/>
          <a:p>
            <a:pPr indent="0" marL="0">
              <a:buNone/>
            </a:pPr>
            <a:r>
              <a:rPr lang="en-US" sz="1400" i="1" dirty="0">
                <a:solidFill>
                  <a:schemeClr val="accent5"/>
                </a:solidFill>
              </a:rPr>
              <a:t>An automated test adds a synthetic April and checks that the new month appears.</a:t>
            </a:r>
            <a:endParaRPr lang="en-US" sz="14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How the results are checked</a:t>
            </a:r>
            <a:endParaRPr lang="en-US" sz="3000" dirty="0"/>
          </a:p>
        </p:txBody>
      </p:sp>
      <p:sp>
        <p:nvSpPr>
          <p:cNvPr id="20" name="official build card"/>
          <p:cNvSpPr/>
          <p:nvPr/>
        </p:nvSpPr>
        <p:spPr>
          <a:xfrm>
            <a:off x="548640" y="1463040"/>
            <a:ext cx="6217920" cy="2834640"/>
          </a:xfrm>
          <a:prstGeom prst="roundRect">
            <a:avLst>
              <a:gd name="adj" fmla="val 2020"/>
            </a:avLst>
          </a:prstGeom>
          <a:solidFill>
            <a:schemeClr val="tx2"/>
          </a:solidFill>
          <a:ln w="12700">
            <a:solidFill>
              <a:schemeClr val="tx2"/>
            </a:solidFill>
            <a:prstDash val="solid"/>
          </a:ln>
        </p:spPr>
      </p:sp>
      <p:sp>
        <p:nvSpPr>
          <p:cNvPr id="21" name="official build facts"/>
          <p:cNvSpPr txBox="1"/>
          <p:nvPr/>
        </p:nvSpPr>
        <p:spPr>
          <a:xfrm>
            <a:off x="822960" y="1691640"/>
            <a:ext cx="5669280" cy="2468880"/>
          </a:xfrm>
          <a:prstGeom prst="rect">
            <a:avLst/>
          </a:prstGeom>
          <a:noFill/>
          <a:ln/>
        </p:spPr>
        <p:txBody>
          <a:bodyPr wrap="square" lIns="0" tIns="0" rIns="0" bIns="0" rtlCol="0" anchor="t"/>
          <a:lstStyle/>
          <a:p>
            <a:pPr indent="0" marL="0">
              <a:buNone/>
            </a:pPr>
            <a:r>
              <a:rPr lang="en-US" sz="2000" b="1" dirty="0">
                <a:solidFill>
                  <a:schemeClr val="bg1"/>
                </a:solidFill>
              </a:rPr>
              <a:t>Official build</a:t>
            </a:r>
          </a:p>
          <a:p>
            <a:pPr indent="0" marL="0">
              <a:buNone/>
            </a:pPr>
            <a:r>
              <a:rPr lang="en-US" sz="1200" dirty="0">
                <a:solidFill>
                  <a:schemeClr val="accent6"/>
                </a:solidFill>
              </a:rPr>
              <a:t>20261011T132714Z-e537465460</a:t>
            </a:r>
          </a:p>
          <a:p>
            <a:pPr indent="0" marL="0">
              <a:spcBef>
                <a:spcPts val="900"/>
              </a:spcBef>
              <a:buNone/>
            </a:pPr>
            <a:r>
              <a:rPr lang="en-US" sz="1500" b="1" dirty="0">
                <a:solidFill>
                  <a:schemeClr val="bg1"/>
                </a:solidFill>
              </a:rPr>
              <a:t>6 input fingerprints</a:t>
            </a:r>
            <a:r>
              <a:rPr lang="en-US" sz="1300" dirty="0">
                <a:solidFill>
                  <a:schemeClr val="bg1"/>
                </a:solidFill>
              </a:rPr>
              <a:t>  raw data, settings, code, environment, SQL and label inputs</a:t>
            </a:r>
          </a:p>
          <a:p>
            <a:pPr indent="0" marL="0">
              <a:spcBef>
                <a:spcPts val="900"/>
              </a:spcBef>
              <a:buNone/>
            </a:pPr>
            <a:r>
              <a:rPr lang="en-US" sz="1500" b="1" dirty="0">
                <a:solidFill>
                  <a:schemeClr val="bg1"/>
                </a:solidFill>
              </a:rPr>
              <a:t>54 of 54 analytical files</a:t>
            </a:r>
            <a:r>
              <a:rPr lang="en-US" sz="1300" dirty="0">
                <a:solidFill>
                  <a:schemeClr val="bg1"/>
                </a:solidFill>
              </a:rPr>
              <a:t>  identical across two rebuilds from the same inputs</a:t>
            </a:r>
          </a:p>
          <a:p>
            <a:pPr indent="0" marL="0">
              <a:spcBef>
                <a:spcPts val="900"/>
              </a:spcBef>
              <a:buNone/>
            </a:pPr>
            <a:r>
              <a:rPr lang="en-US" sz="1500" b="1" dirty="0">
                <a:solidFill>
                  <a:schemeClr val="bg1"/>
                </a:solidFill>
              </a:rPr>
              <a:t>0 errors, 0 warnings</a:t>
            </a:r>
            <a:r>
              <a:rPr lang="en-US" sz="1300" dirty="0">
                <a:solidFill>
                  <a:schemeClr val="bg1"/>
                </a:solidFill>
              </a:rPr>
              <a:t>  strict project check; all 9 notebooks rerun on this build</a:t>
            </a:r>
          </a:p>
          <a:p>
            <a:pPr indent="0" marL="0">
              <a:spcBef>
                <a:spcPts val="900"/>
              </a:spcBef>
              <a:buNone/>
            </a:pPr>
            <a:r>
              <a:rPr lang="en-US" sz="1500" b="1" dirty="0">
                <a:solidFill>
                  <a:schemeClr val="bg1"/>
                </a:solidFill>
              </a:rPr>
              <a:t>1,358 values</a:t>
            </a:r>
            <a:r>
              <a:rPr lang="en-US" sz="1300" dirty="0">
                <a:solidFill>
                  <a:schemeClr val="bg1"/>
                </a:solidFill>
              </a:rPr>
              <a:t>  SQL recomputes selected results and every compared value matches</a:t>
            </a:r>
          </a:p>
        </p:txBody>
      </p:sp>
      <p:sp>
        <p:nvSpPr>
          <p:cNvPr id="5" name="fact 0"/>
          <p:cNvSpPr/>
          <p:nvPr/>
        </p:nvSpPr>
        <p:spPr>
          <a:xfrm>
            <a:off x="7223760" y="1463040"/>
            <a:ext cx="4389120" cy="960120"/>
          </a:xfrm>
          <a:prstGeom prst="roundRect">
            <a:avLst>
              <a:gd name="adj" fmla="val 9524"/>
            </a:avLst>
          </a:prstGeom>
          <a:solidFill>
            <a:schemeClr val="bg2"/>
          </a:solidFill>
          <a:ln w="12700">
            <a:solidFill>
              <a:schemeClr val="bg2"/>
            </a:solidFill>
            <a:prstDash val="solid"/>
          </a:ln>
        </p:spPr>
      </p:sp>
      <p:sp>
        <p:nvSpPr>
          <p:cNvPr id="6" name="Text 3"/>
          <p:cNvSpPr txBox="1"/>
          <p:nvPr/>
        </p:nvSpPr>
        <p:spPr>
          <a:xfrm>
            <a:off x="7452360" y="1463040"/>
            <a:ext cx="4023360" cy="960120"/>
          </a:xfrm>
          <a:prstGeom prst="rect">
            <a:avLst/>
          </a:prstGeom>
          <a:noFill/>
          <a:ln/>
        </p:spPr>
        <p:txBody>
          <a:bodyPr wrap="square" lIns="0" tIns="0" rIns="0" bIns="0" rtlCol="0" anchor="ctr"/>
          <a:lstStyle/>
          <a:p>
            <a:pPr indent="0" marL="0">
              <a:buNone/>
            </a:pPr>
            <a:r>
              <a:rPr lang="en-US" sz="2200" b="1" dirty="0">
                <a:solidFill>
                  <a:schemeClr val="accent1"/>
                </a:solidFill>
              </a:rPr>
              <a:t>500+</a:t>
            </a:r>
            <a:endParaRPr lang="en-US" sz="2200" dirty="0"/>
          </a:p>
          <a:p>
            <a:pPr indent="0" marL="0">
              <a:buNone/>
            </a:pPr>
            <a:r>
              <a:rPr lang="en-US" sz="1400" dirty="0">
                <a:solidFill>
                  <a:schemeClr val="tx1"/>
                </a:solidFill>
              </a:rPr>
              <a:t>automated tests</a:t>
            </a:r>
            <a:endParaRPr lang="en-US" sz="2200" dirty="0"/>
          </a:p>
        </p:txBody>
      </p:sp>
      <p:sp>
        <p:nvSpPr>
          <p:cNvPr id="7" name="fact 1"/>
          <p:cNvSpPr/>
          <p:nvPr/>
        </p:nvSpPr>
        <p:spPr>
          <a:xfrm>
            <a:off x="7223760" y="2578608"/>
            <a:ext cx="4389120" cy="960120"/>
          </a:xfrm>
          <a:prstGeom prst="roundRect">
            <a:avLst>
              <a:gd name="adj" fmla="val 9524"/>
            </a:avLst>
          </a:prstGeom>
          <a:solidFill>
            <a:schemeClr val="bg2"/>
          </a:solidFill>
          <a:ln w="12700">
            <a:solidFill>
              <a:schemeClr val="bg2"/>
            </a:solidFill>
            <a:prstDash val="solid"/>
          </a:ln>
        </p:spPr>
      </p:sp>
      <p:sp>
        <p:nvSpPr>
          <p:cNvPr id="8" name="Text 5"/>
          <p:cNvSpPr txBox="1"/>
          <p:nvPr/>
        </p:nvSpPr>
        <p:spPr>
          <a:xfrm>
            <a:off x="7452360" y="2578608"/>
            <a:ext cx="4023360" cy="960120"/>
          </a:xfrm>
          <a:prstGeom prst="rect">
            <a:avLst/>
          </a:prstGeom>
          <a:noFill/>
          <a:ln/>
        </p:spPr>
        <p:txBody>
          <a:bodyPr wrap="square" lIns="0" tIns="0" rIns="0" bIns="0" rtlCol="0" anchor="ctr"/>
          <a:lstStyle/>
          <a:p>
            <a:pPr indent="0" marL="0">
              <a:buNone/>
            </a:pPr>
            <a:r>
              <a:rPr lang="en-US" sz="2200" b="1" dirty="0">
                <a:solidFill>
                  <a:schemeClr val="accent1"/>
                </a:solidFill>
              </a:rPr>
              <a:t>Approval</a:t>
            </a:r>
            <a:endParaRPr lang="en-US" sz="2200" dirty="0"/>
          </a:p>
          <a:p>
            <a:pPr indent="0" marL="0">
              <a:buNone/>
            </a:pPr>
            <a:r>
              <a:rPr lang="en-US" sz="1400" dirty="0">
                <a:solidFill>
                  <a:schemeClr val="tx1"/>
                </a:solidFill>
              </a:rPr>
              <a:t>the app serves only the approved recommender method</a:t>
            </a:r>
            <a:endParaRPr lang="en-US" sz="2200" dirty="0"/>
          </a:p>
        </p:txBody>
      </p:sp>
      <p:sp>
        <p:nvSpPr>
          <p:cNvPr id="9" name="fact 2"/>
          <p:cNvSpPr/>
          <p:nvPr/>
        </p:nvSpPr>
        <p:spPr>
          <a:xfrm>
            <a:off x="7223760" y="3694176"/>
            <a:ext cx="4389120" cy="960120"/>
          </a:xfrm>
          <a:prstGeom prst="roundRect">
            <a:avLst>
              <a:gd name="adj" fmla="val 9524"/>
            </a:avLst>
          </a:prstGeom>
          <a:solidFill>
            <a:schemeClr val="bg2"/>
          </a:solidFill>
          <a:ln w="12700">
            <a:solidFill>
              <a:schemeClr val="bg2"/>
            </a:solidFill>
            <a:prstDash val="solid"/>
          </a:ln>
        </p:spPr>
      </p:sp>
      <p:sp>
        <p:nvSpPr>
          <p:cNvPr id="10" name="Text 7"/>
          <p:cNvSpPr txBox="1"/>
          <p:nvPr/>
        </p:nvSpPr>
        <p:spPr>
          <a:xfrm>
            <a:off x="7452360" y="3694176"/>
            <a:ext cx="4023360" cy="960120"/>
          </a:xfrm>
          <a:prstGeom prst="rect">
            <a:avLst/>
          </a:prstGeom>
          <a:noFill/>
          <a:ln/>
        </p:spPr>
        <p:txBody>
          <a:bodyPr wrap="square" lIns="0" tIns="0" rIns="0" bIns="0" rtlCol="0" anchor="ctr"/>
          <a:lstStyle/>
          <a:p>
            <a:pPr indent="0" marL="0">
              <a:buNone/>
            </a:pPr>
            <a:r>
              <a:rPr lang="en-US" sz="2200" b="1" dirty="0">
                <a:solidFill>
                  <a:schemeClr val="accent1"/>
                </a:solidFill>
              </a:rPr>
              <a:t>Claims checks</a:t>
            </a:r>
            <a:endParaRPr lang="en-US" sz="2200" dirty="0"/>
          </a:p>
          <a:p>
            <a:pPr indent="0" marL="0">
              <a:buNone/>
            </a:pPr>
            <a:r>
              <a:rPr lang="en-US" sz="1400" dirty="0">
                <a:solidFill>
                  <a:schemeClr val="tx1"/>
                </a:solidFill>
              </a:rPr>
              <a:t>notebooks and report tests compare selected figures with the outputs</a:t>
            </a:r>
            <a:endParaRPr lang="en-US" sz="2200" dirty="0"/>
          </a:p>
        </p:txBody>
      </p:sp>
      <p:sp>
        <p:nvSpPr>
          <p:cNvPr id="11" name="fact 3"/>
          <p:cNvSpPr/>
          <p:nvPr/>
        </p:nvSpPr>
        <p:spPr>
          <a:xfrm>
            <a:off x="7223760" y="4809744"/>
            <a:ext cx="4389120" cy="960120"/>
          </a:xfrm>
          <a:prstGeom prst="roundRect">
            <a:avLst>
              <a:gd name="adj" fmla="val 9524"/>
            </a:avLst>
          </a:prstGeom>
          <a:solidFill>
            <a:schemeClr val="bg2"/>
          </a:solidFill>
          <a:ln w="12700">
            <a:solidFill>
              <a:schemeClr val="bg2"/>
            </a:solidFill>
            <a:prstDash val="solid"/>
          </a:ln>
        </p:spPr>
      </p:sp>
      <p:sp>
        <p:nvSpPr>
          <p:cNvPr id="12" name="Text 9"/>
          <p:cNvSpPr txBox="1"/>
          <p:nvPr/>
        </p:nvSpPr>
        <p:spPr>
          <a:xfrm>
            <a:off x="7452360" y="4809744"/>
            <a:ext cx="4023360" cy="960120"/>
          </a:xfrm>
          <a:prstGeom prst="rect">
            <a:avLst/>
          </a:prstGeom>
          <a:noFill/>
          <a:ln/>
        </p:spPr>
        <p:txBody>
          <a:bodyPr wrap="square" lIns="0" tIns="0" rIns="0" bIns="0" rtlCol="0" anchor="ctr"/>
          <a:lstStyle/>
          <a:p>
            <a:pPr indent="0" marL="0">
              <a:buNone/>
            </a:pPr>
            <a:r>
              <a:rPr lang="en-US" sz="2200" b="1" dirty="0">
                <a:solidFill>
                  <a:schemeClr val="accent1"/>
                </a:solidFill>
              </a:rPr>
              <a:t>Git tags</a:t>
            </a:r>
            <a:endParaRPr lang="en-US" sz="2200" dirty="0"/>
          </a:p>
          <a:p>
            <a:pPr indent="0" marL="0">
              <a:buNone/>
            </a:pPr>
            <a:r>
              <a:rPr lang="en-US" sz="1400" dirty="0">
                <a:solidFill>
                  <a:schemeClr val="tx1"/>
                </a:solidFill>
              </a:rPr>
              <a:t>record the frozen label-based evaluations</a:t>
            </a:r>
            <a:endParaRPr lang="en-US" sz="2200" dirty="0"/>
          </a:p>
        </p:txBody>
      </p:sp>
      <p:sp>
        <p:nvSpPr>
          <p:cNvPr id="13" name="claims line"/>
          <p:cNvSpPr txBox="1"/>
          <p:nvPr/>
        </p:nvSpPr>
        <p:spPr>
          <a:xfrm>
            <a:off x="548640" y="4434840"/>
            <a:ext cx="6217920" cy="1097280"/>
          </a:xfrm>
          <a:prstGeom prst="rect">
            <a:avLst/>
          </a:prstGeom>
          <a:noFill/>
          <a:ln/>
        </p:spPr>
        <p:txBody>
          <a:bodyPr wrap="square" lIns="0" tIns="0" rIns="0" bIns="0" rtlCol="0" anchor="t"/>
          <a:lstStyle/>
          <a:p>
            <a:pPr indent="0" marL="0">
              <a:buNone/>
            </a:pPr>
            <a:r>
              <a:rPr lang="en-US" sz="1600" dirty="0">
                <a:solidFill>
                  <a:schemeClr val="tx1"/>
                </a:solidFill>
              </a:rPr>
              <a:t>The official Windows and Linux builds use the same recorded inputs. Of 54 analytical files, 49 are byte-identical. The other five differ only in compression or small numerical values, without changing the main findings.</a:t>
            </a:r>
            <a:endParaRPr lang="en-US" sz="16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Deployment with Docker</a:t>
            </a:r>
            <a:endParaRPr lang="en-US" sz="3000" dirty="0"/>
          </a:p>
        </p:txBody>
      </p:sp>
      <p:sp>
        <p:nvSpPr>
          <p:cNvPr id="3" name="arch Browser"/>
          <p:cNvSpPr/>
          <p:nvPr/>
        </p:nvSpPr>
        <p:spPr>
          <a:xfrm>
            <a:off x="548640" y="1828800"/>
            <a:ext cx="2468880" cy="1463040"/>
          </a:xfrm>
          <a:prstGeom prst="roundRect">
            <a:avLst>
              <a:gd name="adj" fmla="val 7500"/>
            </a:avLst>
          </a:prstGeom>
          <a:solidFill>
            <a:schemeClr val="tx2"/>
          </a:solidFill>
          <a:ln w="12700">
            <a:solidFill>
              <a:srgbClr val="FFFFFF"/>
            </a:solidFill>
            <a:prstDash val="solid"/>
          </a:ln>
        </p:spPr>
      </p:sp>
      <p:sp>
        <p:nvSpPr>
          <p:cNvPr id="4" name="Text 2"/>
          <p:cNvSpPr txBox="1"/>
          <p:nvPr/>
        </p:nvSpPr>
        <p:spPr>
          <a:xfrm>
            <a:off x="548640" y="1828800"/>
            <a:ext cx="2468880" cy="1463040"/>
          </a:xfrm>
          <a:prstGeom prst="rect">
            <a:avLst/>
          </a:prstGeom>
          <a:noFill/>
          <a:ln/>
        </p:spPr>
        <p:txBody>
          <a:bodyPr wrap="square" lIns="1270" tIns="1270" rIns="1270" bIns="1270" rtlCol="0" anchor="ctr"/>
          <a:lstStyle/>
          <a:p>
            <a:pPr algn="ctr" indent="0" marL="0">
              <a:buNone/>
            </a:pPr>
            <a:r>
              <a:rPr lang="en-US" sz="1800" b="1" dirty="0">
                <a:solidFill>
                  <a:schemeClr val="bg1"/>
                </a:solidFill>
              </a:rPr>
              <a:t>Browser</a:t>
            </a:r>
            <a:endParaRPr lang="en-US" sz="1800" dirty="0"/>
          </a:p>
          <a:p>
            <a:pPr algn="ctr" indent="0" marL="0">
              <a:buNone/>
            </a:pPr>
            <a:r>
              <a:rPr lang="en-US" sz="1400" dirty="0">
                <a:solidFill>
                  <a:schemeClr val="bg1"/>
                </a:solidFill>
              </a:rPr>
              <a:t>localhost:8080</a:t>
            </a:r>
            <a:endParaRPr lang="en-US" sz="1800" dirty="0"/>
          </a:p>
        </p:txBody>
      </p:sp>
      <p:sp>
        <p:nvSpPr>
          <p:cNvPr id="5" name="arch arrow"/>
          <p:cNvSpPr/>
          <p:nvPr/>
        </p:nvSpPr>
        <p:spPr>
          <a:xfrm>
            <a:off x="3072384" y="2377440"/>
            <a:ext cx="310896" cy="365760"/>
          </a:xfrm>
          <a:prstGeom prst="rightArrow">
            <a:avLst/>
          </a:prstGeom>
          <a:solidFill>
            <a:schemeClr val="accent5"/>
          </a:solidFill>
          <a:ln w="12700">
            <a:solidFill>
              <a:srgbClr val="5D6066"/>
            </a:solidFill>
            <a:prstDash val="solid"/>
          </a:ln>
        </p:spPr>
      </p:sp>
      <p:sp>
        <p:nvSpPr>
          <p:cNvPr id="6" name="arch Nginx"/>
          <p:cNvSpPr/>
          <p:nvPr/>
        </p:nvSpPr>
        <p:spPr>
          <a:xfrm>
            <a:off x="3429000" y="1828800"/>
            <a:ext cx="2468880" cy="1463040"/>
          </a:xfrm>
          <a:prstGeom prst="roundRect">
            <a:avLst>
              <a:gd name="adj" fmla="val 7500"/>
            </a:avLst>
          </a:prstGeom>
          <a:solidFill>
            <a:schemeClr val="accent2"/>
          </a:solidFill>
          <a:ln w="12700">
            <a:solidFill>
              <a:srgbClr val="FFFFFF"/>
            </a:solidFill>
            <a:prstDash val="solid"/>
          </a:ln>
        </p:spPr>
      </p:sp>
      <p:sp>
        <p:nvSpPr>
          <p:cNvPr id="7" name="Text 5"/>
          <p:cNvSpPr txBox="1"/>
          <p:nvPr/>
        </p:nvSpPr>
        <p:spPr>
          <a:xfrm>
            <a:off x="3429000" y="1828800"/>
            <a:ext cx="2468880" cy="1463040"/>
          </a:xfrm>
          <a:prstGeom prst="rect">
            <a:avLst/>
          </a:prstGeom>
          <a:noFill/>
          <a:ln/>
        </p:spPr>
        <p:txBody>
          <a:bodyPr wrap="square" lIns="1270" tIns="1270" rIns="1270" bIns="1270" rtlCol="0" anchor="ctr"/>
          <a:lstStyle/>
          <a:p>
            <a:pPr algn="ctr" indent="0" marL="0">
              <a:buNone/>
            </a:pPr>
            <a:r>
              <a:rPr lang="en-US" sz="1800" b="1" dirty="0">
                <a:solidFill>
                  <a:schemeClr val="bg1"/>
                </a:solidFill>
              </a:rPr>
              <a:t>Nginx</a:t>
            </a:r>
            <a:endParaRPr lang="en-US" sz="1800" dirty="0"/>
          </a:p>
          <a:p>
            <a:pPr algn="ctr" indent="0" marL="0">
              <a:buNone/>
            </a:pPr>
            <a:r>
              <a:rPr lang="en-US" sz="1400" dirty="0">
                <a:solidFill>
                  <a:schemeClr val="bg1"/>
                </a:solidFill>
              </a:rPr>
              <a:t>web server, the only public port</a:t>
            </a:r>
            <a:endParaRPr lang="en-US" sz="1800" dirty="0"/>
          </a:p>
        </p:txBody>
      </p:sp>
      <p:sp>
        <p:nvSpPr>
          <p:cNvPr id="8" name="arch arrow"/>
          <p:cNvSpPr/>
          <p:nvPr/>
        </p:nvSpPr>
        <p:spPr>
          <a:xfrm>
            <a:off x="5952744" y="2377440"/>
            <a:ext cx="310896" cy="365760"/>
          </a:xfrm>
          <a:prstGeom prst="rightArrow">
            <a:avLst/>
          </a:prstGeom>
          <a:solidFill>
            <a:schemeClr val="accent5"/>
          </a:solidFill>
          <a:ln w="12700">
            <a:solidFill>
              <a:srgbClr val="5D6066"/>
            </a:solidFill>
            <a:prstDash val="solid"/>
          </a:ln>
        </p:spPr>
      </p:sp>
      <p:sp>
        <p:nvSpPr>
          <p:cNvPr id="9" name="arch Gunicorn + Flask"/>
          <p:cNvSpPr/>
          <p:nvPr/>
        </p:nvSpPr>
        <p:spPr>
          <a:xfrm>
            <a:off x="6309360" y="1828800"/>
            <a:ext cx="2468880" cy="1463040"/>
          </a:xfrm>
          <a:prstGeom prst="roundRect">
            <a:avLst>
              <a:gd name="adj" fmla="val 7500"/>
            </a:avLst>
          </a:prstGeom>
          <a:solidFill>
            <a:schemeClr val="accent2"/>
          </a:solidFill>
          <a:ln w="12700">
            <a:solidFill>
              <a:srgbClr val="FFFFFF"/>
            </a:solidFill>
            <a:prstDash val="solid"/>
          </a:ln>
        </p:spPr>
      </p:sp>
      <p:sp>
        <p:nvSpPr>
          <p:cNvPr id="10" name="Text 8"/>
          <p:cNvSpPr txBox="1"/>
          <p:nvPr/>
        </p:nvSpPr>
        <p:spPr>
          <a:xfrm>
            <a:off x="6309360" y="1828800"/>
            <a:ext cx="2468880" cy="1463040"/>
          </a:xfrm>
          <a:prstGeom prst="rect">
            <a:avLst/>
          </a:prstGeom>
          <a:noFill/>
          <a:ln/>
        </p:spPr>
        <p:txBody>
          <a:bodyPr wrap="square" lIns="1270" tIns="1270" rIns="1270" bIns="1270" rtlCol="0" anchor="ctr"/>
          <a:lstStyle/>
          <a:p>
            <a:pPr algn="ctr" indent="0" marL="0">
              <a:buNone/>
            </a:pPr>
            <a:r>
              <a:rPr lang="en-US" sz="1800" b="1" dirty="0">
                <a:solidFill>
                  <a:schemeClr val="bg1"/>
                </a:solidFill>
              </a:rPr>
              <a:t>Gunicorn + Flask</a:t>
            </a:r>
            <a:endParaRPr lang="en-US" sz="1800" dirty="0"/>
          </a:p>
          <a:p>
            <a:pPr algn="ctr" indent="0" marL="0">
              <a:buNone/>
            </a:pPr>
            <a:r>
              <a:rPr lang="en-US" sz="1400" dirty="0">
                <a:solidFill>
                  <a:schemeClr val="bg1"/>
                </a:solidFill>
              </a:rPr>
              <a:t>1 worker, 4 threads</a:t>
            </a:r>
            <a:endParaRPr lang="en-US" sz="1800" dirty="0"/>
          </a:p>
        </p:txBody>
      </p:sp>
      <p:sp>
        <p:nvSpPr>
          <p:cNvPr id="11" name="arch arrow"/>
          <p:cNvSpPr/>
          <p:nvPr/>
        </p:nvSpPr>
        <p:spPr>
          <a:xfrm>
            <a:off x="8833104" y="2377440"/>
            <a:ext cx="310896" cy="365760"/>
          </a:xfrm>
          <a:prstGeom prst="rightArrow">
            <a:avLst/>
          </a:prstGeom>
          <a:solidFill>
            <a:schemeClr val="accent5"/>
          </a:solidFill>
          <a:ln w="12700">
            <a:solidFill>
              <a:srgbClr val="5D6066"/>
            </a:solidFill>
            <a:prstDash val="solid"/>
          </a:ln>
        </p:spPr>
      </p:sp>
      <p:sp>
        <p:nvSpPr>
          <p:cNvPr id="12" name="arch Verified data"/>
          <p:cNvSpPr/>
          <p:nvPr/>
        </p:nvSpPr>
        <p:spPr>
          <a:xfrm>
            <a:off x="9189720" y="1828800"/>
            <a:ext cx="2468880" cy="1463040"/>
          </a:xfrm>
          <a:prstGeom prst="roundRect">
            <a:avLst>
              <a:gd name="adj" fmla="val 7500"/>
            </a:avLst>
          </a:prstGeom>
          <a:solidFill>
            <a:schemeClr val="accent4"/>
          </a:solidFill>
          <a:ln w="12700">
            <a:solidFill>
              <a:srgbClr val="FFFFFF"/>
            </a:solidFill>
            <a:prstDash val="solid"/>
          </a:ln>
        </p:spPr>
      </p:sp>
      <p:sp>
        <p:nvSpPr>
          <p:cNvPr id="13" name="Text 11"/>
          <p:cNvSpPr txBox="1"/>
          <p:nvPr/>
        </p:nvSpPr>
        <p:spPr>
          <a:xfrm>
            <a:off x="9189720" y="1828800"/>
            <a:ext cx="2468880" cy="1463040"/>
          </a:xfrm>
          <a:prstGeom prst="rect">
            <a:avLst/>
          </a:prstGeom>
          <a:noFill/>
          <a:ln/>
        </p:spPr>
        <p:txBody>
          <a:bodyPr wrap="square" lIns="1270" tIns="1270" rIns="1270" bIns="1270" rtlCol="0" anchor="ctr"/>
          <a:lstStyle/>
          <a:p>
            <a:pPr algn="ctr" indent="0" marL="0">
              <a:buNone/>
            </a:pPr>
            <a:r>
              <a:rPr lang="en-US" sz="1800" b="1" dirty="0">
                <a:solidFill>
                  <a:schemeClr val="bg1"/>
                </a:solidFill>
              </a:rPr>
              <a:t>Verified data</a:t>
            </a:r>
            <a:endParaRPr lang="en-US" sz="1800" dirty="0"/>
          </a:p>
          <a:p>
            <a:pPr algn="ctr" indent="0" marL="0">
              <a:buNone/>
            </a:pPr>
            <a:r>
              <a:rPr lang="en-US" sz="1400" dirty="0">
                <a:solidFill>
                  <a:schemeClr val="bg1"/>
                </a:solidFill>
              </a:rPr>
              <a:t>mounted read-only</a:t>
            </a:r>
            <a:endParaRPr lang="en-US" sz="1800" dirty="0"/>
          </a:p>
        </p:txBody>
      </p:sp>
      <p:sp>
        <p:nvSpPr>
          <p:cNvPr id="14" name="run card"/>
          <p:cNvSpPr/>
          <p:nvPr/>
        </p:nvSpPr>
        <p:spPr>
          <a:xfrm>
            <a:off x="548640" y="3886200"/>
            <a:ext cx="5394960" cy="1600200"/>
          </a:xfrm>
          <a:prstGeom prst="roundRect">
            <a:avLst>
              <a:gd name="adj" fmla="val 5714"/>
            </a:avLst>
          </a:prstGeom>
          <a:solidFill>
            <a:schemeClr val="bg2"/>
          </a:solidFill>
          <a:ln w="12700">
            <a:solidFill>
              <a:schemeClr val="bg2"/>
            </a:solidFill>
            <a:prstDash val="solid"/>
          </a:ln>
        </p:spPr>
      </p:sp>
      <p:sp>
        <p:nvSpPr>
          <p:cNvPr id="15" name="Text 13"/>
          <p:cNvSpPr txBox="1"/>
          <p:nvPr/>
        </p:nvSpPr>
        <p:spPr>
          <a:xfrm>
            <a:off x="822960" y="4069080"/>
            <a:ext cx="4937760" cy="1645920"/>
          </a:xfrm>
          <a:prstGeom prst="rect">
            <a:avLst/>
          </a:prstGeom>
          <a:noFill/>
          <a:ln/>
        </p:spPr>
        <p:txBody>
          <a:bodyPr wrap="square" lIns="0" tIns="0" rIns="0" bIns="0" rtlCol="0" anchor="t"/>
          <a:lstStyle/>
          <a:p>
            <a:pPr indent="0" marL="0">
              <a:buNone/>
            </a:pPr>
            <a:r>
              <a:rPr lang="en-US" sz="1700" b="1" dirty="0">
                <a:solidFill>
                  <a:schemeClr val="tx1"/>
                </a:solidFill>
              </a:rPr>
              <a:t>Run it</a:t>
            </a:r>
            <a:endParaRPr lang="en-US" sz="1700" dirty="0"/>
          </a:p>
          <a:p>
            <a:pPr indent="0" marL="0">
              <a:buNone/>
            </a:pPr>
            <a:r>
              <a:rPr lang="en-US" sz="1600" dirty="0">
                <a:solidFill>
                  <a:schemeClr val="accent1"/>
                </a:solidFill>
                <a:latin typeface="Courier New" pitchFamily="34" charset="0"/>
                <a:ea typeface="Courier New" pitchFamily="34" charset="-122"/>
                <a:cs typeface="Courier New" pitchFamily="34" charset="-120"/>
              </a:rPr>
              <a:t>docker compose up -d</a:t>
            </a:r>
            <a:endParaRPr lang="en-US" sz="1700" dirty="0"/>
          </a:p>
          <a:p>
            <a:pPr indent="0" marL="0">
              <a:buNone/>
            </a:pPr>
            <a:r>
              <a:rPr lang="en-US" sz="1400" dirty="0">
                <a:solidFill>
                  <a:schemeClr val="tx1"/>
                </a:solidFill>
              </a:rPr>
              <a:t>then open http://localhost:8080</a:t>
            </a:r>
            <a:endParaRPr lang="en-US" sz="1700" dirty="0"/>
          </a:p>
        </p:txBody>
      </p:sp>
      <p:sp>
        <p:nvSpPr>
          <p:cNvPr id="16" name="pipeline card"/>
          <p:cNvSpPr/>
          <p:nvPr/>
        </p:nvSpPr>
        <p:spPr>
          <a:xfrm>
            <a:off x="6217920" y="3886200"/>
            <a:ext cx="5394960" cy="1600200"/>
          </a:xfrm>
          <a:prstGeom prst="roundRect">
            <a:avLst>
              <a:gd name="adj" fmla="val 5714"/>
            </a:avLst>
          </a:prstGeom>
          <a:solidFill>
            <a:schemeClr val="bg2"/>
          </a:solidFill>
          <a:ln w="12700">
            <a:solidFill>
              <a:schemeClr val="bg2"/>
            </a:solidFill>
            <a:prstDash val="solid"/>
          </a:ln>
        </p:spPr>
      </p:sp>
      <p:sp>
        <p:nvSpPr>
          <p:cNvPr id="17" name="Text 15"/>
          <p:cNvSpPr txBox="1"/>
          <p:nvPr/>
        </p:nvSpPr>
        <p:spPr>
          <a:xfrm>
            <a:off x="6492240" y="4069080"/>
            <a:ext cx="4937760" cy="1645920"/>
          </a:xfrm>
          <a:prstGeom prst="rect">
            <a:avLst/>
          </a:prstGeom>
          <a:noFill/>
          <a:ln/>
        </p:spPr>
        <p:txBody>
          <a:bodyPr wrap="square" lIns="0" tIns="0" rIns="0" bIns="0" rtlCol="0" anchor="t"/>
          <a:lstStyle/>
          <a:p>
            <a:pPr indent="0" marL="0">
              <a:buNone/>
            </a:pPr>
            <a:r>
              <a:rPr lang="en-US" sz="1700" b="1" dirty="0">
                <a:solidFill>
                  <a:schemeClr val="tx1"/>
                </a:solidFill>
              </a:rPr>
              <a:t>Rebuild inside Linux</a:t>
            </a:r>
            <a:endParaRPr lang="en-US" sz="1700" dirty="0"/>
          </a:p>
          <a:p>
            <a:pPr indent="0" marL="0">
              <a:buNone/>
            </a:pPr>
            <a:r>
              <a:rPr lang="en-US" sz="1400" dirty="0">
                <a:solidFill>
                  <a:schemeClr val="tx1"/>
                </a:solidFill>
              </a:rPr>
              <a:t>An on-demand pipeline service rebuilds every output from the raw file. The app starts only after its health check passes.</a:t>
            </a:r>
            <a:endParaRPr lang="en-US" sz="17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000" b="1" dirty="0">
                <a:solidFill>
                  <a:schemeClr val="tx1"/>
                </a:solidFill>
              </a:rPr>
              <a:t>Limits, and what more data would allow</a:t>
            </a:r>
            <a:endParaRPr lang="en-US" sz="3000" dirty="0"/>
          </a:p>
        </p:txBody>
      </p:sp>
      <p:sp>
        <p:nvSpPr>
          <p:cNvPr id="3" name="limits card"/>
          <p:cNvSpPr/>
          <p:nvPr/>
        </p:nvSpPr>
        <p:spPr>
          <a:xfrm>
            <a:off x="548640" y="1463040"/>
            <a:ext cx="5394960" cy="4206240"/>
          </a:xfrm>
          <a:prstGeom prst="roundRect">
            <a:avLst>
              <a:gd name="adj" fmla="val 2703"/>
            </a:avLst>
          </a:prstGeom>
          <a:solidFill>
            <a:schemeClr val="bg2"/>
          </a:solidFill>
          <a:ln w="12700">
            <a:solidFill>
              <a:schemeClr val="bg2"/>
            </a:solidFill>
            <a:prstDash val="solid"/>
          </a:ln>
        </p:spPr>
      </p:sp>
      <p:sp>
        <p:nvSpPr>
          <p:cNvPr id="4" name="Text 2"/>
          <p:cNvSpPr txBox="1"/>
          <p:nvPr/>
        </p:nvSpPr>
        <p:spPr>
          <a:xfrm>
            <a:off x="822960" y="1737360"/>
            <a:ext cx="4937760" cy="3840480"/>
          </a:xfrm>
          <a:prstGeom prst="rect">
            <a:avLst/>
          </a:prstGeom>
          <a:noFill/>
          <a:ln/>
        </p:spPr>
        <p:txBody>
          <a:bodyPr wrap="square" lIns="0" tIns="0" rIns="0" bIns="0" rtlCol="0" anchor="t"/>
          <a:lstStyle/>
          <a:p>
            <a:pPr indent="0" marL="0">
              <a:spcAft>
                <a:spcPts val="1600"/>
              </a:spcAft>
              <a:buNone/>
            </a:pPr>
            <a:r>
              <a:rPr lang="en-US" sz="1800" b="1" dirty="0">
                <a:solidFill>
                  <a:schemeClr val="accent1"/>
                </a:solidFill>
              </a:rPr>
              <a:t>Limits today</a:t>
            </a:r>
            <a:endParaRPr lang="en-US" sz="1800" dirty="0"/>
          </a:p>
          <a:p>
            <a:pPr marL="342900" indent="-342900">
              <a:spcAft>
                <a:spcPts val="1600"/>
              </a:spcAft>
              <a:buSzPct val="100000"/>
              <a:buChar char="•"/>
            </a:pPr>
            <a:r>
              <a:rPr lang="en-US" sz="1800" dirty="0">
                <a:solidFill>
                  <a:schemeClr val="tx1"/>
                </a:solidFill>
              </a:rPr>
              <a:t>No job descriptions or skills lists</a:t>
            </a:r>
            <a:endParaRPr lang="en-US" sz="1800" dirty="0"/>
          </a:p>
          <a:p>
            <a:pPr marL="342900" indent="-342900">
              <a:spcAft>
                <a:spcPts val="1600"/>
              </a:spcAft>
              <a:buSzPct val="100000"/>
              <a:buChar char="•"/>
            </a:pPr>
            <a:r>
              <a:rPr lang="en-US" sz="1800" dirty="0">
                <a:solidFill>
                  <a:schemeClr val="tx1"/>
                </a:solidFill>
              </a:rPr>
              <a:t>Five weeks of reliable history</a:t>
            </a:r>
            <a:endParaRPr lang="en-US" sz="1800" dirty="0"/>
          </a:p>
          <a:p>
            <a:pPr marL="342900" indent="-342900">
              <a:spcAft>
                <a:spcPts val="1600"/>
              </a:spcAft>
              <a:buSzPct val="100000"/>
              <a:buChar char="•"/>
            </a:pPr>
            <a:r>
              <a:rPr lang="en-US" sz="1800" dirty="0">
                <a:solidFill>
                  <a:schemeClr val="tx1"/>
                </a:solidFill>
              </a:rPr>
              <a:t>One annotator for all labels</a:t>
            </a:r>
            <a:endParaRPr lang="en-US" sz="1800" dirty="0"/>
          </a:p>
          <a:p>
            <a:pPr marL="342900" indent="-342900">
              <a:spcAft>
                <a:spcPts val="1600"/>
              </a:spcAft>
              <a:buSzPct val="100000"/>
              <a:buChar char="•"/>
            </a:pPr>
            <a:r>
              <a:rPr lang="en-US" sz="1800" dirty="0">
                <a:solidFill>
                  <a:schemeClr val="tx1"/>
                </a:solidFill>
              </a:rPr>
              <a:t>Offers, not what freelancers earn</a:t>
            </a:r>
            <a:endParaRPr lang="en-US" sz="1800" dirty="0"/>
          </a:p>
          <a:p>
            <a:pPr marL="342900" indent="-342900">
              <a:spcAft>
                <a:spcPts val="1600"/>
              </a:spcAft>
              <a:buSzPct val="100000"/>
              <a:buChar char="•"/>
            </a:pPr>
            <a:r>
              <a:rPr lang="en-US" sz="1800" dirty="0">
                <a:solidFill>
                  <a:schemeClr val="tx1"/>
                </a:solidFill>
              </a:rPr>
              <a:t>Associations, not causes</a:t>
            </a:r>
            <a:endParaRPr lang="en-US" sz="1800" dirty="0"/>
          </a:p>
          <a:p>
            <a:pPr marL="342900" indent="-342900">
              <a:spcAft>
                <a:spcPts val="1600"/>
              </a:spcAft>
              <a:buSzPct val="100000"/>
              <a:buChar char="•"/>
            </a:pPr>
            <a:r>
              <a:rPr lang="en-US" sz="1800" dirty="0">
                <a:solidFill>
                  <a:schemeClr val="tx1"/>
                </a:solidFill>
              </a:rPr>
              <a:t>Forecast ranges cover fewer values than intended</a:t>
            </a:r>
            <a:endParaRPr lang="en-US" sz="1800" dirty="0"/>
          </a:p>
          <a:p>
            <a:pPr marL="342900" indent="-342900">
              <a:spcAft>
                <a:spcPts val="1600"/>
              </a:spcAft>
              <a:buSzPct val="100000"/>
              <a:buChar char="•"/>
            </a:pPr>
            <a:r>
              <a:rPr lang="en-US" sz="1800" dirty="0">
                <a:solidFill>
                  <a:schemeClr val="tx1"/>
                </a:solidFill>
              </a:rPr>
              <a:t>Recommender margin of one result</a:t>
            </a:r>
            <a:endParaRPr lang="en-US" sz="1800" dirty="0"/>
          </a:p>
        </p:txBody>
      </p:sp>
      <p:sp>
        <p:nvSpPr>
          <p:cNvPr id="5" name="more data card"/>
          <p:cNvSpPr/>
          <p:nvPr/>
        </p:nvSpPr>
        <p:spPr>
          <a:xfrm>
            <a:off x="6217920" y="1463040"/>
            <a:ext cx="5394960" cy="4206240"/>
          </a:xfrm>
          <a:prstGeom prst="roundRect">
            <a:avLst>
              <a:gd name="adj" fmla="val 2703"/>
            </a:avLst>
          </a:prstGeom>
          <a:solidFill>
            <a:schemeClr val="tx2"/>
          </a:solidFill>
          <a:ln w="12700">
            <a:solidFill>
              <a:schemeClr val="tx2"/>
            </a:solidFill>
            <a:prstDash val="solid"/>
          </a:ln>
        </p:spPr>
      </p:sp>
      <p:sp>
        <p:nvSpPr>
          <p:cNvPr id="6" name="Text 4"/>
          <p:cNvSpPr txBox="1"/>
          <p:nvPr/>
        </p:nvSpPr>
        <p:spPr>
          <a:xfrm>
            <a:off x="6492240" y="1737360"/>
            <a:ext cx="4937760" cy="3840480"/>
          </a:xfrm>
          <a:prstGeom prst="rect">
            <a:avLst/>
          </a:prstGeom>
          <a:noFill/>
          <a:ln/>
        </p:spPr>
        <p:txBody>
          <a:bodyPr wrap="square" lIns="0" tIns="0" rIns="0" bIns="0" rtlCol="0" anchor="t"/>
          <a:lstStyle/>
          <a:p>
            <a:pPr indent="0" marL="0">
              <a:spcAft>
                <a:spcPts val="1600"/>
              </a:spcAft>
              <a:buNone/>
            </a:pPr>
            <a:r>
              <a:rPr lang="en-US" sz="1800" b="1" dirty="0">
                <a:solidFill>
                  <a:schemeClr val="accent6"/>
                </a:solidFill>
              </a:rPr>
              <a:t>With more data</a:t>
            </a:r>
            <a:endParaRPr lang="en-US" sz="1800" dirty="0"/>
          </a:p>
          <a:p>
            <a:pPr marL="342900" indent="-342900">
              <a:spcAft>
                <a:spcPts val="1600"/>
              </a:spcAft>
              <a:buSzPct val="100000"/>
              <a:buChar char="•"/>
            </a:pPr>
            <a:r>
              <a:rPr lang="en-US" sz="1800" dirty="0">
                <a:solidFill>
                  <a:schemeClr val="bg1"/>
                </a:solidFill>
              </a:rPr>
              <a:t>Job descriptions: better categories and skill-level pay</a:t>
            </a:r>
            <a:endParaRPr lang="en-US" sz="1800" dirty="0"/>
          </a:p>
          <a:p>
            <a:pPr marL="342900" indent="-342900">
              <a:spcAft>
                <a:spcPts val="1600"/>
              </a:spcAft>
              <a:buSzPct val="100000"/>
              <a:buChar char="•"/>
            </a:pPr>
            <a:r>
              <a:rPr lang="en-US" sz="1800" dirty="0">
                <a:solidFill>
                  <a:schemeClr val="bg1"/>
                </a:solidFill>
              </a:rPr>
              <a:t>A year of history: real seasons, longer forecasts</a:t>
            </a:r>
            <a:endParaRPr lang="en-US" sz="1800" dirty="0"/>
          </a:p>
          <a:p>
            <a:pPr marL="342900" indent="-342900">
              <a:spcAft>
                <a:spcPts val="1600"/>
              </a:spcAft>
              <a:buSzPct val="100000"/>
              <a:buChar char="•"/>
            </a:pPr>
            <a:r>
              <a:rPr lang="en-US" sz="1800" dirty="0">
                <a:solidFill>
                  <a:schemeClr val="bg1"/>
                </a:solidFill>
              </a:rPr>
              <a:t>A remote / on-site field: a direct remote answer</a:t>
            </a:r>
            <a:endParaRPr lang="en-US" sz="1800" dirty="0"/>
          </a:p>
          <a:p>
            <a:pPr marL="342900" indent="-342900">
              <a:spcAft>
                <a:spcPts val="1600"/>
              </a:spcAft>
              <a:buSzPct val="100000"/>
              <a:buChar char="•"/>
            </a:pPr>
            <a:r>
              <a:rPr lang="en-US" sz="1800" dirty="0">
                <a:solidFill>
                  <a:schemeClr val="bg1"/>
                </a:solidFill>
              </a:rPr>
              <a:t>Click data: a recommender that learns</a:t>
            </a:r>
            <a:endParaRPr lang="en-US" sz="1800" dirty="0"/>
          </a:p>
        </p:txBody>
      </p:sp>
      <p:sp>
        <p:nvSpPr>
          <p:cNvPr id="25" name="Slide Number Placeholder 0"/>
          <p:cNvSpPr>
            <a:spLocks noGrp="1"/>
          </p:cNvSpPr>
          <p:nvPr>
            <p:ph type="sldNum" sz="quarter" idx="4294967295"/>
          </p:nvPr>
        </p:nvSpPr>
        <p:spPr>
          <a:xfrm>
            <a:off x="1115568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hank you"/>
          <p:cNvSpPr txBox="1"/>
          <p:nvPr/>
        </p:nvSpPr>
        <p:spPr>
          <a:xfrm>
            <a:off x="822960" y="2377440"/>
            <a:ext cx="10515600" cy="1097280"/>
          </a:xfrm>
          <a:prstGeom prst="rect">
            <a:avLst/>
          </a:prstGeom>
          <a:noFill/>
          <a:ln/>
        </p:spPr>
        <p:txBody>
          <a:bodyPr wrap="square" lIns="0" tIns="0" rIns="0" bIns="0" rtlCol="0" anchor="ctr"/>
          <a:lstStyle/>
          <a:p>
            <a:pPr indent="0" marL="0">
              <a:buNone/>
            </a:pPr>
            <a:r>
              <a:rPr lang="en-US" sz="5400" b="1" dirty="0">
                <a:solidFill>
                  <a:schemeClr val="bg1"/>
                </a:solidFill>
              </a:rPr>
              <a:t>Thank you</a:t>
            </a:r>
            <a:endParaRPr lang="en-US" sz="5400" dirty="0"/>
          </a:p>
        </p:txBody>
      </p:sp>
      <p:sp>
        <p:nvSpPr>
          <p:cNvPr id="3" name="Text 1"/>
          <p:cNvSpPr txBox="1"/>
          <p:nvPr/>
        </p:nvSpPr>
        <p:spPr>
          <a:xfrm>
            <a:off x="822960" y="3931920"/>
            <a:ext cx="10515600" cy="457200"/>
          </a:xfrm>
          <a:prstGeom prst="rect">
            <a:avLst/>
          </a:prstGeom>
          <a:noFill/>
          <a:ln/>
        </p:spPr>
        <p:txBody>
          <a:bodyPr wrap="square" lIns="0" tIns="0" rIns="0" bIns="0" rtlCol="0" anchor="ctr"/>
          <a:lstStyle/>
          <a:p>
            <a:pPr indent="0" marL="0">
              <a:buNone/>
            </a:pPr>
            <a:r>
              <a:rPr lang="en-US" sz="2200" dirty="0">
                <a:solidFill>
                  <a:schemeClr val="bg1"/>
                </a:solidFill>
              </a:rPr>
              <a:t>Manisha Nagda</a:t>
            </a:r>
            <a:endParaRPr lang="en-US" sz="2200" dirty="0"/>
          </a:p>
        </p:txBody>
      </p:sp>
    </p:spTree>
  </p:cSld>
  <p:clrMapOvr>
    <a:masterClrMapping/>
  </p:clrMapOvr>
</p:sld>
</file>

<file path=ppt/theme/theme1.xml><?xml version="1.0" encoding="utf-8"?>
<a:theme xmlns:a="http://schemas.openxmlformats.org/drawingml/2006/main" name="Job Market Story">
  <a:themeElements>
    <a:clrScheme name="Job Market Story">
      <a:dk1>
        <a:srgbClr val="17181A"/>
      </a:dk1>
      <a:lt1>
        <a:srgbClr val="FFFFFF"/>
      </a:lt1>
      <a:dk2>
        <a:srgbClr val="1C2733"/>
      </a:dk2>
      <a:lt2>
        <a:srgbClr val="F2F3F5"/>
      </a:lt2>
      <a:accent1>
        <a:srgbClr val="C4501D"/>
      </a:accent1>
      <a:accent2>
        <a:srgbClr val="2A78D6"/>
      </a:accent2>
      <a:accent3>
        <a:srgbClr val="EB6834"/>
      </a:accent3>
      <a:accent4>
        <a:srgbClr val="1F7A55"/>
      </a:accent4>
      <a:accent5>
        <a:srgbClr val="5D6066"/>
      </a:accent5>
      <a:accent6>
        <a:srgbClr val="D9DCE1"/>
      </a:accent6>
      <a:hlink>
        <a:srgbClr val="2A78D6"/>
      </a:hlink>
      <a:folHlink>
        <a:srgbClr val="5D6066"/>
      </a:folHlink>
    </a:clrScheme>
    <a:fontScheme name="Job Market Stor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NextHikes IT 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Market Analysis and Recommendation System</dc:title>
  <dc:subject>PptxGenJS Presentation</dc:subject>
  <dc:creator>Manisha Nagda</dc:creator>
  <cp:lastModifiedBy>Manisha Nagda</cp:lastModifiedBy>
  <cp:revision>1</cp:revision>
  <dcterms:created xsi:type="dcterms:W3CDTF">2026-10-05T23:11:09Z</dcterms:created>
  <dcterms:modified xsi:type="dcterms:W3CDTF">2026-10-05T23:11:09Z</dcterms:modified>
</cp:coreProperties>
</file>